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4023360" y="640080"/>
            <a:ext cx="4114800" cy="2220278"/>
          </a:xfrm>
          <a:prstGeom prst="rect">
            <a:avLst/>
          </a:prstGeom>
        </p:spPr>
      </p:pic>
      <p:sp>
        <p:nvSpPr>
          <p:cNvPr id="4" name="TextBox 3"/>
          <p:cNvSpPr txBox="1"/>
          <p:nvPr/>
        </p:nvSpPr>
        <p:spPr>
          <a:xfrm>
            <a:off x="1828800" y="2331720"/>
            <a:ext cx="8531352" cy="640080"/>
          </a:xfrm>
          <a:prstGeom prst="rect">
            <a:avLst/>
          </a:prstGeom>
          <a:noFill/>
        </p:spPr>
        <p:txBody>
          <a:bodyPr wrap="square">
            <a:spAutoFit/>
          </a:bodyPr>
          <a:lstStyle/>
          <a:p>
            <a:pPr algn="ctr"/>
            <a:r>
              <a:rPr sz="2200" b="0" i="0">
                <a:solidFill>
                  <a:srgbClr val="FAF7F0"/>
                </a:solidFill>
              </a:rPr>
              <a:t>Bitcoin-anchored provenance for institutional documents.</a:t>
            </a:r>
          </a:p>
        </p:txBody>
      </p:sp>
      <p:sp>
        <p:nvSpPr>
          <p:cNvPr id="5" name="Rectangle 4"/>
          <p:cNvSpPr/>
          <p:nvPr/>
        </p:nvSpPr>
        <p:spPr>
          <a:xfrm>
            <a:off x="4937760" y="3017520"/>
            <a:ext cx="2286000" cy="381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246120"/>
            <a:ext cx="8531352" cy="457200"/>
          </a:xfrm>
          <a:prstGeom prst="rect">
            <a:avLst/>
          </a:prstGeom>
          <a:noFill/>
        </p:spPr>
        <p:txBody>
          <a:bodyPr wrap="square">
            <a:spAutoFit/>
          </a:bodyPr>
          <a:lstStyle/>
          <a:p>
            <a:pPr algn="ctr"/>
            <a:r>
              <a:rPr sz="1300" b="1" i="0">
                <a:solidFill>
                  <a:srgbClr val="20E898"/>
                </a:solidFill>
              </a:rPr>
              <a:t>SEED ROUND  ·  $5,000,000  ·  $30M POST-MONEY SAFE</a:t>
            </a:r>
          </a:p>
        </p:txBody>
      </p:sp>
      <p:sp>
        <p:nvSpPr>
          <p:cNvPr id="7" name="TextBox 6"/>
          <p:cNvSpPr txBox="1"/>
          <p:nvPr/>
        </p:nvSpPr>
        <p:spPr>
          <a:xfrm>
            <a:off x="1828800" y="3703320"/>
            <a:ext cx="8531352" cy="365760"/>
          </a:xfrm>
          <a:prstGeom prst="rect">
            <a:avLst/>
          </a:prstGeom>
          <a:noFill/>
        </p:spPr>
        <p:txBody>
          <a:bodyPr wrap="square">
            <a:spAutoFit/>
          </a:bodyPr>
          <a:lstStyle/>
          <a:p>
            <a:pPr algn="ctr"/>
            <a:r>
              <a:rPr sz="1200" b="0" i="0">
                <a:solidFill>
                  <a:srgbClr val="FAF7F0"/>
                </a:solidFill>
              </a:rPr>
              <a:t>Ten31 to lead  ·  Target close July 25, 2026</a:t>
            </a:r>
          </a:p>
        </p:txBody>
      </p:sp>
      <p:sp>
        <p:nvSpPr>
          <p:cNvPr id="8" name="TextBox 7"/>
          <p:cNvSpPr txBox="1"/>
          <p:nvPr/>
        </p:nvSpPr>
        <p:spPr>
          <a:xfrm>
            <a:off x="1828800" y="4251960"/>
            <a:ext cx="8531352" cy="320040"/>
          </a:xfrm>
          <a:prstGeom prst="rect">
            <a:avLst/>
          </a:prstGeom>
          <a:noFill/>
        </p:spPr>
        <p:txBody>
          <a:bodyPr wrap="square">
            <a:spAutoFit/>
          </a:bodyPr>
          <a:lstStyle/>
          <a:p>
            <a:pPr algn="ctr"/>
            <a:r>
              <a:rPr sz="1000" b="0" i="0">
                <a:solidFill>
                  <a:srgbClr val="8899AA"/>
                </a:solidFill>
              </a:rPr>
              <a:t>Product is live on Bitcoin mainnet. Verify the Founding Declaration:</a:t>
            </a:r>
          </a:p>
        </p:txBody>
      </p:sp>
      <p:sp>
        <p:nvSpPr>
          <p:cNvPr id="9" name="TextBox 8"/>
          <p:cNvSpPr txBox="1"/>
          <p:nvPr/>
        </p:nvSpPr>
        <p:spPr>
          <a:xfrm>
            <a:off x="1828800" y="4526280"/>
            <a:ext cx="8531352" cy="320040"/>
          </a:xfrm>
          <a:prstGeom prst="rect">
            <a:avLst/>
          </a:prstGeom>
          <a:noFill/>
        </p:spPr>
        <p:txBody>
          <a:bodyPr wrap="square">
            <a:spAutoFit/>
          </a:bodyPr>
          <a:lstStyle/>
          <a:p>
            <a:pPr algn="ctr"/>
            <a:r>
              <a:rPr sz="1000" b="1" i="0">
                <a:solidFill>
                  <a:srgbClr val="4DEFAB"/>
                </a:solidFill>
              </a:rPr>
              <a:t>https://verify.ledgerproofhq.io/r/founding-declaration</a:t>
            </a:r>
          </a:p>
        </p:txBody>
      </p:sp>
      <p:sp>
        <p:nvSpPr>
          <p:cNvPr id="10" name="TextBox 9"/>
          <p:cNvSpPr txBox="1"/>
          <p:nvPr/>
        </p:nvSpPr>
        <p:spPr>
          <a:xfrm>
            <a:off x="1828800" y="6126480"/>
            <a:ext cx="8531352" cy="365760"/>
          </a:xfrm>
          <a:prstGeom prst="rect">
            <a:avLst/>
          </a:prstGeom>
          <a:noFill/>
        </p:spPr>
        <p:txBody>
          <a:bodyPr wrap="square">
            <a:spAutoFit/>
          </a:bodyPr>
          <a:lstStyle/>
          <a:p>
            <a:pPr algn="ctr"/>
            <a:r>
              <a:rPr sz="1000" b="0" i="0">
                <a:solidFill>
                  <a:srgbClr val="8899AA"/>
                </a:solidFill>
              </a:rPr>
              <a:t>Veronica S. Dawkins  ·  Founder &amp; CEO  ·  veronica@ledgerproofhq.io</a:t>
            </a:r>
          </a:p>
        </p:txBody>
      </p:sp>
      <p:sp>
        <p:nvSpPr>
          <p:cNvPr id="11" name="Rectangle 10"/>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THE PROBLEM</a:t>
            </a:r>
          </a:p>
        </p:txBody>
      </p:sp>
      <p:sp>
        <p:nvSpPr>
          <p:cNvPr id="6" name="TextBox 5"/>
          <p:cNvSpPr txBox="1"/>
          <p:nvPr/>
        </p:nvSpPr>
        <p:spPr>
          <a:xfrm>
            <a:off x="320040" y="1097280"/>
            <a:ext cx="11548872" cy="594360"/>
          </a:xfrm>
          <a:prstGeom prst="rect">
            <a:avLst/>
          </a:prstGeom>
          <a:noFill/>
        </p:spPr>
        <p:txBody>
          <a:bodyPr wrap="square">
            <a:spAutoFit/>
          </a:bodyPr>
          <a:lstStyle/>
          <a:p>
            <a:pPr algn="l"/>
            <a:r>
              <a:rPr sz="2600" b="1" i="0">
                <a:solidFill>
                  <a:srgbClr val="FFFFFF"/>
                </a:solidFill>
              </a:rPr>
              <a:t>The world's most valuable documents cannot be trusted.</a:t>
            </a:r>
          </a:p>
        </p:txBody>
      </p:sp>
      <p:sp>
        <p:nvSpPr>
          <p:cNvPr id="7" name="Rectangle 6"/>
          <p:cNvSpPr/>
          <p:nvPr/>
        </p:nvSpPr>
        <p:spPr>
          <a:xfrm>
            <a:off x="457200" y="1920240"/>
            <a:ext cx="3566160" cy="219456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57400"/>
            <a:ext cx="3291840" cy="731520"/>
          </a:xfrm>
          <a:prstGeom prst="rect">
            <a:avLst/>
          </a:prstGeom>
          <a:noFill/>
        </p:spPr>
        <p:txBody>
          <a:bodyPr wrap="square">
            <a:spAutoFit/>
          </a:bodyPr>
          <a:lstStyle/>
          <a:p>
            <a:pPr algn="ctr"/>
            <a:r>
              <a:rPr sz="4200" b="1" i="0">
                <a:solidFill>
                  <a:srgbClr val="20E898"/>
                </a:solidFill>
              </a:rPr>
              <a:t>$1.7B</a:t>
            </a:r>
          </a:p>
        </p:txBody>
      </p:sp>
      <p:sp>
        <p:nvSpPr>
          <p:cNvPr id="9" name="TextBox 8"/>
          <p:cNvSpPr txBox="1"/>
          <p:nvPr/>
        </p:nvSpPr>
        <p:spPr>
          <a:xfrm>
            <a:off x="548640" y="2788920"/>
            <a:ext cx="3383280" cy="1097280"/>
          </a:xfrm>
          <a:prstGeom prst="rect">
            <a:avLst/>
          </a:prstGeom>
          <a:noFill/>
        </p:spPr>
        <p:txBody>
          <a:bodyPr wrap="square">
            <a:spAutoFit/>
          </a:bodyPr>
          <a:lstStyle/>
          <a:p>
            <a:pPr algn="ctr"/>
            <a:r>
              <a:rPr sz="1300" b="0" i="0">
                <a:solidFill>
                  <a:srgbClr val="FAF7F0"/>
                </a:solidFill>
              </a:rPr>
              <a:t>wire fraud losses
from forged documents
in 2025 (FBI IC3)</a:t>
            </a:r>
          </a:p>
        </p:txBody>
      </p:sp>
      <p:sp>
        <p:nvSpPr>
          <p:cNvPr id="10" name="Rectangle 9"/>
          <p:cNvSpPr/>
          <p:nvPr/>
        </p:nvSpPr>
        <p:spPr>
          <a:xfrm>
            <a:off x="4389120" y="1920240"/>
            <a:ext cx="3566160" cy="219456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057400"/>
            <a:ext cx="3291840" cy="731520"/>
          </a:xfrm>
          <a:prstGeom prst="rect">
            <a:avLst/>
          </a:prstGeom>
          <a:noFill/>
        </p:spPr>
        <p:txBody>
          <a:bodyPr wrap="square">
            <a:spAutoFit/>
          </a:bodyPr>
          <a:lstStyle/>
          <a:p>
            <a:pPr algn="ctr"/>
            <a:r>
              <a:rPr sz="4200" b="1" i="0">
                <a:solidFill>
                  <a:srgbClr val="20E898"/>
                </a:solidFill>
              </a:rPr>
              <a:t>$308B</a:t>
            </a:r>
          </a:p>
        </p:txBody>
      </p:sp>
      <p:sp>
        <p:nvSpPr>
          <p:cNvPr id="12" name="TextBox 11"/>
          <p:cNvSpPr txBox="1"/>
          <p:nvPr/>
        </p:nvSpPr>
        <p:spPr>
          <a:xfrm>
            <a:off x="4480560" y="2788920"/>
            <a:ext cx="3383280" cy="1097280"/>
          </a:xfrm>
          <a:prstGeom prst="rect">
            <a:avLst/>
          </a:prstGeom>
          <a:noFill/>
        </p:spPr>
        <p:txBody>
          <a:bodyPr wrap="square">
            <a:spAutoFit/>
          </a:bodyPr>
          <a:lstStyle/>
          <a:p>
            <a:pPr algn="ctr"/>
            <a:r>
              <a:rPr sz="1300" b="0" i="0">
                <a:solidFill>
                  <a:srgbClr val="FAF7F0"/>
                </a:solidFill>
              </a:rPr>
              <a:t>annual insurance fraud
directly tied to document
tampering (NICB 2025)</a:t>
            </a:r>
          </a:p>
        </p:txBody>
      </p:sp>
      <p:sp>
        <p:nvSpPr>
          <p:cNvPr id="13" name="Rectangle 12"/>
          <p:cNvSpPr/>
          <p:nvPr/>
        </p:nvSpPr>
        <p:spPr>
          <a:xfrm>
            <a:off x="8321040" y="1920240"/>
            <a:ext cx="3566160" cy="219456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2057400"/>
            <a:ext cx="3291840" cy="731520"/>
          </a:xfrm>
          <a:prstGeom prst="rect">
            <a:avLst/>
          </a:prstGeom>
          <a:noFill/>
        </p:spPr>
        <p:txBody>
          <a:bodyPr wrap="square">
            <a:spAutoFit/>
          </a:bodyPr>
          <a:lstStyle/>
          <a:p>
            <a:pPr algn="ctr"/>
            <a:r>
              <a:rPr sz="4200" b="1" i="0">
                <a:solidFill>
                  <a:srgbClr val="20E898"/>
                </a:solidFill>
              </a:rPr>
              <a:t>$25B</a:t>
            </a:r>
          </a:p>
        </p:txBody>
      </p:sp>
      <p:sp>
        <p:nvSpPr>
          <p:cNvPr id="15" name="TextBox 14"/>
          <p:cNvSpPr txBox="1"/>
          <p:nvPr/>
        </p:nvSpPr>
        <p:spPr>
          <a:xfrm>
            <a:off x="8412480" y="2788920"/>
            <a:ext cx="3383280" cy="1097280"/>
          </a:xfrm>
          <a:prstGeom prst="rect">
            <a:avLst/>
          </a:prstGeom>
          <a:noFill/>
        </p:spPr>
        <p:txBody>
          <a:bodyPr wrap="square">
            <a:spAutoFit/>
          </a:bodyPr>
          <a:lstStyle/>
          <a:p>
            <a:pPr algn="ctr"/>
            <a:r>
              <a:rPr sz="1300" b="0" i="0">
                <a:solidFill>
                  <a:srgbClr val="FAF7F0"/>
                </a:solidFill>
              </a:rPr>
              <a:t>projected deepfake fraud
losses by 2027
(Deloitte)</a:t>
            </a:r>
          </a:p>
        </p:txBody>
      </p:sp>
      <p:sp>
        <p:nvSpPr>
          <p:cNvPr id="16" name="TextBox 15"/>
          <p:cNvSpPr txBox="1"/>
          <p:nvPr/>
        </p:nvSpPr>
        <p:spPr>
          <a:xfrm>
            <a:off x="320040" y="4297680"/>
            <a:ext cx="11548872" cy="365760"/>
          </a:xfrm>
          <a:prstGeom prst="rect">
            <a:avLst/>
          </a:prstGeom>
          <a:noFill/>
        </p:spPr>
        <p:txBody>
          <a:bodyPr wrap="square">
            <a:spAutoFit/>
          </a:bodyPr>
          <a:lstStyle/>
          <a:p>
            <a:pPr algn="l"/>
            <a:r>
              <a:rPr sz="1400" b="1" i="0">
                <a:solidFill>
                  <a:srgbClr val="8899AA"/>
                </a:solidFill>
              </a:rPr>
              <a:t>Existing solutions fail:</a:t>
            </a:r>
          </a:p>
        </p:txBody>
      </p:sp>
      <p:sp>
        <p:nvSpPr>
          <p:cNvPr id="17" name="TextBox 16"/>
          <p:cNvSpPr txBox="1"/>
          <p:nvPr/>
        </p:nvSpPr>
        <p:spPr>
          <a:xfrm>
            <a:off x="320040" y="4663440"/>
            <a:ext cx="11548872" cy="365760"/>
          </a:xfrm>
          <a:prstGeom prst="rect">
            <a:avLst/>
          </a:prstGeom>
          <a:noFill/>
        </p:spPr>
        <p:txBody>
          <a:bodyPr wrap="square">
            <a:spAutoFit/>
          </a:bodyPr>
          <a:lstStyle/>
          <a:p>
            <a:pPr algn="l"/>
            <a:r>
              <a:rPr sz="1300" b="0" i="0">
                <a:solidFill>
                  <a:srgbClr val="FAF7F0"/>
                </a:solidFill>
              </a:rPr>
              <a:t>✗  PDF metadata  →  trivially edited in 30 seconds</a:t>
            </a:r>
          </a:p>
        </p:txBody>
      </p:sp>
      <p:sp>
        <p:nvSpPr>
          <p:cNvPr id="18" name="TextBox 17"/>
          <p:cNvSpPr txBox="1"/>
          <p:nvPr/>
        </p:nvSpPr>
        <p:spPr>
          <a:xfrm>
            <a:off x="320040" y="5074920"/>
            <a:ext cx="11548872" cy="365760"/>
          </a:xfrm>
          <a:prstGeom prst="rect">
            <a:avLst/>
          </a:prstGeom>
          <a:noFill/>
        </p:spPr>
        <p:txBody>
          <a:bodyPr wrap="square">
            <a:spAutoFit/>
          </a:bodyPr>
          <a:lstStyle/>
          <a:p>
            <a:pPr algn="l"/>
            <a:r>
              <a:rPr sz="1300" b="0" i="0">
                <a:solidFill>
                  <a:srgbClr val="FAF7F0"/>
                </a:solidFill>
              </a:rPr>
              <a:t>✗  C2PA / watermarks  →  stripped by every major social platform</a:t>
            </a:r>
          </a:p>
        </p:txBody>
      </p:sp>
      <p:sp>
        <p:nvSpPr>
          <p:cNvPr id="19" name="TextBox 18"/>
          <p:cNvSpPr txBox="1"/>
          <p:nvPr/>
        </p:nvSpPr>
        <p:spPr>
          <a:xfrm>
            <a:off x="320040" y="5486400"/>
            <a:ext cx="11548872" cy="365760"/>
          </a:xfrm>
          <a:prstGeom prst="rect">
            <a:avLst/>
          </a:prstGeom>
          <a:noFill/>
        </p:spPr>
        <p:txBody>
          <a:bodyPr wrap="square">
            <a:spAutoFit/>
          </a:bodyPr>
          <a:lstStyle/>
          <a:p>
            <a:pPr algn="l"/>
            <a:r>
              <a:rPr sz="1300" b="0" i="0">
                <a:solidFill>
                  <a:srgbClr val="FAF7F0"/>
                </a:solidFill>
              </a:rPr>
              <a:t>✗  Blockchain timestamps  →  no institutional verification standard; chain can be forked</a:t>
            </a:r>
          </a:p>
        </p:txBody>
      </p:sp>
      <p:sp>
        <p:nvSpPr>
          <p:cNvPr id="20" name="TextBox 19"/>
          <p:cNvSpPr txBox="1"/>
          <p:nvPr/>
        </p:nvSpPr>
        <p:spPr>
          <a:xfrm>
            <a:off x="320040" y="5897879"/>
            <a:ext cx="11548872" cy="365760"/>
          </a:xfrm>
          <a:prstGeom prst="rect">
            <a:avLst/>
          </a:prstGeom>
          <a:noFill/>
        </p:spPr>
        <p:txBody>
          <a:bodyPr wrap="square">
            <a:spAutoFit/>
          </a:bodyPr>
          <a:lstStyle/>
          <a:p>
            <a:pPr algn="l"/>
            <a:r>
              <a:rPr sz="1300" b="0" i="0">
                <a:solidFill>
                  <a:srgbClr val="FAF7F0"/>
                </a:solidFill>
              </a:rPr>
              <a:t>✗  Notarization  →  jurisdiction-bound, human-dependent, not machine-verifiable at scale</a:t>
            </a:r>
          </a:p>
        </p:txBody>
      </p:sp>
      <p:sp>
        <p:nvSpPr>
          <p:cNvPr id="21" name="Rectangle 20"/>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WHY NOW</a:t>
            </a:r>
          </a:p>
        </p:txBody>
      </p:sp>
      <p:sp>
        <p:nvSpPr>
          <p:cNvPr id="6" name="TextBox 5"/>
          <p:cNvSpPr txBox="1"/>
          <p:nvPr/>
        </p:nvSpPr>
        <p:spPr>
          <a:xfrm>
            <a:off x="320040" y="1097280"/>
            <a:ext cx="11548872" cy="594360"/>
          </a:xfrm>
          <a:prstGeom prst="rect">
            <a:avLst/>
          </a:prstGeom>
          <a:noFill/>
        </p:spPr>
        <p:txBody>
          <a:bodyPr wrap="square">
            <a:spAutoFit/>
          </a:bodyPr>
          <a:lstStyle/>
          <a:p>
            <a:pPr algn="l"/>
            <a:r>
              <a:rPr sz="2600" b="1" i="0">
                <a:solidFill>
                  <a:srgbClr val="FFFFFF"/>
                </a:solidFill>
              </a:rPr>
              <a:t>The market has been forced into existence by law.</a:t>
            </a:r>
          </a:p>
        </p:txBody>
      </p:sp>
      <p:sp>
        <p:nvSpPr>
          <p:cNvPr id="7" name="Rectangle 6"/>
          <p:cNvSpPr/>
          <p:nvPr/>
        </p:nvSpPr>
        <p:spPr>
          <a:xfrm>
            <a:off x="1097280" y="1920240"/>
            <a:ext cx="2926080" cy="173736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1920240"/>
            <a:ext cx="2926080" cy="731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057400"/>
            <a:ext cx="2743200" cy="411480"/>
          </a:xfrm>
          <a:prstGeom prst="rect">
            <a:avLst/>
          </a:prstGeom>
          <a:noFill/>
        </p:spPr>
        <p:txBody>
          <a:bodyPr wrap="square">
            <a:spAutoFit/>
          </a:bodyPr>
          <a:lstStyle/>
          <a:p>
            <a:pPr algn="ctr"/>
            <a:r>
              <a:rPr sz="1400" b="1" i="0">
                <a:solidFill>
                  <a:srgbClr val="20E898"/>
                </a:solidFill>
              </a:rPr>
              <a:t>July 6, 2026</a:t>
            </a:r>
          </a:p>
        </p:txBody>
      </p:sp>
      <p:sp>
        <p:nvSpPr>
          <p:cNvPr id="10" name="TextBox 9"/>
          <p:cNvSpPr txBox="1"/>
          <p:nvPr/>
        </p:nvSpPr>
        <p:spPr>
          <a:xfrm>
            <a:off x="1188720" y="2468880"/>
            <a:ext cx="2743200" cy="1005840"/>
          </a:xfrm>
          <a:prstGeom prst="rect">
            <a:avLst/>
          </a:prstGeom>
          <a:noFill/>
        </p:spPr>
        <p:txBody>
          <a:bodyPr wrap="square">
            <a:spAutoFit/>
          </a:bodyPr>
          <a:lstStyle/>
          <a:p>
            <a:pPr algn="ctr"/>
            <a:r>
              <a:rPr sz="1300" b="0" i="0">
                <a:solidFill>
                  <a:srgbClr val="FAF7F0"/>
                </a:solidFill>
              </a:rPr>
              <a:t>LedgerProof
public launch</a:t>
            </a:r>
          </a:p>
        </p:txBody>
      </p:sp>
      <p:sp>
        <p:nvSpPr>
          <p:cNvPr id="11" name="Rectangle 10"/>
          <p:cNvSpPr/>
          <p:nvPr/>
        </p:nvSpPr>
        <p:spPr>
          <a:xfrm>
            <a:off x="4572000" y="1920240"/>
            <a:ext cx="2926080" cy="173736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20240"/>
            <a:ext cx="2926080" cy="73152"/>
          </a:xfrm>
          <a:prstGeom prst="rect">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057400"/>
            <a:ext cx="2743200" cy="411480"/>
          </a:xfrm>
          <a:prstGeom prst="rect">
            <a:avLst/>
          </a:prstGeom>
          <a:noFill/>
        </p:spPr>
        <p:txBody>
          <a:bodyPr wrap="square">
            <a:spAutoFit/>
          </a:bodyPr>
          <a:lstStyle/>
          <a:p>
            <a:pPr algn="ctr"/>
            <a:r>
              <a:rPr sz="1400" b="1" i="0">
                <a:solidFill>
                  <a:srgbClr val="F7931A"/>
                </a:solidFill>
              </a:rPr>
              <a:t>August 2, 2026</a:t>
            </a:r>
          </a:p>
        </p:txBody>
      </p:sp>
      <p:sp>
        <p:nvSpPr>
          <p:cNvPr id="14" name="TextBox 13"/>
          <p:cNvSpPr txBox="1"/>
          <p:nvPr/>
        </p:nvSpPr>
        <p:spPr>
          <a:xfrm>
            <a:off x="4663440" y="2468880"/>
            <a:ext cx="2743200" cy="1005840"/>
          </a:xfrm>
          <a:prstGeom prst="rect">
            <a:avLst/>
          </a:prstGeom>
          <a:noFill/>
        </p:spPr>
        <p:txBody>
          <a:bodyPr wrap="square">
            <a:spAutoFit/>
          </a:bodyPr>
          <a:lstStyle/>
          <a:p>
            <a:pPr algn="ctr"/>
            <a:r>
              <a:rPr sz="1300" b="0" i="0">
                <a:solidFill>
                  <a:srgbClr val="FAF7F0"/>
                </a:solidFill>
              </a:rPr>
              <a:t>EU AI Act Article 50
enforcement begins</a:t>
            </a:r>
          </a:p>
        </p:txBody>
      </p:sp>
      <p:sp>
        <p:nvSpPr>
          <p:cNvPr id="15" name="Rectangle 14"/>
          <p:cNvSpPr/>
          <p:nvPr/>
        </p:nvSpPr>
        <p:spPr>
          <a:xfrm>
            <a:off x="8046719" y="1920240"/>
            <a:ext cx="2926080" cy="173736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19" y="1920240"/>
            <a:ext cx="2926080" cy="73152"/>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9" y="2057400"/>
            <a:ext cx="2743200" cy="411480"/>
          </a:xfrm>
          <a:prstGeom prst="rect">
            <a:avLst/>
          </a:prstGeom>
          <a:noFill/>
        </p:spPr>
        <p:txBody>
          <a:bodyPr wrap="square">
            <a:spAutoFit/>
          </a:bodyPr>
          <a:lstStyle/>
          <a:p>
            <a:pPr algn="ctr"/>
            <a:r>
              <a:rPr sz="1400" b="1" i="0">
                <a:solidFill>
                  <a:srgbClr val="4DEFAB"/>
                </a:solidFill>
              </a:rPr>
              <a:t>27 days</a:t>
            </a:r>
          </a:p>
        </p:txBody>
      </p:sp>
      <p:sp>
        <p:nvSpPr>
          <p:cNvPr id="18" name="TextBox 17"/>
          <p:cNvSpPr txBox="1"/>
          <p:nvPr/>
        </p:nvSpPr>
        <p:spPr>
          <a:xfrm>
            <a:off x="8138159" y="2468880"/>
            <a:ext cx="2743200" cy="1005840"/>
          </a:xfrm>
          <a:prstGeom prst="rect">
            <a:avLst/>
          </a:prstGeom>
          <a:noFill/>
        </p:spPr>
        <p:txBody>
          <a:bodyPr wrap="square">
            <a:spAutoFit/>
          </a:bodyPr>
          <a:lstStyle/>
          <a:p>
            <a:pPr algn="ctr"/>
            <a:r>
              <a:rPr sz="1300" b="0" i="0">
                <a:solidFill>
                  <a:srgbClr val="FAF7F0"/>
                </a:solidFill>
              </a:rPr>
              <a:t>between launch
and deadline</a:t>
            </a:r>
          </a:p>
        </p:txBody>
      </p:sp>
      <p:sp>
        <p:nvSpPr>
          <p:cNvPr id="19" name="TextBox 18"/>
          <p:cNvSpPr txBox="1"/>
          <p:nvPr/>
        </p:nvSpPr>
        <p:spPr>
          <a:xfrm>
            <a:off x="320040" y="3931920"/>
            <a:ext cx="11548872" cy="365760"/>
          </a:xfrm>
          <a:prstGeom prst="rect">
            <a:avLst/>
          </a:prstGeom>
          <a:noFill/>
        </p:spPr>
        <p:txBody>
          <a:bodyPr wrap="square">
            <a:spAutoFit/>
          </a:bodyPr>
          <a:lstStyle/>
          <a:p>
            <a:pPr algn="l"/>
            <a:r>
              <a:rPr sz="1400" b="1" i="0">
                <a:solidFill>
                  <a:srgbClr val="8899AA"/>
                </a:solidFill>
              </a:rPr>
              <a:t>What Article 50 requires:</a:t>
            </a:r>
          </a:p>
        </p:txBody>
      </p:sp>
      <p:sp>
        <p:nvSpPr>
          <p:cNvPr id="20" name="TextBox 19"/>
          <p:cNvSpPr txBox="1"/>
          <p:nvPr/>
        </p:nvSpPr>
        <p:spPr>
          <a:xfrm>
            <a:off x="320040" y="4343400"/>
            <a:ext cx="11548872" cy="457200"/>
          </a:xfrm>
          <a:prstGeom prst="rect">
            <a:avLst/>
          </a:prstGeom>
          <a:noFill/>
        </p:spPr>
        <p:txBody>
          <a:bodyPr wrap="square">
            <a:spAutoFit/>
          </a:bodyPr>
          <a:lstStyle/>
          <a:p>
            <a:pPr algn="l"/>
            <a:r>
              <a:rPr sz="1300" b="0" i="0">
                <a:solidFill>
                  <a:srgbClr val="FAF7F0"/>
                </a:solidFill>
              </a:rPr>
              <a:t>→  Every AI system generating text, images, audio, or video for institutional distribution must prove provenance.</a:t>
            </a:r>
          </a:p>
        </p:txBody>
      </p:sp>
      <p:sp>
        <p:nvSpPr>
          <p:cNvPr id="21" name="TextBox 20"/>
          <p:cNvSpPr txBox="1"/>
          <p:nvPr/>
        </p:nvSpPr>
        <p:spPr>
          <a:xfrm>
            <a:off x="320040" y="4846320"/>
            <a:ext cx="11548872" cy="457200"/>
          </a:xfrm>
          <a:prstGeom prst="rect">
            <a:avLst/>
          </a:prstGeom>
          <a:noFill/>
        </p:spPr>
        <p:txBody>
          <a:bodyPr wrap="square">
            <a:spAutoFit/>
          </a:bodyPr>
          <a:lstStyle/>
          <a:p>
            <a:pPr algn="l"/>
            <a:r>
              <a:rPr sz="1300" b="0" i="0">
                <a:solidFill>
                  <a:srgbClr val="FAF7F0"/>
                </a:solidFill>
              </a:rPr>
              <a:t>→  Fines up to €15M or 3% of global turnover. No grace period.</a:t>
            </a:r>
          </a:p>
        </p:txBody>
      </p:sp>
      <p:sp>
        <p:nvSpPr>
          <p:cNvPr id="22" name="TextBox 21"/>
          <p:cNvSpPr txBox="1"/>
          <p:nvPr/>
        </p:nvSpPr>
        <p:spPr>
          <a:xfrm>
            <a:off x="320040" y="5349240"/>
            <a:ext cx="11548872" cy="457200"/>
          </a:xfrm>
          <a:prstGeom prst="rect">
            <a:avLst/>
          </a:prstGeom>
          <a:noFill/>
        </p:spPr>
        <p:txBody>
          <a:bodyPr wrap="square">
            <a:spAutoFit/>
          </a:bodyPr>
          <a:lstStyle/>
          <a:p>
            <a:pPr algn="l"/>
            <a:r>
              <a:rPr sz="1300" b="0" i="0">
                <a:solidFill>
                  <a:srgbClr val="FAF7F0"/>
                </a:solidFill>
              </a:rPr>
              <a:t>→  The EU's own Code of Practice concludes no existing technique satisfies the regulation.</a:t>
            </a:r>
          </a:p>
        </p:txBody>
      </p:sp>
      <p:sp>
        <p:nvSpPr>
          <p:cNvPr id="23" name="TextBox 22"/>
          <p:cNvSpPr txBox="1"/>
          <p:nvPr/>
        </p:nvSpPr>
        <p:spPr>
          <a:xfrm>
            <a:off x="320040" y="5852160"/>
            <a:ext cx="11548872" cy="457200"/>
          </a:xfrm>
          <a:prstGeom prst="rect">
            <a:avLst/>
          </a:prstGeom>
          <a:noFill/>
        </p:spPr>
        <p:txBody>
          <a:bodyPr wrap="square">
            <a:spAutoFit/>
          </a:bodyPr>
          <a:lstStyle/>
          <a:p>
            <a:pPr algn="l"/>
            <a:r>
              <a:rPr sz="1300" b="1" i="0">
                <a:solidFill>
                  <a:srgbClr val="20E898"/>
                </a:solidFill>
              </a:rPr>
              <a:t>✓  Bitcoin anchoring is the only permanent, vendor-neutral, independently verifiable solution.</a:t>
            </a:r>
          </a:p>
        </p:txBody>
      </p:sp>
      <p:sp>
        <p:nvSpPr>
          <p:cNvPr id="24" name="Rectangle 23"/>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THE SOLUTION</a:t>
            </a:r>
          </a:p>
        </p:txBody>
      </p:sp>
      <p:sp>
        <p:nvSpPr>
          <p:cNvPr id="6" name="TextBox 5"/>
          <p:cNvSpPr txBox="1"/>
          <p:nvPr/>
        </p:nvSpPr>
        <p:spPr>
          <a:xfrm>
            <a:off x="320040" y="1097280"/>
            <a:ext cx="11548872" cy="502920"/>
          </a:xfrm>
          <a:prstGeom prst="rect">
            <a:avLst/>
          </a:prstGeom>
          <a:noFill/>
        </p:spPr>
        <p:txBody>
          <a:bodyPr wrap="square">
            <a:spAutoFit/>
          </a:bodyPr>
          <a:lstStyle/>
          <a:p>
            <a:pPr algn="l"/>
            <a:r>
              <a:rPr sz="2600" b="1" i="0">
                <a:solidFill>
                  <a:srgbClr val="FFFFFF"/>
                </a:solidFill>
              </a:rPr>
              <a:t>LedgerProof Receipt (LPR v1.0) — how it works.</a:t>
            </a:r>
          </a:p>
        </p:txBody>
      </p:sp>
      <p:sp>
        <p:nvSpPr>
          <p:cNvPr id="7" name="Rectangle 6"/>
          <p:cNvSpPr/>
          <p:nvPr/>
        </p:nvSpPr>
        <p:spPr>
          <a:xfrm>
            <a:off x="365760" y="1828800"/>
            <a:ext cx="2651760" cy="23774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28800"/>
            <a:ext cx="2651760" cy="731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920240"/>
            <a:ext cx="365760" cy="411480"/>
          </a:xfrm>
          <a:prstGeom prst="rect">
            <a:avLst/>
          </a:prstGeom>
          <a:noFill/>
        </p:spPr>
        <p:txBody>
          <a:bodyPr wrap="square">
            <a:spAutoFit/>
          </a:bodyPr>
          <a:lstStyle/>
          <a:p>
            <a:pPr algn="l"/>
            <a:r>
              <a:rPr sz="2200" b="1" i="0">
                <a:solidFill>
                  <a:srgbClr val="20E898"/>
                </a:solidFill>
              </a:rPr>
              <a:t>1</a:t>
            </a:r>
          </a:p>
        </p:txBody>
      </p:sp>
      <p:sp>
        <p:nvSpPr>
          <p:cNvPr id="10" name="TextBox 9"/>
          <p:cNvSpPr txBox="1"/>
          <p:nvPr/>
        </p:nvSpPr>
        <p:spPr>
          <a:xfrm>
            <a:off x="457200" y="2286000"/>
            <a:ext cx="2468880" cy="640080"/>
          </a:xfrm>
          <a:prstGeom prst="rect">
            <a:avLst/>
          </a:prstGeom>
          <a:noFill/>
        </p:spPr>
        <p:txBody>
          <a:bodyPr wrap="square">
            <a:spAutoFit/>
          </a:bodyPr>
          <a:lstStyle/>
          <a:p>
            <a:pPr algn="l"/>
            <a:r>
              <a:rPr sz="1300" b="1" i="0">
                <a:solidFill>
                  <a:srgbClr val="FFFFFF"/>
                </a:solidFill>
              </a:rPr>
              <a:t>DOCUMENT
OR CONTENT</a:t>
            </a:r>
          </a:p>
        </p:txBody>
      </p:sp>
      <p:sp>
        <p:nvSpPr>
          <p:cNvPr id="11" name="TextBox 10"/>
          <p:cNvSpPr txBox="1"/>
          <p:nvPr/>
        </p:nvSpPr>
        <p:spPr>
          <a:xfrm>
            <a:off x="457200" y="2926080"/>
            <a:ext cx="2468880" cy="1005840"/>
          </a:xfrm>
          <a:prstGeom prst="rect">
            <a:avLst/>
          </a:prstGeom>
          <a:noFill/>
        </p:spPr>
        <p:txBody>
          <a:bodyPr wrap="square">
            <a:spAutoFit/>
          </a:bodyPr>
          <a:lstStyle/>
          <a:p>
            <a:pPr algn="l"/>
            <a:r>
              <a:rPr sz="1100" b="0" i="0">
                <a:solidFill>
                  <a:srgbClr val="FAF7F0"/>
                </a:solidFill>
              </a:rPr>
              <a:t>Any file, any format
PDF · audio · video · JSON</a:t>
            </a:r>
          </a:p>
        </p:txBody>
      </p:sp>
      <p:sp>
        <p:nvSpPr>
          <p:cNvPr id="12" name="TextBox 11"/>
          <p:cNvSpPr txBox="1"/>
          <p:nvPr/>
        </p:nvSpPr>
        <p:spPr>
          <a:xfrm>
            <a:off x="3035808" y="2743200"/>
            <a:ext cx="274320" cy="365760"/>
          </a:xfrm>
          <a:prstGeom prst="rect">
            <a:avLst/>
          </a:prstGeom>
          <a:noFill/>
        </p:spPr>
        <p:txBody>
          <a:bodyPr wrap="square">
            <a:spAutoFit/>
          </a:bodyPr>
          <a:lstStyle/>
          <a:p>
            <a:pPr algn="ctr"/>
            <a:r>
              <a:rPr sz="2000" b="1" i="0">
                <a:solidFill>
                  <a:srgbClr val="20E898"/>
                </a:solidFill>
              </a:rPr>
              <a:t>→</a:t>
            </a:r>
          </a:p>
        </p:txBody>
      </p:sp>
      <p:sp>
        <p:nvSpPr>
          <p:cNvPr id="13" name="Rectangle 12"/>
          <p:cNvSpPr/>
          <p:nvPr/>
        </p:nvSpPr>
        <p:spPr>
          <a:xfrm>
            <a:off x="3291840" y="1828800"/>
            <a:ext cx="2651760" cy="23774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1828800"/>
            <a:ext cx="2651760" cy="731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920240"/>
            <a:ext cx="365760" cy="411480"/>
          </a:xfrm>
          <a:prstGeom prst="rect">
            <a:avLst/>
          </a:prstGeom>
          <a:noFill/>
        </p:spPr>
        <p:txBody>
          <a:bodyPr wrap="square">
            <a:spAutoFit/>
          </a:bodyPr>
          <a:lstStyle/>
          <a:p>
            <a:pPr algn="l"/>
            <a:r>
              <a:rPr sz="2200" b="1" i="0">
                <a:solidFill>
                  <a:srgbClr val="20E898"/>
                </a:solidFill>
              </a:rPr>
              <a:t>2</a:t>
            </a:r>
          </a:p>
        </p:txBody>
      </p:sp>
      <p:sp>
        <p:nvSpPr>
          <p:cNvPr id="16" name="TextBox 15"/>
          <p:cNvSpPr txBox="1"/>
          <p:nvPr/>
        </p:nvSpPr>
        <p:spPr>
          <a:xfrm>
            <a:off x="3383280" y="2286000"/>
            <a:ext cx="2468880" cy="640080"/>
          </a:xfrm>
          <a:prstGeom prst="rect">
            <a:avLst/>
          </a:prstGeom>
          <a:noFill/>
        </p:spPr>
        <p:txBody>
          <a:bodyPr wrap="square">
            <a:spAutoFit/>
          </a:bodyPr>
          <a:lstStyle/>
          <a:p>
            <a:pPr algn="l"/>
            <a:r>
              <a:rPr sz="1300" b="1" i="0">
                <a:solidFill>
                  <a:srgbClr val="FFFFFF"/>
                </a:solidFill>
              </a:rPr>
              <a:t>SHA-256
HASH</a:t>
            </a:r>
          </a:p>
        </p:txBody>
      </p:sp>
      <p:sp>
        <p:nvSpPr>
          <p:cNvPr id="17" name="TextBox 16"/>
          <p:cNvSpPr txBox="1"/>
          <p:nvPr/>
        </p:nvSpPr>
        <p:spPr>
          <a:xfrm>
            <a:off x="3383280" y="2926080"/>
            <a:ext cx="2468880" cy="1005840"/>
          </a:xfrm>
          <a:prstGeom prst="rect">
            <a:avLst/>
          </a:prstGeom>
          <a:noFill/>
        </p:spPr>
        <p:txBody>
          <a:bodyPr wrap="square">
            <a:spAutoFit/>
          </a:bodyPr>
          <a:lstStyle/>
          <a:p>
            <a:pPr algn="l"/>
            <a:r>
              <a:rPr sz="1100" b="0" i="0">
                <a:solidFill>
                  <a:srgbClr val="FAF7F0"/>
                </a:solidFill>
              </a:rPr>
              <a:t>Canonical fingerprint
of exact content</a:t>
            </a:r>
          </a:p>
        </p:txBody>
      </p:sp>
      <p:sp>
        <p:nvSpPr>
          <p:cNvPr id="18" name="TextBox 17"/>
          <p:cNvSpPr txBox="1"/>
          <p:nvPr/>
        </p:nvSpPr>
        <p:spPr>
          <a:xfrm>
            <a:off x="5961888" y="2743200"/>
            <a:ext cx="274320" cy="365760"/>
          </a:xfrm>
          <a:prstGeom prst="rect">
            <a:avLst/>
          </a:prstGeom>
          <a:noFill/>
        </p:spPr>
        <p:txBody>
          <a:bodyPr wrap="square">
            <a:spAutoFit/>
          </a:bodyPr>
          <a:lstStyle/>
          <a:p>
            <a:pPr algn="ctr"/>
            <a:r>
              <a:rPr sz="2000" b="1" i="0">
                <a:solidFill>
                  <a:srgbClr val="20E898"/>
                </a:solidFill>
              </a:rPr>
              <a:t>→</a:t>
            </a:r>
          </a:p>
        </p:txBody>
      </p:sp>
      <p:sp>
        <p:nvSpPr>
          <p:cNvPr id="19" name="Rectangle 18"/>
          <p:cNvSpPr/>
          <p:nvPr/>
        </p:nvSpPr>
        <p:spPr>
          <a:xfrm>
            <a:off x="6217920" y="1828800"/>
            <a:ext cx="2651760" cy="23774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828800"/>
            <a:ext cx="2651760" cy="731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920240"/>
            <a:ext cx="365760" cy="411480"/>
          </a:xfrm>
          <a:prstGeom prst="rect">
            <a:avLst/>
          </a:prstGeom>
          <a:noFill/>
        </p:spPr>
        <p:txBody>
          <a:bodyPr wrap="square">
            <a:spAutoFit/>
          </a:bodyPr>
          <a:lstStyle/>
          <a:p>
            <a:pPr algn="l"/>
            <a:r>
              <a:rPr sz="2200" b="1" i="0">
                <a:solidFill>
                  <a:srgbClr val="20E898"/>
                </a:solidFill>
              </a:rPr>
              <a:t>3</a:t>
            </a:r>
          </a:p>
        </p:txBody>
      </p:sp>
      <p:sp>
        <p:nvSpPr>
          <p:cNvPr id="22" name="TextBox 21"/>
          <p:cNvSpPr txBox="1"/>
          <p:nvPr/>
        </p:nvSpPr>
        <p:spPr>
          <a:xfrm>
            <a:off x="6309360" y="2286000"/>
            <a:ext cx="2468880" cy="640080"/>
          </a:xfrm>
          <a:prstGeom prst="rect">
            <a:avLst/>
          </a:prstGeom>
          <a:noFill/>
        </p:spPr>
        <p:txBody>
          <a:bodyPr wrap="square">
            <a:spAutoFit/>
          </a:bodyPr>
          <a:lstStyle/>
          <a:p>
            <a:pPr algn="l"/>
            <a:r>
              <a:rPr sz="1300" b="1" i="0">
                <a:solidFill>
                  <a:srgbClr val="FFFFFF"/>
                </a:solidFill>
              </a:rPr>
              <a:t>Ed25519
SIGNATURE</a:t>
            </a:r>
          </a:p>
        </p:txBody>
      </p:sp>
      <p:sp>
        <p:nvSpPr>
          <p:cNvPr id="23" name="TextBox 22"/>
          <p:cNvSpPr txBox="1"/>
          <p:nvPr/>
        </p:nvSpPr>
        <p:spPr>
          <a:xfrm>
            <a:off x="6309360" y="2926080"/>
            <a:ext cx="2468880" cy="1005840"/>
          </a:xfrm>
          <a:prstGeom prst="rect">
            <a:avLst/>
          </a:prstGeom>
          <a:noFill/>
        </p:spPr>
        <p:txBody>
          <a:bodyPr wrap="square">
            <a:spAutoFit/>
          </a:bodyPr>
          <a:lstStyle/>
          <a:p>
            <a:pPr algn="l"/>
            <a:r>
              <a:rPr sz="1100" b="0" i="0">
                <a:solidFill>
                  <a:srgbClr val="FAF7F0"/>
                </a:solidFill>
              </a:rPr>
              <a:t>Publisher's cryptographic
identity bound to hash</a:t>
            </a:r>
          </a:p>
        </p:txBody>
      </p:sp>
      <p:sp>
        <p:nvSpPr>
          <p:cNvPr id="24" name="TextBox 23"/>
          <p:cNvSpPr txBox="1"/>
          <p:nvPr/>
        </p:nvSpPr>
        <p:spPr>
          <a:xfrm>
            <a:off x="8887968" y="2743200"/>
            <a:ext cx="274320" cy="365760"/>
          </a:xfrm>
          <a:prstGeom prst="rect">
            <a:avLst/>
          </a:prstGeom>
          <a:noFill/>
        </p:spPr>
        <p:txBody>
          <a:bodyPr wrap="square">
            <a:spAutoFit/>
          </a:bodyPr>
          <a:lstStyle/>
          <a:p>
            <a:pPr algn="ctr"/>
            <a:r>
              <a:rPr sz="2000" b="1" i="0">
                <a:solidFill>
                  <a:srgbClr val="20E898"/>
                </a:solidFill>
              </a:rPr>
              <a:t>→</a:t>
            </a:r>
          </a:p>
        </p:txBody>
      </p:sp>
      <p:sp>
        <p:nvSpPr>
          <p:cNvPr id="25" name="Rectangle 24"/>
          <p:cNvSpPr/>
          <p:nvPr/>
        </p:nvSpPr>
        <p:spPr>
          <a:xfrm>
            <a:off x="9144000" y="1828800"/>
            <a:ext cx="2651760" cy="2377440"/>
          </a:xfrm>
          <a:prstGeom prst="rect">
            <a:avLst/>
          </a:prstGeom>
          <a:solidFill>
            <a:srgbClr val="0A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0" y="1828800"/>
            <a:ext cx="2651760" cy="73152"/>
          </a:xfrm>
          <a:prstGeom prst="rect">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1920240"/>
            <a:ext cx="365760" cy="411480"/>
          </a:xfrm>
          <a:prstGeom prst="rect">
            <a:avLst/>
          </a:prstGeom>
          <a:noFill/>
        </p:spPr>
        <p:txBody>
          <a:bodyPr wrap="square">
            <a:spAutoFit/>
          </a:bodyPr>
          <a:lstStyle/>
          <a:p>
            <a:pPr algn="l"/>
            <a:r>
              <a:rPr sz="2200" b="1" i="0">
                <a:solidFill>
                  <a:srgbClr val="F7931A"/>
                </a:solidFill>
              </a:rPr>
              <a:t>4</a:t>
            </a:r>
          </a:p>
        </p:txBody>
      </p:sp>
      <p:sp>
        <p:nvSpPr>
          <p:cNvPr id="28" name="TextBox 27"/>
          <p:cNvSpPr txBox="1"/>
          <p:nvPr/>
        </p:nvSpPr>
        <p:spPr>
          <a:xfrm>
            <a:off x="9235440" y="2286000"/>
            <a:ext cx="2468880" cy="640080"/>
          </a:xfrm>
          <a:prstGeom prst="rect">
            <a:avLst/>
          </a:prstGeom>
          <a:noFill/>
        </p:spPr>
        <p:txBody>
          <a:bodyPr wrap="square">
            <a:spAutoFit/>
          </a:bodyPr>
          <a:lstStyle/>
          <a:p>
            <a:pPr algn="l"/>
            <a:r>
              <a:rPr sz="1300" b="1" i="0">
                <a:solidFill>
                  <a:srgbClr val="FFFFFF"/>
                </a:solidFill>
              </a:rPr>
              <a:t>BITCOIN
OP_RETURN</a:t>
            </a:r>
          </a:p>
        </p:txBody>
      </p:sp>
      <p:sp>
        <p:nvSpPr>
          <p:cNvPr id="29" name="TextBox 28"/>
          <p:cNvSpPr txBox="1"/>
          <p:nvPr/>
        </p:nvSpPr>
        <p:spPr>
          <a:xfrm>
            <a:off x="9235440" y="2926080"/>
            <a:ext cx="2468880" cy="1005840"/>
          </a:xfrm>
          <a:prstGeom prst="rect">
            <a:avLst/>
          </a:prstGeom>
          <a:noFill/>
        </p:spPr>
        <p:txBody>
          <a:bodyPr wrap="square">
            <a:spAutoFit/>
          </a:bodyPr>
          <a:lstStyle/>
          <a:p>
            <a:pPr algn="l"/>
            <a:r>
              <a:rPr sz="1100" b="0" i="0">
                <a:solidFill>
                  <a:srgbClr val="FAF7F0"/>
                </a:solidFill>
              </a:rPr>
              <a:t>Permanent block timestamp
no server required to verify</a:t>
            </a:r>
          </a:p>
        </p:txBody>
      </p:sp>
      <p:sp>
        <p:nvSpPr>
          <p:cNvPr id="30" name="TextBox 29"/>
          <p:cNvSpPr txBox="1"/>
          <p:nvPr/>
        </p:nvSpPr>
        <p:spPr>
          <a:xfrm>
            <a:off x="320040" y="4434840"/>
            <a:ext cx="11548872" cy="365760"/>
          </a:xfrm>
          <a:prstGeom prst="rect">
            <a:avLst/>
          </a:prstGeom>
          <a:noFill/>
        </p:spPr>
        <p:txBody>
          <a:bodyPr wrap="square">
            <a:spAutoFit/>
          </a:bodyPr>
          <a:lstStyle/>
          <a:p>
            <a:pPr algn="l"/>
            <a:r>
              <a:rPr sz="1300" b="1" i="0">
                <a:solidFill>
                  <a:srgbClr val="8899AA"/>
                </a:solidFill>
              </a:rPr>
              <a:t>What the receipt proves — to a regulator, court, or counterparty:</a:t>
            </a:r>
          </a:p>
        </p:txBody>
      </p:sp>
      <p:sp>
        <p:nvSpPr>
          <p:cNvPr id="31" name="TextBox 30"/>
          <p:cNvSpPr txBox="1"/>
          <p:nvPr/>
        </p:nvSpPr>
        <p:spPr>
          <a:xfrm>
            <a:off x="320040" y="4846320"/>
            <a:ext cx="11548872" cy="365760"/>
          </a:xfrm>
          <a:prstGeom prst="rect">
            <a:avLst/>
          </a:prstGeom>
          <a:noFill/>
        </p:spPr>
        <p:txBody>
          <a:bodyPr wrap="square">
            <a:spAutoFit/>
          </a:bodyPr>
          <a:lstStyle/>
          <a:p>
            <a:pPr algn="l"/>
            <a:r>
              <a:rPr sz="1200" b="0" i="0">
                <a:solidFill>
                  <a:srgbClr val="FAF7F0"/>
                </a:solidFill>
              </a:rPr>
              <a:t>✓  The exact content (SHA-256) existed at a specific time</a:t>
            </a:r>
          </a:p>
        </p:txBody>
      </p:sp>
      <p:sp>
        <p:nvSpPr>
          <p:cNvPr id="32" name="TextBox 31"/>
          <p:cNvSpPr txBox="1"/>
          <p:nvPr/>
        </p:nvSpPr>
        <p:spPr>
          <a:xfrm>
            <a:off x="320040" y="5257800"/>
            <a:ext cx="11548872" cy="365760"/>
          </a:xfrm>
          <a:prstGeom prst="rect">
            <a:avLst/>
          </a:prstGeom>
          <a:noFill/>
        </p:spPr>
        <p:txBody>
          <a:bodyPr wrap="square">
            <a:spAutoFit/>
          </a:bodyPr>
          <a:lstStyle/>
          <a:p>
            <a:pPr algn="l"/>
            <a:r>
              <a:rPr sz="1200" b="0" i="0">
                <a:solidFill>
                  <a:srgbClr val="FAF7F0"/>
                </a:solidFill>
              </a:rPr>
              <a:t>✓  The publisher's identity is cryptographically bound — not self-reported</a:t>
            </a:r>
          </a:p>
        </p:txBody>
      </p:sp>
      <p:sp>
        <p:nvSpPr>
          <p:cNvPr id="33" name="TextBox 32"/>
          <p:cNvSpPr txBox="1"/>
          <p:nvPr/>
        </p:nvSpPr>
        <p:spPr>
          <a:xfrm>
            <a:off x="320040" y="5669280"/>
            <a:ext cx="11548872" cy="365760"/>
          </a:xfrm>
          <a:prstGeom prst="rect">
            <a:avLst/>
          </a:prstGeom>
          <a:noFill/>
        </p:spPr>
        <p:txBody>
          <a:bodyPr wrap="square">
            <a:spAutoFit/>
          </a:bodyPr>
          <a:lstStyle/>
          <a:p>
            <a:pPr algn="l"/>
            <a:r>
              <a:rPr sz="1200" b="0" i="0">
                <a:solidFill>
                  <a:srgbClr val="FAF7F0"/>
                </a:solidFill>
              </a:rPr>
              <a:t>✓  The Bitcoin block timestamp is permanent — no government, company, or adversary can rewrite it</a:t>
            </a:r>
          </a:p>
        </p:txBody>
      </p:sp>
      <p:sp>
        <p:nvSpPr>
          <p:cNvPr id="34" name="TextBox 33"/>
          <p:cNvSpPr txBox="1"/>
          <p:nvPr/>
        </p:nvSpPr>
        <p:spPr>
          <a:xfrm>
            <a:off x="320040" y="6080760"/>
            <a:ext cx="11548872" cy="365760"/>
          </a:xfrm>
          <a:prstGeom prst="rect">
            <a:avLst/>
          </a:prstGeom>
          <a:noFill/>
        </p:spPr>
        <p:txBody>
          <a:bodyPr wrap="square">
            <a:spAutoFit/>
          </a:bodyPr>
          <a:lstStyle/>
          <a:p>
            <a:pPr algn="l"/>
            <a:r>
              <a:rPr sz="1200" b="1" i="0">
                <a:solidFill>
                  <a:srgbClr val="20E898"/>
                </a:solidFill>
              </a:rPr>
              <a:t>✓  Verification requires zero trust in LedgerProof — any party verifies independently, forever</a:t>
            </a:r>
          </a:p>
        </p:txBody>
      </p:sp>
      <p:sp>
        <p:nvSpPr>
          <p:cNvPr id="35" name="Rectangle 34"/>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PROOF OF WORK</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600" b="1" i="0">
                <a:solidFill>
                  <a:srgbClr val="FFFFFF"/>
                </a:solidFill>
              </a:rPr>
              <a:t>The product is live. This is not a demo.</a:t>
            </a:r>
          </a:p>
        </p:txBody>
      </p:sp>
      <p:sp>
        <p:nvSpPr>
          <p:cNvPr id="7" name="TextBox 6"/>
          <p:cNvSpPr txBox="1"/>
          <p:nvPr/>
        </p:nvSpPr>
        <p:spPr>
          <a:xfrm>
            <a:off x="320040" y="1874519"/>
            <a:ext cx="5760720" cy="320040"/>
          </a:xfrm>
          <a:prstGeom prst="rect">
            <a:avLst/>
          </a:prstGeom>
          <a:noFill/>
        </p:spPr>
        <p:txBody>
          <a:bodyPr wrap="square">
            <a:spAutoFit/>
          </a:bodyPr>
          <a:lstStyle/>
          <a:p>
            <a:pPr algn="l"/>
            <a:r>
              <a:rPr sz="1200" b="1" i="0">
                <a:solidFill>
                  <a:srgbClr val="8899AA"/>
                </a:solidFill>
              </a:rPr>
              <a:t>What is built and live:</a:t>
            </a:r>
          </a:p>
        </p:txBody>
      </p:sp>
      <p:sp>
        <p:nvSpPr>
          <p:cNvPr id="8" name="TextBox 7"/>
          <p:cNvSpPr txBox="1"/>
          <p:nvPr/>
        </p:nvSpPr>
        <p:spPr>
          <a:xfrm>
            <a:off x="320040" y="2240280"/>
            <a:ext cx="5760720" cy="274320"/>
          </a:xfrm>
          <a:prstGeom prst="rect">
            <a:avLst/>
          </a:prstGeom>
          <a:noFill/>
        </p:spPr>
        <p:txBody>
          <a:bodyPr wrap="square">
            <a:spAutoFit/>
          </a:bodyPr>
          <a:lstStyle/>
          <a:p>
            <a:pPr algn="l"/>
            <a:r>
              <a:rPr sz="1200" b="1" i="0">
                <a:solidFill>
                  <a:srgbClr val="20E898"/>
                </a:solidFill>
              </a:rPr>
              <a:t>✓  API (production)</a:t>
            </a:r>
          </a:p>
        </p:txBody>
      </p:sp>
      <p:sp>
        <p:nvSpPr>
          <p:cNvPr id="9" name="TextBox 8"/>
          <p:cNvSpPr txBox="1"/>
          <p:nvPr/>
        </p:nvSpPr>
        <p:spPr>
          <a:xfrm>
            <a:off x="320040" y="2496312"/>
            <a:ext cx="5760720" cy="274320"/>
          </a:xfrm>
          <a:prstGeom prst="rect">
            <a:avLst/>
          </a:prstGeom>
          <a:noFill/>
        </p:spPr>
        <p:txBody>
          <a:bodyPr wrap="square">
            <a:spAutoFit/>
          </a:bodyPr>
          <a:lstStyle/>
          <a:p>
            <a:pPr algn="l"/>
            <a:r>
              <a:rPr sz="1100" b="0" i="0">
                <a:solidFill>
                  <a:srgbClr val="FAF7F0"/>
                </a:solidFill>
              </a:rPr>
              <a:t>    api.ledgerproofhq.io  ·  publish + verify</a:t>
            </a:r>
          </a:p>
        </p:txBody>
      </p:sp>
      <p:sp>
        <p:nvSpPr>
          <p:cNvPr id="10" name="TextBox 9"/>
          <p:cNvSpPr txBox="1"/>
          <p:nvPr/>
        </p:nvSpPr>
        <p:spPr>
          <a:xfrm>
            <a:off x="320040" y="2834640"/>
            <a:ext cx="5760720" cy="274320"/>
          </a:xfrm>
          <a:prstGeom prst="rect">
            <a:avLst/>
          </a:prstGeom>
          <a:noFill/>
        </p:spPr>
        <p:txBody>
          <a:bodyPr wrap="square">
            <a:spAutoFit/>
          </a:bodyPr>
          <a:lstStyle/>
          <a:p>
            <a:pPr algn="l"/>
            <a:r>
              <a:rPr sz="1200" b="1" i="0">
                <a:solidFill>
                  <a:srgbClr val="20E898"/>
                </a:solidFill>
              </a:rPr>
              <a:t>✓  Verifier (public)</a:t>
            </a:r>
          </a:p>
        </p:txBody>
      </p:sp>
      <p:sp>
        <p:nvSpPr>
          <p:cNvPr id="11" name="TextBox 10"/>
          <p:cNvSpPr txBox="1"/>
          <p:nvPr/>
        </p:nvSpPr>
        <p:spPr>
          <a:xfrm>
            <a:off x="320040" y="3090672"/>
            <a:ext cx="5760720" cy="274320"/>
          </a:xfrm>
          <a:prstGeom prst="rect">
            <a:avLst/>
          </a:prstGeom>
          <a:noFill/>
        </p:spPr>
        <p:txBody>
          <a:bodyPr wrap="square">
            <a:spAutoFit/>
          </a:bodyPr>
          <a:lstStyle/>
          <a:p>
            <a:pPr algn="l"/>
            <a:r>
              <a:rPr sz="1100" b="0" i="0">
                <a:solidFill>
                  <a:srgbClr val="FAF7F0"/>
                </a:solidFill>
              </a:rPr>
              <a:t>    verify.ledgerproofhq.io  ·  zero-login receipt lookup</a:t>
            </a:r>
          </a:p>
        </p:txBody>
      </p:sp>
      <p:sp>
        <p:nvSpPr>
          <p:cNvPr id="12" name="TextBox 11"/>
          <p:cNvSpPr txBox="1"/>
          <p:nvPr/>
        </p:nvSpPr>
        <p:spPr>
          <a:xfrm>
            <a:off x="320040" y="3429000"/>
            <a:ext cx="5760720" cy="274320"/>
          </a:xfrm>
          <a:prstGeom prst="rect">
            <a:avLst/>
          </a:prstGeom>
          <a:noFill/>
        </p:spPr>
        <p:txBody>
          <a:bodyPr wrap="square">
            <a:spAutoFit/>
          </a:bodyPr>
          <a:lstStyle/>
          <a:p>
            <a:pPr algn="l"/>
            <a:r>
              <a:rPr sz="1200" b="1" i="0">
                <a:solidFill>
                  <a:srgbClr val="20E898"/>
                </a:solidFill>
              </a:rPr>
              <a:t>✓  SDK integrations</a:t>
            </a:r>
          </a:p>
        </p:txBody>
      </p:sp>
      <p:sp>
        <p:nvSpPr>
          <p:cNvPr id="13" name="TextBox 12"/>
          <p:cNvSpPr txBox="1"/>
          <p:nvPr/>
        </p:nvSpPr>
        <p:spPr>
          <a:xfrm>
            <a:off x="320040" y="3685032"/>
            <a:ext cx="5760720" cy="274320"/>
          </a:xfrm>
          <a:prstGeom prst="rect">
            <a:avLst/>
          </a:prstGeom>
          <a:noFill/>
        </p:spPr>
        <p:txBody>
          <a:bodyPr wrap="square">
            <a:spAutoFit/>
          </a:bodyPr>
          <a:lstStyle/>
          <a:p>
            <a:pPr algn="l"/>
            <a:r>
              <a:rPr sz="1100" b="0" i="0">
                <a:solidFill>
                  <a:srgbClr val="FAF7F0"/>
                </a:solidFill>
              </a:rPr>
              <a:t>    ElevenLabs · Writer · Harvey AI  ·  Python + TypeScript</a:t>
            </a:r>
          </a:p>
        </p:txBody>
      </p:sp>
      <p:sp>
        <p:nvSpPr>
          <p:cNvPr id="14" name="TextBox 13"/>
          <p:cNvSpPr txBox="1"/>
          <p:nvPr/>
        </p:nvSpPr>
        <p:spPr>
          <a:xfrm>
            <a:off x="320040" y="4023360"/>
            <a:ext cx="5760720" cy="274320"/>
          </a:xfrm>
          <a:prstGeom prst="rect">
            <a:avLst/>
          </a:prstGeom>
          <a:noFill/>
        </p:spPr>
        <p:txBody>
          <a:bodyPr wrap="square">
            <a:spAutoFit/>
          </a:bodyPr>
          <a:lstStyle/>
          <a:p>
            <a:pPr algn="l"/>
            <a:r>
              <a:rPr sz="1200" b="1" i="0">
                <a:solidFill>
                  <a:srgbClr val="20E898"/>
                </a:solidFill>
              </a:rPr>
              <a:t>✓  Word Add-in</a:t>
            </a:r>
          </a:p>
        </p:txBody>
      </p:sp>
      <p:sp>
        <p:nvSpPr>
          <p:cNvPr id="15" name="TextBox 14"/>
          <p:cNvSpPr txBox="1"/>
          <p:nvPr/>
        </p:nvSpPr>
        <p:spPr>
          <a:xfrm>
            <a:off x="320040" y="4279392"/>
            <a:ext cx="5760720" cy="274320"/>
          </a:xfrm>
          <a:prstGeom prst="rect">
            <a:avLst/>
          </a:prstGeom>
          <a:noFill/>
        </p:spPr>
        <p:txBody>
          <a:bodyPr wrap="square">
            <a:spAutoFit/>
          </a:bodyPr>
          <a:lstStyle/>
          <a:p>
            <a:pPr algn="l"/>
            <a:r>
              <a:rPr sz="1100" b="0" i="0">
                <a:solidFill>
                  <a:srgbClr val="FAF7F0"/>
                </a:solidFill>
              </a:rPr>
              <a:t>    Harvey output → Anchor to Bitcoin  ·  no Harvey API needed</a:t>
            </a:r>
          </a:p>
        </p:txBody>
      </p:sp>
      <p:sp>
        <p:nvSpPr>
          <p:cNvPr id="16" name="TextBox 15"/>
          <p:cNvSpPr txBox="1"/>
          <p:nvPr/>
        </p:nvSpPr>
        <p:spPr>
          <a:xfrm>
            <a:off x="320040" y="4617720"/>
            <a:ext cx="5760720" cy="274320"/>
          </a:xfrm>
          <a:prstGeom prst="rect">
            <a:avLst/>
          </a:prstGeom>
          <a:noFill/>
        </p:spPr>
        <p:txBody>
          <a:bodyPr wrap="square">
            <a:spAutoFit/>
          </a:bodyPr>
          <a:lstStyle/>
          <a:p>
            <a:pPr algn="l"/>
            <a:r>
              <a:rPr sz="1200" b="1" i="0">
                <a:solidFill>
                  <a:srgbClr val="20E898"/>
                </a:solidFill>
              </a:rPr>
              <a:t>✓  Bitcoin mainnet</a:t>
            </a:r>
          </a:p>
        </p:txBody>
      </p:sp>
      <p:sp>
        <p:nvSpPr>
          <p:cNvPr id="17" name="TextBox 16"/>
          <p:cNvSpPr txBox="1"/>
          <p:nvPr/>
        </p:nvSpPr>
        <p:spPr>
          <a:xfrm>
            <a:off x="320040" y="4873752"/>
            <a:ext cx="5760720" cy="274320"/>
          </a:xfrm>
          <a:prstGeom prst="rect">
            <a:avLst/>
          </a:prstGeom>
          <a:noFill/>
        </p:spPr>
        <p:txBody>
          <a:bodyPr wrap="square">
            <a:spAutoFit/>
          </a:bodyPr>
          <a:lstStyle/>
          <a:p>
            <a:pPr algn="l"/>
            <a:r>
              <a:rPr sz="1100" b="0" i="0">
                <a:solidFill>
                  <a:srgbClr val="FAF7F0"/>
                </a:solidFill>
              </a:rPr>
              <a:t>    OP_RETURN anchors live  ·  testnet never used</a:t>
            </a:r>
          </a:p>
        </p:txBody>
      </p:sp>
      <p:sp>
        <p:nvSpPr>
          <p:cNvPr id="18" name="TextBox 17"/>
          <p:cNvSpPr txBox="1"/>
          <p:nvPr/>
        </p:nvSpPr>
        <p:spPr>
          <a:xfrm>
            <a:off x="320040" y="5212080"/>
            <a:ext cx="5760720" cy="274320"/>
          </a:xfrm>
          <a:prstGeom prst="rect">
            <a:avLst/>
          </a:prstGeom>
          <a:noFill/>
        </p:spPr>
        <p:txBody>
          <a:bodyPr wrap="square">
            <a:spAutoFit/>
          </a:bodyPr>
          <a:lstStyle/>
          <a:p>
            <a:pPr algn="l"/>
            <a:r>
              <a:rPr sz="1200" b="1" i="0">
                <a:solidFill>
                  <a:srgbClr val="20E898"/>
                </a:solidFill>
              </a:rPr>
              <a:t>✓  IETF Internet-Draft</a:t>
            </a:r>
          </a:p>
        </p:txBody>
      </p:sp>
      <p:sp>
        <p:nvSpPr>
          <p:cNvPr id="19" name="TextBox 18"/>
          <p:cNvSpPr txBox="1"/>
          <p:nvPr/>
        </p:nvSpPr>
        <p:spPr>
          <a:xfrm>
            <a:off x="320040" y="5468112"/>
            <a:ext cx="5760720" cy="274320"/>
          </a:xfrm>
          <a:prstGeom prst="rect">
            <a:avLst/>
          </a:prstGeom>
          <a:noFill/>
        </p:spPr>
        <p:txBody>
          <a:bodyPr wrap="square">
            <a:spAutoFit/>
          </a:bodyPr>
          <a:lstStyle/>
          <a:p>
            <a:pPr algn="l"/>
            <a:r>
              <a:rPr sz="1100" b="0" i="0">
                <a:solidFill>
                  <a:srgbClr val="FAF7F0"/>
                </a:solidFill>
              </a:rPr>
              <a:t>    LPR 1.0 spec  ·  ready to file July 11, 2026</a:t>
            </a:r>
          </a:p>
        </p:txBody>
      </p:sp>
      <p:sp>
        <p:nvSpPr>
          <p:cNvPr id="20" name="Rectangle 19"/>
          <p:cNvSpPr/>
          <p:nvPr/>
        </p:nvSpPr>
        <p:spPr>
          <a:xfrm>
            <a:off x="6400800" y="1828800"/>
            <a:ext cx="5394960" cy="429768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1920240"/>
            <a:ext cx="5120640" cy="365760"/>
          </a:xfrm>
          <a:prstGeom prst="rect">
            <a:avLst/>
          </a:prstGeom>
          <a:noFill/>
        </p:spPr>
        <p:txBody>
          <a:bodyPr wrap="square">
            <a:spAutoFit/>
          </a:bodyPr>
          <a:lstStyle/>
          <a:p>
            <a:pPr algn="l"/>
            <a:r>
              <a:rPr sz="1100" b="1" i="0">
                <a:solidFill>
                  <a:srgbClr val="20E898"/>
                </a:solidFill>
              </a:rPr>
              <a:t>May 18, 2026</a:t>
            </a:r>
          </a:p>
        </p:txBody>
      </p:sp>
      <p:sp>
        <p:nvSpPr>
          <p:cNvPr id="22" name="TextBox 21"/>
          <p:cNvSpPr txBox="1"/>
          <p:nvPr/>
        </p:nvSpPr>
        <p:spPr>
          <a:xfrm>
            <a:off x="6537960" y="2286000"/>
            <a:ext cx="5120640" cy="548640"/>
          </a:xfrm>
          <a:prstGeom prst="rect">
            <a:avLst/>
          </a:prstGeom>
          <a:noFill/>
        </p:spPr>
        <p:txBody>
          <a:bodyPr wrap="square">
            <a:spAutoFit/>
          </a:bodyPr>
          <a:lstStyle/>
          <a:p>
            <a:pPr algn="l"/>
            <a:r>
              <a:rPr sz="1300" b="1" i="0">
                <a:solidFill>
                  <a:srgbClr val="FFFFFF"/>
                </a:solidFill>
              </a:rPr>
              <a:t>intouch|Live San Diego
Cybersecurity Symposium</a:t>
            </a:r>
          </a:p>
        </p:txBody>
      </p:sp>
      <p:sp>
        <p:nvSpPr>
          <p:cNvPr id="23" name="TextBox 22"/>
          <p:cNvSpPr txBox="1"/>
          <p:nvPr/>
        </p:nvSpPr>
        <p:spPr>
          <a:xfrm>
            <a:off x="6537960" y="2880360"/>
            <a:ext cx="5120640" cy="1188720"/>
          </a:xfrm>
          <a:prstGeom prst="rect">
            <a:avLst/>
          </a:prstGeom>
          <a:noFill/>
        </p:spPr>
        <p:txBody>
          <a:bodyPr wrap="square">
            <a:spAutoFit/>
          </a:bodyPr>
          <a:lstStyle/>
          <a:p>
            <a:pPr algn="l"/>
            <a:r>
              <a:rPr sz="1100" b="0" i="0">
                <a:solidFill>
                  <a:srgbClr val="FAF7F0"/>
                </a:solidFill>
              </a:rPr>
              <a:t>The LedgerProof Founding Declaration was anchored to Bitcoin block #900,412 on stage in front of 200 institutional attendees. The transaction is on mainnet. It cannot be altered.</a:t>
            </a:r>
          </a:p>
        </p:txBody>
      </p:sp>
      <p:sp>
        <p:nvSpPr>
          <p:cNvPr id="24" name="TextBox 23"/>
          <p:cNvSpPr txBox="1"/>
          <p:nvPr/>
        </p:nvSpPr>
        <p:spPr>
          <a:xfrm>
            <a:off x="6537960" y="4114800"/>
            <a:ext cx="914400" cy="274320"/>
          </a:xfrm>
          <a:prstGeom prst="rect">
            <a:avLst/>
          </a:prstGeom>
          <a:noFill/>
        </p:spPr>
        <p:txBody>
          <a:bodyPr wrap="square">
            <a:spAutoFit/>
          </a:bodyPr>
          <a:lstStyle/>
          <a:p>
            <a:pPr algn="l"/>
            <a:r>
              <a:rPr sz="1000" b="1" i="0">
                <a:solidFill>
                  <a:srgbClr val="8899AA"/>
                </a:solidFill>
              </a:rPr>
              <a:t>TXID:</a:t>
            </a:r>
          </a:p>
        </p:txBody>
      </p:sp>
      <p:sp>
        <p:nvSpPr>
          <p:cNvPr id="25" name="TextBox 24"/>
          <p:cNvSpPr txBox="1"/>
          <p:nvPr/>
        </p:nvSpPr>
        <p:spPr>
          <a:xfrm>
            <a:off x="6537960" y="4389120"/>
            <a:ext cx="5120640" cy="274320"/>
          </a:xfrm>
          <a:prstGeom prst="rect">
            <a:avLst/>
          </a:prstGeom>
          <a:noFill/>
        </p:spPr>
        <p:txBody>
          <a:bodyPr wrap="square">
            <a:spAutoFit/>
          </a:bodyPr>
          <a:lstStyle/>
          <a:p>
            <a:pPr algn="l"/>
            <a:r>
              <a:rPr sz="1000" b="0" i="1">
                <a:solidFill>
                  <a:srgbClr val="4DEFAB"/>
                </a:solidFill>
              </a:rPr>
              <a:t>5db5c68e…  (Bitcoin mainnet)</a:t>
            </a:r>
          </a:p>
        </p:txBody>
      </p:sp>
      <p:sp>
        <p:nvSpPr>
          <p:cNvPr id="26" name="TextBox 25"/>
          <p:cNvSpPr txBox="1"/>
          <p:nvPr/>
        </p:nvSpPr>
        <p:spPr>
          <a:xfrm>
            <a:off x="6537960" y="4754880"/>
            <a:ext cx="914400" cy="274320"/>
          </a:xfrm>
          <a:prstGeom prst="rect">
            <a:avLst/>
          </a:prstGeom>
          <a:noFill/>
        </p:spPr>
        <p:txBody>
          <a:bodyPr wrap="square">
            <a:spAutoFit/>
          </a:bodyPr>
          <a:lstStyle/>
          <a:p>
            <a:pPr algn="l"/>
            <a:r>
              <a:rPr sz="1000" b="1" i="0">
                <a:solidFill>
                  <a:srgbClr val="8899AA"/>
                </a:solidFill>
              </a:rPr>
              <a:t>Verify:</a:t>
            </a:r>
          </a:p>
        </p:txBody>
      </p:sp>
      <p:sp>
        <p:nvSpPr>
          <p:cNvPr id="27" name="TextBox 26"/>
          <p:cNvSpPr txBox="1"/>
          <p:nvPr/>
        </p:nvSpPr>
        <p:spPr>
          <a:xfrm>
            <a:off x="6537960" y="5029200"/>
            <a:ext cx="5120640" cy="320040"/>
          </a:xfrm>
          <a:prstGeom prst="rect">
            <a:avLst/>
          </a:prstGeom>
          <a:noFill/>
        </p:spPr>
        <p:txBody>
          <a:bodyPr wrap="square">
            <a:spAutoFit/>
          </a:bodyPr>
          <a:lstStyle/>
          <a:p>
            <a:pPr algn="l"/>
            <a:r>
              <a:rPr sz="1000" b="1" i="0">
                <a:solidFill>
                  <a:srgbClr val="4DEFAB"/>
                </a:solidFill>
              </a:rPr>
              <a:t>verify.ledgerproofhq.io/r/founding-declaration</a:t>
            </a:r>
          </a:p>
        </p:txBody>
      </p:sp>
      <p:sp>
        <p:nvSpPr>
          <p:cNvPr id="28" name="TextBox 27"/>
          <p:cNvSpPr txBox="1"/>
          <p:nvPr/>
        </p:nvSpPr>
        <p:spPr>
          <a:xfrm>
            <a:off x="6537960" y="5577840"/>
            <a:ext cx="5120640" cy="320040"/>
          </a:xfrm>
          <a:prstGeom prst="rect">
            <a:avLst/>
          </a:prstGeom>
          <a:noFill/>
        </p:spPr>
        <p:txBody>
          <a:bodyPr wrap="square">
            <a:spAutoFit/>
          </a:bodyPr>
          <a:lstStyle/>
          <a:p>
            <a:pPr algn="l"/>
            <a:r>
              <a:rPr sz="1100" b="1" i="0">
                <a:solidFill>
                  <a:srgbClr val="FAF7F0"/>
                </a:solidFill>
              </a:rPr>
              <a:t>20 warm institutional leads in pipeline from symposium alone.</a:t>
            </a:r>
          </a:p>
        </p:txBody>
      </p:sp>
      <p:sp>
        <p:nvSpPr>
          <p:cNvPr id="29" name="Rectangle 28"/>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NETWORK DYNAMICS</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600" b="1" i="0">
                <a:solidFill>
                  <a:srgbClr val="FFFFFF"/>
                </a:solidFill>
              </a:rPr>
              <a:t>This is a network business, not a SaaS business.</a:t>
            </a:r>
          </a:p>
        </p:txBody>
      </p:sp>
      <p:sp>
        <p:nvSpPr>
          <p:cNvPr id="7" name="TextBox 6"/>
          <p:cNvSpPr txBox="1"/>
          <p:nvPr/>
        </p:nvSpPr>
        <p:spPr>
          <a:xfrm>
            <a:off x="320040" y="1828800"/>
            <a:ext cx="3657600" cy="365760"/>
          </a:xfrm>
          <a:prstGeom prst="rect">
            <a:avLst/>
          </a:prstGeom>
          <a:noFill/>
        </p:spPr>
        <p:txBody>
          <a:bodyPr wrap="square">
            <a:spAutoFit/>
          </a:bodyPr>
          <a:lstStyle/>
          <a:p>
            <a:pPr algn="l"/>
            <a:r>
              <a:rPr sz="1300" b="1" i="0">
                <a:solidFill>
                  <a:srgbClr val="8899AA"/>
                </a:solidFill>
              </a:rPr>
              <a:t>The flywheel:</a:t>
            </a:r>
          </a:p>
        </p:txBody>
      </p:sp>
      <p:sp>
        <p:nvSpPr>
          <p:cNvPr id="8" name="TextBox 7"/>
          <p:cNvSpPr txBox="1"/>
          <p:nvPr/>
        </p:nvSpPr>
        <p:spPr>
          <a:xfrm>
            <a:off x="457200" y="2240280"/>
            <a:ext cx="5943600" cy="411480"/>
          </a:xfrm>
          <a:prstGeom prst="rect">
            <a:avLst/>
          </a:prstGeom>
          <a:noFill/>
        </p:spPr>
        <p:txBody>
          <a:bodyPr wrap="square">
            <a:spAutoFit/>
          </a:bodyPr>
          <a:lstStyle/>
          <a:p>
            <a:pPr algn="l"/>
            <a:r>
              <a:rPr sz="1300" b="0" i="0">
                <a:solidFill>
                  <a:srgbClr val="FAF7F0"/>
                </a:solidFill>
              </a:rPr>
              <a:t>More publishers anchor receipts</a:t>
            </a:r>
          </a:p>
        </p:txBody>
      </p:sp>
      <p:sp>
        <p:nvSpPr>
          <p:cNvPr id="9" name="TextBox 8"/>
          <p:cNvSpPr txBox="1"/>
          <p:nvPr/>
        </p:nvSpPr>
        <p:spPr>
          <a:xfrm>
            <a:off x="6217920" y="2240280"/>
            <a:ext cx="365760" cy="365760"/>
          </a:xfrm>
          <a:prstGeom prst="rect">
            <a:avLst/>
          </a:prstGeom>
          <a:noFill/>
        </p:spPr>
        <p:txBody>
          <a:bodyPr wrap="square">
            <a:spAutoFit/>
          </a:bodyPr>
          <a:lstStyle/>
          <a:p>
            <a:pPr algn="ctr"/>
            <a:r>
              <a:rPr sz="1600" b="1" i="0">
                <a:solidFill>
                  <a:srgbClr val="20E898"/>
                </a:solidFill>
              </a:rPr>
              <a:t>↓</a:t>
            </a:r>
          </a:p>
        </p:txBody>
      </p:sp>
      <p:sp>
        <p:nvSpPr>
          <p:cNvPr id="10" name="TextBox 9"/>
          <p:cNvSpPr txBox="1"/>
          <p:nvPr/>
        </p:nvSpPr>
        <p:spPr>
          <a:xfrm>
            <a:off x="457200" y="2816352"/>
            <a:ext cx="5943600" cy="411480"/>
          </a:xfrm>
          <a:prstGeom prst="rect">
            <a:avLst/>
          </a:prstGeom>
          <a:noFill/>
        </p:spPr>
        <p:txBody>
          <a:bodyPr wrap="square">
            <a:spAutoFit/>
          </a:bodyPr>
          <a:lstStyle/>
          <a:p>
            <a:pPr algn="l"/>
            <a:r>
              <a:rPr sz="1300" b="0" i="0">
                <a:solidFill>
                  <a:srgbClr val="FAF7F0"/>
                </a:solidFill>
              </a:rPr>
              <a:t>More receipts on Bitcoin mainnet</a:t>
            </a:r>
          </a:p>
        </p:txBody>
      </p:sp>
      <p:sp>
        <p:nvSpPr>
          <p:cNvPr id="11" name="TextBox 10"/>
          <p:cNvSpPr txBox="1"/>
          <p:nvPr/>
        </p:nvSpPr>
        <p:spPr>
          <a:xfrm>
            <a:off x="6217920" y="2816352"/>
            <a:ext cx="365760" cy="365760"/>
          </a:xfrm>
          <a:prstGeom prst="rect">
            <a:avLst/>
          </a:prstGeom>
          <a:noFill/>
        </p:spPr>
        <p:txBody>
          <a:bodyPr wrap="square">
            <a:spAutoFit/>
          </a:bodyPr>
          <a:lstStyle/>
          <a:p>
            <a:pPr algn="ctr"/>
            <a:r>
              <a:rPr sz="1600" b="1" i="0">
                <a:solidFill>
                  <a:srgbClr val="20E898"/>
                </a:solidFill>
              </a:rPr>
              <a:t>↓</a:t>
            </a:r>
          </a:p>
        </p:txBody>
      </p:sp>
      <p:sp>
        <p:nvSpPr>
          <p:cNvPr id="12" name="TextBox 11"/>
          <p:cNvSpPr txBox="1"/>
          <p:nvPr/>
        </p:nvSpPr>
        <p:spPr>
          <a:xfrm>
            <a:off x="457200" y="3392424"/>
            <a:ext cx="5943600" cy="411480"/>
          </a:xfrm>
          <a:prstGeom prst="rect">
            <a:avLst/>
          </a:prstGeom>
          <a:noFill/>
        </p:spPr>
        <p:txBody>
          <a:bodyPr wrap="square">
            <a:spAutoFit/>
          </a:bodyPr>
          <a:lstStyle/>
          <a:p>
            <a:pPr algn="l"/>
            <a:r>
              <a:rPr sz="1300" b="0" i="0">
                <a:solidFill>
                  <a:srgbClr val="FAF7F0"/>
                </a:solidFill>
              </a:rPr>
              <a:t>Verifier becomes the standard</a:t>
            </a:r>
          </a:p>
        </p:txBody>
      </p:sp>
      <p:sp>
        <p:nvSpPr>
          <p:cNvPr id="13" name="TextBox 12"/>
          <p:cNvSpPr txBox="1"/>
          <p:nvPr/>
        </p:nvSpPr>
        <p:spPr>
          <a:xfrm>
            <a:off x="6217920" y="3392424"/>
            <a:ext cx="365760" cy="365760"/>
          </a:xfrm>
          <a:prstGeom prst="rect">
            <a:avLst/>
          </a:prstGeom>
          <a:noFill/>
        </p:spPr>
        <p:txBody>
          <a:bodyPr wrap="square">
            <a:spAutoFit/>
          </a:bodyPr>
          <a:lstStyle/>
          <a:p>
            <a:pPr algn="ctr"/>
            <a:r>
              <a:rPr sz="1600" b="1" i="0">
                <a:solidFill>
                  <a:srgbClr val="20E898"/>
                </a:solidFill>
              </a:rPr>
              <a:t>↓</a:t>
            </a:r>
          </a:p>
        </p:txBody>
      </p:sp>
      <p:sp>
        <p:nvSpPr>
          <p:cNvPr id="14" name="TextBox 13"/>
          <p:cNvSpPr txBox="1"/>
          <p:nvPr/>
        </p:nvSpPr>
        <p:spPr>
          <a:xfrm>
            <a:off x="457200" y="3968496"/>
            <a:ext cx="5943600" cy="411480"/>
          </a:xfrm>
          <a:prstGeom prst="rect">
            <a:avLst/>
          </a:prstGeom>
          <a:noFill/>
        </p:spPr>
        <p:txBody>
          <a:bodyPr wrap="square">
            <a:spAutoFit/>
          </a:bodyPr>
          <a:lstStyle/>
          <a:p>
            <a:pPr algn="l"/>
            <a:r>
              <a:rPr sz="1300" b="0" i="0">
                <a:solidFill>
                  <a:srgbClr val="FAF7F0"/>
                </a:solidFill>
              </a:rPr>
              <a:t>Regulators + courts cite LPR format</a:t>
            </a:r>
          </a:p>
        </p:txBody>
      </p:sp>
      <p:sp>
        <p:nvSpPr>
          <p:cNvPr id="15" name="TextBox 14"/>
          <p:cNvSpPr txBox="1"/>
          <p:nvPr/>
        </p:nvSpPr>
        <p:spPr>
          <a:xfrm>
            <a:off x="6217920" y="3968496"/>
            <a:ext cx="365760" cy="365760"/>
          </a:xfrm>
          <a:prstGeom prst="rect">
            <a:avLst/>
          </a:prstGeom>
          <a:noFill/>
        </p:spPr>
        <p:txBody>
          <a:bodyPr wrap="square">
            <a:spAutoFit/>
          </a:bodyPr>
          <a:lstStyle/>
          <a:p>
            <a:pPr algn="ctr"/>
            <a:r>
              <a:rPr sz="1600" b="1" i="0">
                <a:solidFill>
                  <a:srgbClr val="20E898"/>
                </a:solidFill>
              </a:rPr>
              <a:t>↓</a:t>
            </a:r>
          </a:p>
        </p:txBody>
      </p:sp>
      <p:sp>
        <p:nvSpPr>
          <p:cNvPr id="16" name="TextBox 15"/>
          <p:cNvSpPr txBox="1"/>
          <p:nvPr/>
        </p:nvSpPr>
        <p:spPr>
          <a:xfrm>
            <a:off x="457200" y="4544568"/>
            <a:ext cx="5943600" cy="411480"/>
          </a:xfrm>
          <a:prstGeom prst="rect">
            <a:avLst/>
          </a:prstGeom>
          <a:noFill/>
        </p:spPr>
        <p:txBody>
          <a:bodyPr wrap="square">
            <a:spAutoFit/>
          </a:bodyPr>
          <a:lstStyle/>
          <a:p>
            <a:pPr algn="l"/>
            <a:r>
              <a:rPr sz="1300" b="0" i="0">
                <a:solidFill>
                  <a:srgbClr val="FAF7F0"/>
                </a:solidFill>
              </a:rPr>
              <a:t>New publishers required to use LPR</a:t>
            </a:r>
          </a:p>
        </p:txBody>
      </p:sp>
      <p:sp>
        <p:nvSpPr>
          <p:cNvPr id="17" name="TextBox 16"/>
          <p:cNvSpPr txBox="1"/>
          <p:nvPr/>
        </p:nvSpPr>
        <p:spPr>
          <a:xfrm>
            <a:off x="6217920" y="4544568"/>
            <a:ext cx="365760" cy="365760"/>
          </a:xfrm>
          <a:prstGeom prst="rect">
            <a:avLst/>
          </a:prstGeom>
          <a:noFill/>
        </p:spPr>
        <p:txBody>
          <a:bodyPr wrap="square">
            <a:spAutoFit/>
          </a:bodyPr>
          <a:lstStyle/>
          <a:p>
            <a:pPr algn="ctr"/>
            <a:r>
              <a:rPr sz="1600" b="1" i="0">
                <a:solidFill>
                  <a:srgbClr val="20E898"/>
                </a:solidFill>
              </a:rPr>
              <a:t>↓</a:t>
            </a:r>
          </a:p>
        </p:txBody>
      </p:sp>
      <p:sp>
        <p:nvSpPr>
          <p:cNvPr id="18" name="TextBox 17"/>
          <p:cNvSpPr txBox="1"/>
          <p:nvPr/>
        </p:nvSpPr>
        <p:spPr>
          <a:xfrm>
            <a:off x="457200" y="5120640"/>
            <a:ext cx="5943600" cy="411480"/>
          </a:xfrm>
          <a:prstGeom prst="rect">
            <a:avLst/>
          </a:prstGeom>
          <a:noFill/>
        </p:spPr>
        <p:txBody>
          <a:bodyPr wrap="square">
            <a:spAutoFit/>
          </a:bodyPr>
          <a:lstStyle/>
          <a:p>
            <a:pPr algn="l"/>
            <a:r>
              <a:rPr sz="1300" b="1" i="0">
                <a:solidFill>
                  <a:srgbClr val="20E898"/>
                </a:solidFill>
              </a:rPr>
              <a:t>More anchoring → more SATs flows → higher fee floor</a:t>
            </a:r>
          </a:p>
        </p:txBody>
      </p:sp>
      <p:sp>
        <p:nvSpPr>
          <p:cNvPr id="19" name="TextBox 18"/>
          <p:cNvSpPr txBox="1"/>
          <p:nvPr/>
        </p:nvSpPr>
        <p:spPr>
          <a:xfrm>
            <a:off x="6217920" y="5120640"/>
            <a:ext cx="365760" cy="365760"/>
          </a:xfrm>
          <a:prstGeom prst="rect">
            <a:avLst/>
          </a:prstGeom>
          <a:noFill/>
        </p:spPr>
        <p:txBody>
          <a:bodyPr wrap="square">
            <a:spAutoFit/>
          </a:bodyPr>
          <a:lstStyle/>
          <a:p>
            <a:pPr algn="ctr"/>
            <a:r>
              <a:rPr sz="1600" b="1" i="0">
                <a:solidFill>
                  <a:srgbClr val="20E898"/>
                </a:solidFill>
              </a:rPr>
              <a:t>⟳</a:t>
            </a:r>
          </a:p>
        </p:txBody>
      </p:sp>
      <p:sp>
        <p:nvSpPr>
          <p:cNvPr id="20" name="Rectangle 19"/>
          <p:cNvSpPr/>
          <p:nvPr/>
        </p:nvSpPr>
        <p:spPr>
          <a:xfrm>
            <a:off x="6858000" y="1828800"/>
            <a:ext cx="4937760" cy="43891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1920240"/>
            <a:ext cx="4663440" cy="457200"/>
          </a:xfrm>
          <a:prstGeom prst="rect">
            <a:avLst/>
          </a:prstGeom>
          <a:noFill/>
        </p:spPr>
        <p:txBody>
          <a:bodyPr wrap="square">
            <a:spAutoFit/>
          </a:bodyPr>
          <a:lstStyle/>
          <a:p>
            <a:pPr algn="l"/>
            <a:r>
              <a:rPr sz="1200" b="1" i="0">
                <a:solidFill>
                  <a:srgbClr val="20E898"/>
                </a:solidFill>
              </a:rPr>
              <a:t>The comp set is infrastructure, not software.</a:t>
            </a:r>
          </a:p>
        </p:txBody>
      </p:sp>
      <p:sp>
        <p:nvSpPr>
          <p:cNvPr id="22" name="TextBox 21"/>
          <p:cNvSpPr txBox="1"/>
          <p:nvPr/>
        </p:nvSpPr>
        <p:spPr>
          <a:xfrm>
            <a:off x="6995160" y="2514600"/>
            <a:ext cx="1371600" cy="320040"/>
          </a:xfrm>
          <a:prstGeom prst="rect">
            <a:avLst/>
          </a:prstGeom>
          <a:noFill/>
        </p:spPr>
        <p:txBody>
          <a:bodyPr wrap="square">
            <a:spAutoFit/>
          </a:bodyPr>
          <a:lstStyle/>
          <a:p>
            <a:pPr algn="l"/>
            <a:r>
              <a:rPr sz="1300" b="1" i="0">
                <a:solidFill>
                  <a:srgbClr val="FFFFFF"/>
                </a:solidFill>
              </a:rPr>
              <a:t>VeriSign</a:t>
            </a:r>
          </a:p>
        </p:txBody>
      </p:sp>
      <p:sp>
        <p:nvSpPr>
          <p:cNvPr id="23" name="TextBox 22"/>
          <p:cNvSpPr txBox="1"/>
          <p:nvPr/>
        </p:nvSpPr>
        <p:spPr>
          <a:xfrm>
            <a:off x="8412480" y="2514600"/>
            <a:ext cx="3200400" cy="320040"/>
          </a:xfrm>
          <a:prstGeom prst="rect">
            <a:avLst/>
          </a:prstGeom>
          <a:noFill/>
        </p:spPr>
        <p:txBody>
          <a:bodyPr wrap="square">
            <a:spAutoFit/>
          </a:bodyPr>
          <a:lstStyle/>
          <a:p>
            <a:pPr algn="l"/>
            <a:r>
              <a:rPr sz="1100" b="0" i="0">
                <a:solidFill>
                  <a:srgbClr val="FAF7F0"/>
                </a:solidFill>
              </a:rPr>
              <a:t>Domain trust registry</a:t>
            </a:r>
          </a:p>
        </p:txBody>
      </p:sp>
      <p:sp>
        <p:nvSpPr>
          <p:cNvPr id="24" name="TextBox 23"/>
          <p:cNvSpPr txBox="1"/>
          <p:nvPr/>
        </p:nvSpPr>
        <p:spPr>
          <a:xfrm>
            <a:off x="6995160" y="2834640"/>
            <a:ext cx="4663440" cy="320040"/>
          </a:xfrm>
          <a:prstGeom prst="rect">
            <a:avLst/>
          </a:prstGeom>
          <a:noFill/>
        </p:spPr>
        <p:txBody>
          <a:bodyPr wrap="square">
            <a:spAutoFit/>
          </a:bodyPr>
          <a:lstStyle/>
          <a:p>
            <a:pPr algn="l"/>
            <a:r>
              <a:rPr sz="1000" b="0" i="1">
                <a:solidFill>
                  <a:srgbClr val="8899AA"/>
                </a:solidFill>
              </a:rPr>
              <a:t>$1.7B rev · $20B cap</a:t>
            </a:r>
          </a:p>
        </p:txBody>
      </p:sp>
      <p:sp>
        <p:nvSpPr>
          <p:cNvPr id="25" name="TextBox 24"/>
          <p:cNvSpPr txBox="1"/>
          <p:nvPr/>
        </p:nvSpPr>
        <p:spPr>
          <a:xfrm>
            <a:off x="6995160" y="3383280"/>
            <a:ext cx="1371600" cy="320040"/>
          </a:xfrm>
          <a:prstGeom prst="rect">
            <a:avLst/>
          </a:prstGeom>
          <a:noFill/>
        </p:spPr>
        <p:txBody>
          <a:bodyPr wrap="square">
            <a:spAutoFit/>
          </a:bodyPr>
          <a:lstStyle/>
          <a:p>
            <a:pPr algn="l"/>
            <a:r>
              <a:rPr sz="1300" b="1" i="0">
                <a:solidFill>
                  <a:srgbClr val="FFFFFF"/>
                </a:solidFill>
              </a:rPr>
              <a:t>SWIFT</a:t>
            </a:r>
          </a:p>
        </p:txBody>
      </p:sp>
      <p:sp>
        <p:nvSpPr>
          <p:cNvPr id="26" name="TextBox 25"/>
          <p:cNvSpPr txBox="1"/>
          <p:nvPr/>
        </p:nvSpPr>
        <p:spPr>
          <a:xfrm>
            <a:off x="8412480" y="3383280"/>
            <a:ext cx="3200400" cy="320040"/>
          </a:xfrm>
          <a:prstGeom prst="rect">
            <a:avLst/>
          </a:prstGeom>
          <a:noFill/>
        </p:spPr>
        <p:txBody>
          <a:bodyPr wrap="square">
            <a:spAutoFit/>
          </a:bodyPr>
          <a:lstStyle/>
          <a:p>
            <a:pPr algn="l"/>
            <a:r>
              <a:rPr sz="1100" b="0" i="0">
                <a:solidFill>
                  <a:srgbClr val="FAF7F0"/>
                </a:solidFill>
              </a:rPr>
              <a:t>Messaging standard / network</a:t>
            </a:r>
          </a:p>
        </p:txBody>
      </p:sp>
      <p:sp>
        <p:nvSpPr>
          <p:cNvPr id="27" name="TextBox 26"/>
          <p:cNvSpPr txBox="1"/>
          <p:nvPr/>
        </p:nvSpPr>
        <p:spPr>
          <a:xfrm>
            <a:off x="6995160" y="3703320"/>
            <a:ext cx="4663440" cy="320040"/>
          </a:xfrm>
          <a:prstGeom prst="rect">
            <a:avLst/>
          </a:prstGeom>
          <a:noFill/>
        </p:spPr>
        <p:txBody>
          <a:bodyPr wrap="square">
            <a:spAutoFit/>
          </a:bodyPr>
          <a:lstStyle/>
          <a:p>
            <a:pPr algn="l"/>
            <a:r>
              <a:rPr sz="1000" b="0" i="1">
                <a:solidFill>
                  <a:srgbClr val="8899AA"/>
                </a:solidFill>
              </a:rPr>
              <a:t>11K+ institutions, mandatory</a:t>
            </a:r>
          </a:p>
        </p:txBody>
      </p:sp>
      <p:sp>
        <p:nvSpPr>
          <p:cNvPr id="28" name="TextBox 27"/>
          <p:cNvSpPr txBox="1"/>
          <p:nvPr/>
        </p:nvSpPr>
        <p:spPr>
          <a:xfrm>
            <a:off x="6995160" y="4251960"/>
            <a:ext cx="1371600" cy="320040"/>
          </a:xfrm>
          <a:prstGeom prst="rect">
            <a:avLst/>
          </a:prstGeom>
          <a:noFill/>
        </p:spPr>
        <p:txBody>
          <a:bodyPr wrap="square">
            <a:spAutoFit/>
          </a:bodyPr>
          <a:lstStyle/>
          <a:p>
            <a:pPr algn="l"/>
            <a:r>
              <a:rPr sz="1300" b="1" i="0">
                <a:solidFill>
                  <a:srgbClr val="FFFFFF"/>
                </a:solidFill>
              </a:rPr>
              <a:t>DTCC</a:t>
            </a:r>
          </a:p>
        </p:txBody>
      </p:sp>
      <p:sp>
        <p:nvSpPr>
          <p:cNvPr id="29" name="TextBox 28"/>
          <p:cNvSpPr txBox="1"/>
          <p:nvPr/>
        </p:nvSpPr>
        <p:spPr>
          <a:xfrm>
            <a:off x="8412480" y="4251960"/>
            <a:ext cx="3200400" cy="320040"/>
          </a:xfrm>
          <a:prstGeom prst="rect">
            <a:avLst/>
          </a:prstGeom>
          <a:noFill/>
        </p:spPr>
        <p:txBody>
          <a:bodyPr wrap="square">
            <a:spAutoFit/>
          </a:bodyPr>
          <a:lstStyle/>
          <a:p>
            <a:pPr algn="l"/>
            <a:r>
              <a:rPr sz="1100" b="0" i="0">
                <a:solidFill>
                  <a:srgbClr val="FAF7F0"/>
                </a:solidFill>
              </a:rPr>
              <a:t>Settlement infrastructure</a:t>
            </a:r>
          </a:p>
        </p:txBody>
      </p:sp>
      <p:sp>
        <p:nvSpPr>
          <p:cNvPr id="30" name="TextBox 29"/>
          <p:cNvSpPr txBox="1"/>
          <p:nvPr/>
        </p:nvSpPr>
        <p:spPr>
          <a:xfrm>
            <a:off x="6995160" y="4572000"/>
            <a:ext cx="4663440" cy="320040"/>
          </a:xfrm>
          <a:prstGeom prst="rect">
            <a:avLst/>
          </a:prstGeom>
          <a:noFill/>
        </p:spPr>
        <p:txBody>
          <a:bodyPr wrap="square">
            <a:spAutoFit/>
          </a:bodyPr>
          <a:lstStyle/>
          <a:p>
            <a:pPr algn="l"/>
            <a:r>
              <a:rPr sz="1000" b="0" i="1">
                <a:solidFill>
                  <a:srgbClr val="8899AA"/>
                </a:solidFill>
              </a:rPr>
              <a:t>$2.4Q cleared in 2024</a:t>
            </a:r>
          </a:p>
        </p:txBody>
      </p:sp>
      <p:sp>
        <p:nvSpPr>
          <p:cNvPr id="31" name="TextBox 30"/>
          <p:cNvSpPr txBox="1"/>
          <p:nvPr/>
        </p:nvSpPr>
        <p:spPr>
          <a:xfrm>
            <a:off x="6995160" y="5120640"/>
            <a:ext cx="1371600" cy="320040"/>
          </a:xfrm>
          <a:prstGeom prst="rect">
            <a:avLst/>
          </a:prstGeom>
          <a:noFill/>
        </p:spPr>
        <p:txBody>
          <a:bodyPr wrap="square">
            <a:spAutoFit/>
          </a:bodyPr>
          <a:lstStyle/>
          <a:p>
            <a:pPr algn="l"/>
            <a:r>
              <a:rPr sz="1300" b="1" i="0">
                <a:solidFill>
                  <a:srgbClr val="FFFFFF"/>
                </a:solidFill>
              </a:rPr>
              <a:t>Visa</a:t>
            </a:r>
          </a:p>
        </p:txBody>
      </p:sp>
      <p:sp>
        <p:nvSpPr>
          <p:cNvPr id="32" name="TextBox 31"/>
          <p:cNvSpPr txBox="1"/>
          <p:nvPr/>
        </p:nvSpPr>
        <p:spPr>
          <a:xfrm>
            <a:off x="8412480" y="5120640"/>
            <a:ext cx="3200400" cy="320040"/>
          </a:xfrm>
          <a:prstGeom prst="rect">
            <a:avLst/>
          </a:prstGeom>
          <a:noFill/>
        </p:spPr>
        <p:txBody>
          <a:bodyPr wrap="square">
            <a:spAutoFit/>
          </a:bodyPr>
          <a:lstStyle/>
          <a:p>
            <a:pPr algn="l"/>
            <a:r>
              <a:rPr sz="1100" b="0" i="0">
                <a:solidFill>
                  <a:srgbClr val="FAF7F0"/>
                </a:solidFill>
              </a:rPr>
              <a:t>Transaction fee network</a:t>
            </a:r>
          </a:p>
        </p:txBody>
      </p:sp>
      <p:sp>
        <p:nvSpPr>
          <p:cNvPr id="33" name="TextBox 32"/>
          <p:cNvSpPr txBox="1"/>
          <p:nvPr/>
        </p:nvSpPr>
        <p:spPr>
          <a:xfrm>
            <a:off x="6995160" y="5440680"/>
            <a:ext cx="4663440" cy="320040"/>
          </a:xfrm>
          <a:prstGeom prst="rect">
            <a:avLst/>
          </a:prstGeom>
          <a:noFill/>
        </p:spPr>
        <p:txBody>
          <a:bodyPr wrap="square">
            <a:spAutoFit/>
          </a:bodyPr>
          <a:lstStyle/>
          <a:p>
            <a:pPr algn="l"/>
            <a:r>
              <a:rPr sz="1000" b="0" i="1">
                <a:solidFill>
                  <a:srgbClr val="8899AA"/>
                </a:solidFill>
              </a:rPr>
              <a:t>$36B rev · $570B cap</a:t>
            </a:r>
          </a:p>
        </p:txBody>
      </p:sp>
      <p:sp>
        <p:nvSpPr>
          <p:cNvPr id="34" name="TextBox 33"/>
          <p:cNvSpPr txBox="1"/>
          <p:nvPr/>
        </p:nvSpPr>
        <p:spPr>
          <a:xfrm>
            <a:off x="320040" y="5989320"/>
            <a:ext cx="11548872" cy="411480"/>
          </a:xfrm>
          <a:prstGeom prst="rect">
            <a:avLst/>
          </a:prstGeom>
          <a:noFill/>
        </p:spPr>
        <p:txBody>
          <a:bodyPr wrap="square">
            <a:spAutoFit/>
          </a:bodyPr>
          <a:lstStyle/>
          <a:p>
            <a:pPr algn="l"/>
            <a:r>
              <a:rPr sz="1400" b="1" i="0">
                <a:solidFill>
                  <a:srgbClr val="20E898"/>
                </a:solidFill>
              </a:rPr>
              <a:t>97% operating margin at 1M receipts/day.</a:t>
            </a:r>
          </a:p>
        </p:txBody>
      </p:sp>
      <p:sp>
        <p:nvSpPr>
          <p:cNvPr id="35" name="Rectangle 34"/>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MARKET SIZE</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The documentary economy — every document that must be trusted.</a:t>
            </a:r>
          </a:p>
        </p:txBody>
      </p:sp>
      <p:sp>
        <p:nvSpPr>
          <p:cNvPr id="7" name="TextBox 6"/>
          <p:cNvSpPr txBox="1"/>
          <p:nvPr/>
        </p:nvSpPr>
        <p:spPr>
          <a:xfrm>
            <a:off x="320040" y="1874519"/>
            <a:ext cx="11548872" cy="320040"/>
          </a:xfrm>
          <a:prstGeom prst="rect">
            <a:avLst/>
          </a:prstGeom>
          <a:noFill/>
        </p:spPr>
        <p:txBody>
          <a:bodyPr wrap="square">
            <a:spAutoFit/>
          </a:bodyPr>
          <a:lstStyle/>
          <a:p>
            <a:pPr algn="l"/>
            <a:r>
              <a:rPr sz="1200" b="1" i="0">
                <a:solidFill>
                  <a:srgbClr val="8899AA"/>
                </a:solidFill>
              </a:rPr>
              <a:t>Serviceable addressable market by vertical:</a:t>
            </a:r>
          </a:p>
        </p:txBody>
      </p:sp>
      <p:sp>
        <p:nvSpPr>
          <p:cNvPr id="8" name="Rectangle 7"/>
          <p:cNvSpPr/>
          <p:nvPr/>
        </p:nvSpPr>
        <p:spPr>
          <a:xfrm>
            <a:off x="320040" y="2331720"/>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86000"/>
            <a:ext cx="2926080" cy="320040"/>
          </a:xfrm>
          <a:prstGeom prst="rect">
            <a:avLst/>
          </a:prstGeom>
          <a:noFill/>
        </p:spPr>
        <p:txBody>
          <a:bodyPr wrap="square">
            <a:spAutoFit/>
          </a:bodyPr>
          <a:lstStyle/>
          <a:p>
            <a:pPr algn="l"/>
            <a:r>
              <a:rPr sz="1200" b="1" i="0">
                <a:solidFill>
                  <a:srgbClr val="FFFFFF"/>
                </a:solidFill>
              </a:rPr>
              <a:t>Legal</a:t>
            </a:r>
          </a:p>
        </p:txBody>
      </p:sp>
      <p:sp>
        <p:nvSpPr>
          <p:cNvPr id="10" name="TextBox 9"/>
          <p:cNvSpPr txBox="1"/>
          <p:nvPr/>
        </p:nvSpPr>
        <p:spPr>
          <a:xfrm>
            <a:off x="3474720" y="2286000"/>
            <a:ext cx="6217920" cy="320040"/>
          </a:xfrm>
          <a:prstGeom prst="rect">
            <a:avLst/>
          </a:prstGeom>
          <a:noFill/>
        </p:spPr>
        <p:txBody>
          <a:bodyPr wrap="square">
            <a:spAutoFit/>
          </a:bodyPr>
          <a:lstStyle/>
          <a:p>
            <a:pPr algn="l"/>
            <a:r>
              <a:rPr sz="1100" b="0" i="0">
                <a:solidFill>
                  <a:srgbClr val="FAF7F0"/>
                </a:solidFill>
              </a:rPr>
              <a:t>Am Law 200 firms · 3,200 courts · ADR/arbitration</a:t>
            </a:r>
          </a:p>
        </p:txBody>
      </p:sp>
      <p:sp>
        <p:nvSpPr>
          <p:cNvPr id="11" name="TextBox 10"/>
          <p:cNvSpPr txBox="1"/>
          <p:nvPr/>
        </p:nvSpPr>
        <p:spPr>
          <a:xfrm>
            <a:off x="9875520" y="2286000"/>
            <a:ext cx="2011680" cy="320040"/>
          </a:xfrm>
          <a:prstGeom prst="rect">
            <a:avLst/>
          </a:prstGeom>
          <a:noFill/>
        </p:spPr>
        <p:txBody>
          <a:bodyPr wrap="square">
            <a:spAutoFit/>
          </a:bodyPr>
          <a:lstStyle/>
          <a:p>
            <a:pPr algn="r"/>
            <a:r>
              <a:rPr sz="1200" b="1" i="0">
                <a:solidFill>
                  <a:srgbClr val="20E898"/>
                </a:solidFill>
              </a:rPr>
              <a:t>$18B serviceable</a:t>
            </a:r>
          </a:p>
        </p:txBody>
      </p:sp>
      <p:sp>
        <p:nvSpPr>
          <p:cNvPr id="12" name="Rectangle 11"/>
          <p:cNvSpPr/>
          <p:nvPr/>
        </p:nvSpPr>
        <p:spPr>
          <a:xfrm>
            <a:off x="320040" y="2907792"/>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862072"/>
            <a:ext cx="2926080" cy="320040"/>
          </a:xfrm>
          <a:prstGeom prst="rect">
            <a:avLst/>
          </a:prstGeom>
          <a:noFill/>
        </p:spPr>
        <p:txBody>
          <a:bodyPr wrap="square">
            <a:spAutoFit/>
          </a:bodyPr>
          <a:lstStyle/>
          <a:p>
            <a:pPr algn="l"/>
            <a:r>
              <a:rPr sz="1200" b="1" i="0">
                <a:solidFill>
                  <a:srgbClr val="FFFFFF"/>
                </a:solidFill>
              </a:rPr>
              <a:t>Financial Services</a:t>
            </a:r>
          </a:p>
        </p:txBody>
      </p:sp>
      <p:sp>
        <p:nvSpPr>
          <p:cNvPr id="14" name="TextBox 13"/>
          <p:cNvSpPr txBox="1"/>
          <p:nvPr/>
        </p:nvSpPr>
        <p:spPr>
          <a:xfrm>
            <a:off x="3474720" y="2862072"/>
            <a:ext cx="6217920" cy="320040"/>
          </a:xfrm>
          <a:prstGeom prst="rect">
            <a:avLst/>
          </a:prstGeom>
          <a:noFill/>
        </p:spPr>
        <p:txBody>
          <a:bodyPr wrap="square">
            <a:spAutoFit/>
          </a:bodyPr>
          <a:lstStyle/>
          <a:p>
            <a:pPr algn="l"/>
            <a:r>
              <a:rPr sz="1100" b="0" i="0">
                <a:solidFill>
                  <a:srgbClr val="FAF7F0"/>
                </a:solidFill>
              </a:rPr>
              <a:t>2,200 US banks · asset managers · broker-dealers</a:t>
            </a:r>
          </a:p>
        </p:txBody>
      </p:sp>
      <p:sp>
        <p:nvSpPr>
          <p:cNvPr id="15" name="TextBox 14"/>
          <p:cNvSpPr txBox="1"/>
          <p:nvPr/>
        </p:nvSpPr>
        <p:spPr>
          <a:xfrm>
            <a:off x="9875520" y="2862072"/>
            <a:ext cx="2011680" cy="320040"/>
          </a:xfrm>
          <a:prstGeom prst="rect">
            <a:avLst/>
          </a:prstGeom>
          <a:noFill/>
        </p:spPr>
        <p:txBody>
          <a:bodyPr wrap="square">
            <a:spAutoFit/>
          </a:bodyPr>
          <a:lstStyle/>
          <a:p>
            <a:pPr algn="r"/>
            <a:r>
              <a:rPr sz="1200" b="1" i="0">
                <a:solidFill>
                  <a:srgbClr val="20E898"/>
                </a:solidFill>
              </a:rPr>
              <a:t>$42B serviceable</a:t>
            </a:r>
          </a:p>
        </p:txBody>
      </p:sp>
      <p:sp>
        <p:nvSpPr>
          <p:cNvPr id="16" name="Rectangle 15"/>
          <p:cNvSpPr/>
          <p:nvPr/>
        </p:nvSpPr>
        <p:spPr>
          <a:xfrm>
            <a:off x="320040" y="3483864"/>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38144"/>
            <a:ext cx="2926080" cy="320040"/>
          </a:xfrm>
          <a:prstGeom prst="rect">
            <a:avLst/>
          </a:prstGeom>
          <a:noFill/>
        </p:spPr>
        <p:txBody>
          <a:bodyPr wrap="square">
            <a:spAutoFit/>
          </a:bodyPr>
          <a:lstStyle/>
          <a:p>
            <a:pPr algn="l"/>
            <a:r>
              <a:rPr sz="1200" b="1" i="0">
                <a:solidFill>
                  <a:srgbClr val="FFFFFF"/>
                </a:solidFill>
              </a:rPr>
              <a:t>Insurance</a:t>
            </a:r>
          </a:p>
        </p:txBody>
      </p:sp>
      <p:sp>
        <p:nvSpPr>
          <p:cNvPr id="18" name="TextBox 17"/>
          <p:cNvSpPr txBox="1"/>
          <p:nvPr/>
        </p:nvSpPr>
        <p:spPr>
          <a:xfrm>
            <a:off x="3474720" y="3438144"/>
            <a:ext cx="6217920" cy="320040"/>
          </a:xfrm>
          <a:prstGeom prst="rect">
            <a:avLst/>
          </a:prstGeom>
          <a:noFill/>
        </p:spPr>
        <p:txBody>
          <a:bodyPr wrap="square">
            <a:spAutoFit/>
          </a:bodyPr>
          <a:lstStyle/>
          <a:p>
            <a:pPr algn="l"/>
            <a:r>
              <a:rPr sz="1100" b="0" i="0">
                <a:solidFill>
                  <a:srgbClr val="FAF7F0"/>
                </a:solidFill>
              </a:rPr>
              <a:t>P&amp;C · E&amp;O · cyber · surety · reinsurance</a:t>
            </a:r>
          </a:p>
        </p:txBody>
      </p:sp>
      <p:sp>
        <p:nvSpPr>
          <p:cNvPr id="19" name="TextBox 18"/>
          <p:cNvSpPr txBox="1"/>
          <p:nvPr/>
        </p:nvSpPr>
        <p:spPr>
          <a:xfrm>
            <a:off x="9875520" y="3438144"/>
            <a:ext cx="2011680" cy="320040"/>
          </a:xfrm>
          <a:prstGeom prst="rect">
            <a:avLst/>
          </a:prstGeom>
          <a:noFill/>
        </p:spPr>
        <p:txBody>
          <a:bodyPr wrap="square">
            <a:spAutoFit/>
          </a:bodyPr>
          <a:lstStyle/>
          <a:p>
            <a:pPr algn="r"/>
            <a:r>
              <a:rPr sz="1200" b="1" i="0">
                <a:solidFill>
                  <a:srgbClr val="20E898"/>
                </a:solidFill>
              </a:rPr>
              <a:t>$28B serviceable</a:t>
            </a:r>
          </a:p>
        </p:txBody>
      </p:sp>
      <p:sp>
        <p:nvSpPr>
          <p:cNvPr id="20" name="Rectangle 19"/>
          <p:cNvSpPr/>
          <p:nvPr/>
        </p:nvSpPr>
        <p:spPr>
          <a:xfrm>
            <a:off x="320040" y="4059936"/>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014216"/>
            <a:ext cx="2926080" cy="320040"/>
          </a:xfrm>
          <a:prstGeom prst="rect">
            <a:avLst/>
          </a:prstGeom>
          <a:noFill/>
        </p:spPr>
        <p:txBody>
          <a:bodyPr wrap="square">
            <a:spAutoFit/>
          </a:bodyPr>
          <a:lstStyle/>
          <a:p>
            <a:pPr algn="l"/>
            <a:r>
              <a:rPr sz="1200" b="1" i="0">
                <a:solidFill>
                  <a:srgbClr val="FFFFFF"/>
                </a:solidFill>
              </a:rPr>
              <a:t>AI Platform Compliance</a:t>
            </a:r>
          </a:p>
        </p:txBody>
      </p:sp>
      <p:sp>
        <p:nvSpPr>
          <p:cNvPr id="22" name="TextBox 21"/>
          <p:cNvSpPr txBox="1"/>
          <p:nvPr/>
        </p:nvSpPr>
        <p:spPr>
          <a:xfrm>
            <a:off x="3474720" y="4014216"/>
            <a:ext cx="6217920" cy="320040"/>
          </a:xfrm>
          <a:prstGeom prst="rect">
            <a:avLst/>
          </a:prstGeom>
          <a:noFill/>
        </p:spPr>
        <p:txBody>
          <a:bodyPr wrap="square">
            <a:spAutoFit/>
          </a:bodyPr>
          <a:lstStyle/>
          <a:p>
            <a:pPr algn="l"/>
            <a:r>
              <a:rPr sz="1100" b="0" i="0">
                <a:solidFill>
                  <a:srgbClr val="FAF7F0"/>
                </a:solidFill>
              </a:rPr>
              <a:t>ElevenLabs · Writer · Harvey + 10K+ EU-exposed vendors</a:t>
            </a:r>
          </a:p>
        </p:txBody>
      </p:sp>
      <p:sp>
        <p:nvSpPr>
          <p:cNvPr id="23" name="TextBox 22"/>
          <p:cNvSpPr txBox="1"/>
          <p:nvPr/>
        </p:nvSpPr>
        <p:spPr>
          <a:xfrm>
            <a:off x="9875520" y="4014216"/>
            <a:ext cx="2011680" cy="320040"/>
          </a:xfrm>
          <a:prstGeom prst="rect">
            <a:avLst/>
          </a:prstGeom>
          <a:noFill/>
        </p:spPr>
        <p:txBody>
          <a:bodyPr wrap="square">
            <a:spAutoFit/>
          </a:bodyPr>
          <a:lstStyle/>
          <a:p>
            <a:pPr algn="r"/>
            <a:r>
              <a:rPr sz="1200" b="1" i="0">
                <a:solidFill>
                  <a:srgbClr val="20E898"/>
                </a:solidFill>
              </a:rPr>
              <a:t>$15B serviceable</a:t>
            </a:r>
          </a:p>
        </p:txBody>
      </p:sp>
      <p:sp>
        <p:nvSpPr>
          <p:cNvPr id="24" name="Rectangle 23"/>
          <p:cNvSpPr/>
          <p:nvPr/>
        </p:nvSpPr>
        <p:spPr>
          <a:xfrm>
            <a:off x="320040" y="4636008"/>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590288"/>
            <a:ext cx="2926080" cy="320040"/>
          </a:xfrm>
          <a:prstGeom prst="rect">
            <a:avLst/>
          </a:prstGeom>
          <a:noFill/>
        </p:spPr>
        <p:txBody>
          <a:bodyPr wrap="square">
            <a:spAutoFit/>
          </a:bodyPr>
          <a:lstStyle/>
          <a:p>
            <a:pPr algn="l"/>
            <a:r>
              <a:rPr sz="1200" b="1" i="0">
                <a:solidFill>
                  <a:srgbClr val="FFFFFF"/>
                </a:solidFill>
              </a:rPr>
              <a:t>Digital Forensics / eDiscovery</a:t>
            </a:r>
          </a:p>
        </p:txBody>
      </p:sp>
      <p:sp>
        <p:nvSpPr>
          <p:cNvPr id="26" name="TextBox 25"/>
          <p:cNvSpPr txBox="1"/>
          <p:nvPr/>
        </p:nvSpPr>
        <p:spPr>
          <a:xfrm>
            <a:off x="3474720" y="4590288"/>
            <a:ext cx="6217920" cy="320040"/>
          </a:xfrm>
          <a:prstGeom prst="rect">
            <a:avLst/>
          </a:prstGeom>
          <a:noFill/>
        </p:spPr>
        <p:txBody>
          <a:bodyPr wrap="square">
            <a:spAutoFit/>
          </a:bodyPr>
          <a:lstStyle/>
          <a:p>
            <a:pPr algn="l"/>
            <a:r>
              <a:rPr sz="1100" b="0" i="0">
                <a:solidFill>
                  <a:srgbClr val="FAF7F0"/>
                </a:solidFill>
              </a:rPr>
              <a:t>FBI · DOJ · Big 4 forensics · eDiscovery providers</a:t>
            </a:r>
          </a:p>
        </p:txBody>
      </p:sp>
      <p:sp>
        <p:nvSpPr>
          <p:cNvPr id="27" name="TextBox 26"/>
          <p:cNvSpPr txBox="1"/>
          <p:nvPr/>
        </p:nvSpPr>
        <p:spPr>
          <a:xfrm>
            <a:off x="9875520" y="4590288"/>
            <a:ext cx="2011680" cy="320040"/>
          </a:xfrm>
          <a:prstGeom prst="rect">
            <a:avLst/>
          </a:prstGeom>
          <a:noFill/>
        </p:spPr>
        <p:txBody>
          <a:bodyPr wrap="square">
            <a:spAutoFit/>
          </a:bodyPr>
          <a:lstStyle/>
          <a:p>
            <a:pPr algn="r"/>
            <a:r>
              <a:rPr sz="1200" b="1" i="0">
                <a:solidFill>
                  <a:srgbClr val="20E898"/>
                </a:solidFill>
              </a:rPr>
              <a:t>$8B serviceable</a:t>
            </a:r>
          </a:p>
        </p:txBody>
      </p:sp>
      <p:sp>
        <p:nvSpPr>
          <p:cNvPr id="28" name="Rectangle 27"/>
          <p:cNvSpPr/>
          <p:nvPr/>
        </p:nvSpPr>
        <p:spPr>
          <a:xfrm>
            <a:off x="320040" y="5212080"/>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166360"/>
            <a:ext cx="2926080" cy="320040"/>
          </a:xfrm>
          <a:prstGeom prst="rect">
            <a:avLst/>
          </a:prstGeom>
          <a:noFill/>
        </p:spPr>
        <p:txBody>
          <a:bodyPr wrap="square">
            <a:spAutoFit/>
          </a:bodyPr>
          <a:lstStyle/>
          <a:p>
            <a:pPr algn="l"/>
            <a:r>
              <a:rPr sz="1200" b="1" i="0">
                <a:solidFill>
                  <a:srgbClr val="FFFFFF"/>
                </a:solidFill>
              </a:rPr>
              <a:t>Media &amp; Journalism</a:t>
            </a:r>
          </a:p>
        </p:txBody>
      </p:sp>
      <p:sp>
        <p:nvSpPr>
          <p:cNvPr id="30" name="TextBox 29"/>
          <p:cNvSpPr txBox="1"/>
          <p:nvPr/>
        </p:nvSpPr>
        <p:spPr>
          <a:xfrm>
            <a:off x="3474720" y="5166360"/>
            <a:ext cx="6217920" cy="320040"/>
          </a:xfrm>
          <a:prstGeom prst="rect">
            <a:avLst/>
          </a:prstGeom>
          <a:noFill/>
        </p:spPr>
        <p:txBody>
          <a:bodyPr wrap="square">
            <a:spAutoFit/>
          </a:bodyPr>
          <a:lstStyle/>
          <a:p>
            <a:pPr algn="l"/>
            <a:r>
              <a:rPr sz="1100" b="0" i="0">
                <a:solidFill>
                  <a:srgbClr val="FAF7F0"/>
                </a:solidFill>
              </a:rPr>
              <a:t>Newsrooms · wire services · broadcast · publishing</a:t>
            </a:r>
          </a:p>
        </p:txBody>
      </p:sp>
      <p:sp>
        <p:nvSpPr>
          <p:cNvPr id="31" name="TextBox 30"/>
          <p:cNvSpPr txBox="1"/>
          <p:nvPr/>
        </p:nvSpPr>
        <p:spPr>
          <a:xfrm>
            <a:off x="9875520" y="5166360"/>
            <a:ext cx="2011680" cy="320040"/>
          </a:xfrm>
          <a:prstGeom prst="rect">
            <a:avLst/>
          </a:prstGeom>
          <a:noFill/>
        </p:spPr>
        <p:txBody>
          <a:bodyPr wrap="square">
            <a:spAutoFit/>
          </a:bodyPr>
          <a:lstStyle/>
          <a:p>
            <a:pPr algn="r"/>
            <a:r>
              <a:rPr sz="1200" b="1" i="0">
                <a:solidFill>
                  <a:srgbClr val="20E898"/>
                </a:solidFill>
              </a:rPr>
              <a:t>$5B serviceable</a:t>
            </a:r>
          </a:p>
        </p:txBody>
      </p:sp>
      <p:sp>
        <p:nvSpPr>
          <p:cNvPr id="32" name="Rectangle 31"/>
          <p:cNvSpPr/>
          <p:nvPr/>
        </p:nvSpPr>
        <p:spPr>
          <a:xfrm>
            <a:off x="320040" y="5788152"/>
            <a:ext cx="54864" cy="3200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742432"/>
            <a:ext cx="2926080" cy="320040"/>
          </a:xfrm>
          <a:prstGeom prst="rect">
            <a:avLst/>
          </a:prstGeom>
          <a:noFill/>
        </p:spPr>
        <p:txBody>
          <a:bodyPr wrap="square">
            <a:spAutoFit/>
          </a:bodyPr>
          <a:lstStyle/>
          <a:p>
            <a:pPr algn="l"/>
            <a:r>
              <a:rPr sz="1200" b="1" i="0">
                <a:solidFill>
                  <a:srgbClr val="FFFFFF"/>
                </a:solidFill>
              </a:rPr>
              <a:t>Corporate Compliance</a:t>
            </a:r>
          </a:p>
        </p:txBody>
      </p:sp>
      <p:sp>
        <p:nvSpPr>
          <p:cNvPr id="34" name="TextBox 33"/>
          <p:cNvSpPr txBox="1"/>
          <p:nvPr/>
        </p:nvSpPr>
        <p:spPr>
          <a:xfrm>
            <a:off x="3474720" y="5742432"/>
            <a:ext cx="6217920" cy="320040"/>
          </a:xfrm>
          <a:prstGeom prst="rect">
            <a:avLst/>
          </a:prstGeom>
          <a:noFill/>
        </p:spPr>
        <p:txBody>
          <a:bodyPr wrap="square">
            <a:spAutoFit/>
          </a:bodyPr>
          <a:lstStyle/>
          <a:p>
            <a:pPr algn="l"/>
            <a:r>
              <a:rPr sz="1100" b="0" i="0">
                <a:solidFill>
                  <a:srgbClr val="FAF7F0"/>
                </a:solidFill>
              </a:rPr>
              <a:t>Article 50 packs · SOX · MiFID II · Reg BI</a:t>
            </a:r>
          </a:p>
        </p:txBody>
      </p:sp>
      <p:sp>
        <p:nvSpPr>
          <p:cNvPr id="35" name="TextBox 34"/>
          <p:cNvSpPr txBox="1"/>
          <p:nvPr/>
        </p:nvSpPr>
        <p:spPr>
          <a:xfrm>
            <a:off x="9875520" y="5742432"/>
            <a:ext cx="2011680" cy="320040"/>
          </a:xfrm>
          <a:prstGeom prst="rect">
            <a:avLst/>
          </a:prstGeom>
          <a:noFill/>
        </p:spPr>
        <p:txBody>
          <a:bodyPr wrap="square">
            <a:spAutoFit/>
          </a:bodyPr>
          <a:lstStyle/>
          <a:p>
            <a:pPr algn="r"/>
            <a:r>
              <a:rPr sz="1200" b="1" i="0">
                <a:solidFill>
                  <a:srgbClr val="20E898"/>
                </a:solidFill>
              </a:rPr>
              <a:t>$22B serviceable</a:t>
            </a:r>
          </a:p>
        </p:txBody>
      </p:sp>
      <p:sp>
        <p:nvSpPr>
          <p:cNvPr id="36" name="Rectangle 35"/>
          <p:cNvSpPr/>
          <p:nvPr/>
        </p:nvSpPr>
        <p:spPr>
          <a:xfrm>
            <a:off x="320040" y="6172200"/>
            <a:ext cx="11548872" cy="127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309360"/>
            <a:ext cx="3657600" cy="411480"/>
          </a:xfrm>
          <a:prstGeom prst="rect">
            <a:avLst/>
          </a:prstGeom>
          <a:noFill/>
        </p:spPr>
        <p:txBody>
          <a:bodyPr wrap="square">
            <a:spAutoFit/>
          </a:bodyPr>
          <a:lstStyle/>
          <a:p>
            <a:pPr algn="l"/>
            <a:r>
              <a:rPr sz="1400" b="1" i="0">
                <a:solidFill>
                  <a:srgbClr val="8899AA"/>
                </a:solidFill>
              </a:rPr>
              <a:t>Total SAM:</a:t>
            </a:r>
          </a:p>
        </p:txBody>
      </p:sp>
      <p:sp>
        <p:nvSpPr>
          <p:cNvPr id="38" name="TextBox 37"/>
          <p:cNvSpPr txBox="1"/>
          <p:nvPr/>
        </p:nvSpPr>
        <p:spPr>
          <a:xfrm>
            <a:off x="4114800" y="6309360"/>
            <a:ext cx="7772400" cy="411480"/>
          </a:xfrm>
          <a:prstGeom prst="rect">
            <a:avLst/>
          </a:prstGeom>
          <a:noFill/>
        </p:spPr>
        <p:txBody>
          <a:bodyPr wrap="square">
            <a:spAutoFit/>
          </a:bodyPr>
          <a:lstStyle/>
          <a:p>
            <a:pPr algn="l"/>
            <a:r>
              <a:rPr sz="1800" b="1" i="0">
                <a:solidFill>
                  <a:srgbClr val="20E898"/>
                </a:solidFill>
              </a:rPr>
              <a:t>$138B+</a:t>
            </a:r>
          </a:p>
        </p:txBody>
      </p:sp>
      <p:sp>
        <p:nvSpPr>
          <p:cNvPr id="39" name="Rectangle 38"/>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BUSINESS MODEL</a:t>
            </a:r>
          </a:p>
        </p:txBody>
      </p:sp>
      <p:sp>
        <p:nvSpPr>
          <p:cNvPr id="6" name="TextBox 5"/>
          <p:cNvSpPr txBox="1"/>
          <p:nvPr/>
        </p:nvSpPr>
        <p:spPr>
          <a:xfrm>
            <a:off x="320040" y="1097280"/>
            <a:ext cx="11548872" cy="502920"/>
          </a:xfrm>
          <a:prstGeom prst="rect">
            <a:avLst/>
          </a:prstGeom>
          <a:noFill/>
        </p:spPr>
        <p:txBody>
          <a:bodyPr wrap="square">
            <a:spAutoFit/>
          </a:bodyPr>
          <a:lstStyle/>
          <a:p>
            <a:pPr algn="l"/>
            <a:r>
              <a:rPr sz="2600" b="1" i="0">
                <a:solidFill>
                  <a:srgbClr val="FFFFFF"/>
                </a:solidFill>
              </a:rPr>
              <a:t>Bespoke institutional pricing. Network fees at scale.</a:t>
            </a:r>
          </a:p>
        </p:txBody>
      </p:sp>
      <p:sp>
        <p:nvSpPr>
          <p:cNvPr id="7" name="TextBox 6"/>
          <p:cNvSpPr txBox="1"/>
          <p:nvPr/>
        </p:nvSpPr>
        <p:spPr>
          <a:xfrm>
            <a:off x="320040" y="1737360"/>
            <a:ext cx="2926080" cy="320040"/>
          </a:xfrm>
          <a:prstGeom prst="rect">
            <a:avLst/>
          </a:prstGeom>
          <a:noFill/>
        </p:spPr>
        <p:txBody>
          <a:bodyPr wrap="square">
            <a:spAutoFit/>
          </a:bodyPr>
          <a:lstStyle/>
          <a:p>
            <a:pPr algn="l"/>
            <a:r>
              <a:rPr sz="1100" b="1" i="0">
                <a:solidFill>
                  <a:srgbClr val="8899AA"/>
                </a:solidFill>
              </a:rPr>
              <a:t>Vertical</a:t>
            </a:r>
          </a:p>
        </p:txBody>
      </p:sp>
      <p:sp>
        <p:nvSpPr>
          <p:cNvPr id="8" name="TextBox 7"/>
          <p:cNvSpPr txBox="1"/>
          <p:nvPr/>
        </p:nvSpPr>
        <p:spPr>
          <a:xfrm>
            <a:off x="3291840" y="1737360"/>
            <a:ext cx="6217920" cy="320040"/>
          </a:xfrm>
          <a:prstGeom prst="rect">
            <a:avLst/>
          </a:prstGeom>
          <a:noFill/>
        </p:spPr>
        <p:txBody>
          <a:bodyPr wrap="square">
            <a:spAutoFit/>
          </a:bodyPr>
          <a:lstStyle/>
          <a:p>
            <a:pPr algn="l"/>
            <a:r>
              <a:rPr sz="1100" b="1" i="0">
                <a:solidFill>
                  <a:srgbClr val="8899AA"/>
                </a:solidFill>
              </a:rPr>
              <a:t>Structure</a:t>
            </a:r>
          </a:p>
        </p:txBody>
      </p:sp>
      <p:sp>
        <p:nvSpPr>
          <p:cNvPr id="9" name="TextBox 8"/>
          <p:cNvSpPr txBox="1"/>
          <p:nvPr/>
        </p:nvSpPr>
        <p:spPr>
          <a:xfrm>
            <a:off x="9509760" y="1737360"/>
            <a:ext cx="2103120" cy="320040"/>
          </a:xfrm>
          <a:prstGeom prst="rect">
            <a:avLst/>
          </a:prstGeom>
          <a:noFill/>
        </p:spPr>
        <p:txBody>
          <a:bodyPr wrap="square">
            <a:spAutoFit/>
          </a:bodyPr>
          <a:lstStyle/>
          <a:p>
            <a:pPr algn="l"/>
            <a:r>
              <a:rPr sz="1100" b="1" i="0">
                <a:solidFill>
                  <a:srgbClr val="8899AA"/>
                </a:solidFill>
              </a:rPr>
              <a:t>Entry ACV</a:t>
            </a:r>
          </a:p>
        </p:txBody>
      </p:sp>
      <p:sp>
        <p:nvSpPr>
          <p:cNvPr id="10" name="Rectangle 9"/>
          <p:cNvSpPr/>
          <p:nvPr/>
        </p:nvSpPr>
        <p:spPr>
          <a:xfrm>
            <a:off x="320040" y="2148840"/>
            <a:ext cx="11548872" cy="5486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240280"/>
            <a:ext cx="2834640" cy="411480"/>
          </a:xfrm>
          <a:prstGeom prst="rect">
            <a:avLst/>
          </a:prstGeom>
          <a:noFill/>
        </p:spPr>
        <p:txBody>
          <a:bodyPr wrap="square">
            <a:spAutoFit/>
          </a:bodyPr>
          <a:lstStyle/>
          <a:p>
            <a:pPr algn="l"/>
            <a:r>
              <a:rPr sz="1100" b="1" i="0">
                <a:solidFill>
                  <a:srgbClr val="FFFFFF"/>
                </a:solidFill>
              </a:rPr>
              <a:t>Am Law 100 / Legal</a:t>
            </a:r>
          </a:p>
        </p:txBody>
      </p:sp>
      <p:sp>
        <p:nvSpPr>
          <p:cNvPr id="12" name="TextBox 11"/>
          <p:cNvSpPr txBox="1"/>
          <p:nvPr/>
        </p:nvSpPr>
        <p:spPr>
          <a:xfrm>
            <a:off x="3337560" y="2221992"/>
            <a:ext cx="6035040" cy="457200"/>
          </a:xfrm>
          <a:prstGeom prst="rect">
            <a:avLst/>
          </a:prstGeom>
          <a:noFill/>
        </p:spPr>
        <p:txBody>
          <a:bodyPr wrap="square">
            <a:spAutoFit/>
          </a:bodyPr>
          <a:lstStyle/>
          <a:p>
            <a:pPr algn="l"/>
            <a:r>
              <a:rPr sz="1000" b="0" i="0">
                <a:solidFill>
                  <a:srgbClr val="FAF7F0"/>
                </a:solidFill>
              </a:rPr>
              <a:t>$25K–$1M/year firm license + $500–$5K/matter + $2.5K–$25K court packets</a:t>
            </a:r>
          </a:p>
        </p:txBody>
      </p:sp>
      <p:sp>
        <p:nvSpPr>
          <p:cNvPr id="13" name="TextBox 12"/>
          <p:cNvSpPr txBox="1"/>
          <p:nvPr/>
        </p:nvSpPr>
        <p:spPr>
          <a:xfrm>
            <a:off x="9555480" y="2240280"/>
            <a:ext cx="1920240" cy="411480"/>
          </a:xfrm>
          <a:prstGeom prst="rect">
            <a:avLst/>
          </a:prstGeom>
          <a:noFill/>
        </p:spPr>
        <p:txBody>
          <a:bodyPr wrap="square">
            <a:spAutoFit/>
          </a:bodyPr>
          <a:lstStyle/>
          <a:p>
            <a:pPr algn="r"/>
            <a:r>
              <a:rPr sz="1200" b="1" i="0">
                <a:solidFill>
                  <a:srgbClr val="20E898"/>
                </a:solidFill>
              </a:rPr>
              <a:t>$150K</a:t>
            </a:r>
          </a:p>
        </p:txBody>
      </p:sp>
      <p:sp>
        <p:nvSpPr>
          <p:cNvPr id="14" name="Rectangle 13"/>
          <p:cNvSpPr/>
          <p:nvPr/>
        </p:nvSpPr>
        <p:spPr>
          <a:xfrm>
            <a:off x="320040" y="2734056"/>
            <a:ext cx="11548872" cy="54864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825496"/>
            <a:ext cx="2834640" cy="411480"/>
          </a:xfrm>
          <a:prstGeom prst="rect">
            <a:avLst/>
          </a:prstGeom>
          <a:noFill/>
        </p:spPr>
        <p:txBody>
          <a:bodyPr wrap="square">
            <a:spAutoFit/>
          </a:bodyPr>
          <a:lstStyle/>
          <a:p>
            <a:pPr algn="l"/>
            <a:r>
              <a:rPr sz="1100" b="1" i="0">
                <a:solidFill>
                  <a:srgbClr val="FFFFFF"/>
                </a:solidFill>
              </a:rPr>
              <a:t>Banks / Asset Mgmt</a:t>
            </a:r>
          </a:p>
        </p:txBody>
      </p:sp>
      <p:sp>
        <p:nvSpPr>
          <p:cNvPr id="16" name="TextBox 15"/>
          <p:cNvSpPr txBox="1"/>
          <p:nvPr/>
        </p:nvSpPr>
        <p:spPr>
          <a:xfrm>
            <a:off x="3337560" y="2807208"/>
            <a:ext cx="6035040" cy="457200"/>
          </a:xfrm>
          <a:prstGeom prst="rect">
            <a:avLst/>
          </a:prstGeom>
          <a:noFill/>
        </p:spPr>
        <p:txBody>
          <a:bodyPr wrap="square">
            <a:spAutoFit/>
          </a:bodyPr>
          <a:lstStyle/>
          <a:p>
            <a:pPr algn="l"/>
            <a:r>
              <a:rPr sz="1000" b="0" i="0">
                <a:solidFill>
                  <a:srgbClr val="FAF7F0"/>
                </a:solidFill>
              </a:rPr>
              <a:t>$1M–$5M/year enterprise + $1K–$50K/regulatory filing</a:t>
            </a:r>
          </a:p>
        </p:txBody>
      </p:sp>
      <p:sp>
        <p:nvSpPr>
          <p:cNvPr id="17" name="TextBox 16"/>
          <p:cNvSpPr txBox="1"/>
          <p:nvPr/>
        </p:nvSpPr>
        <p:spPr>
          <a:xfrm>
            <a:off x="9555480" y="2825496"/>
            <a:ext cx="1920240" cy="411480"/>
          </a:xfrm>
          <a:prstGeom prst="rect">
            <a:avLst/>
          </a:prstGeom>
          <a:noFill/>
        </p:spPr>
        <p:txBody>
          <a:bodyPr wrap="square">
            <a:spAutoFit/>
          </a:bodyPr>
          <a:lstStyle/>
          <a:p>
            <a:pPr algn="r"/>
            <a:r>
              <a:rPr sz="1200" b="1" i="0">
                <a:solidFill>
                  <a:srgbClr val="20E898"/>
                </a:solidFill>
              </a:rPr>
              <a:t>$1.2M</a:t>
            </a:r>
          </a:p>
        </p:txBody>
      </p:sp>
      <p:sp>
        <p:nvSpPr>
          <p:cNvPr id="18" name="Rectangle 17"/>
          <p:cNvSpPr/>
          <p:nvPr/>
        </p:nvSpPr>
        <p:spPr>
          <a:xfrm>
            <a:off x="320040" y="3319272"/>
            <a:ext cx="11548872" cy="5486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410712"/>
            <a:ext cx="2834640" cy="411480"/>
          </a:xfrm>
          <a:prstGeom prst="rect">
            <a:avLst/>
          </a:prstGeom>
          <a:noFill/>
        </p:spPr>
        <p:txBody>
          <a:bodyPr wrap="square">
            <a:spAutoFit/>
          </a:bodyPr>
          <a:lstStyle/>
          <a:p>
            <a:pPr algn="l"/>
            <a:r>
              <a:rPr sz="1100" b="1" i="0">
                <a:solidFill>
                  <a:srgbClr val="FFFFFF"/>
                </a:solidFill>
              </a:rPr>
              <a:t>Insurance Carriers</a:t>
            </a:r>
          </a:p>
        </p:txBody>
      </p:sp>
      <p:sp>
        <p:nvSpPr>
          <p:cNvPr id="20" name="TextBox 19"/>
          <p:cNvSpPr txBox="1"/>
          <p:nvPr/>
        </p:nvSpPr>
        <p:spPr>
          <a:xfrm>
            <a:off x="3337560" y="3392424"/>
            <a:ext cx="6035040" cy="457200"/>
          </a:xfrm>
          <a:prstGeom prst="rect">
            <a:avLst/>
          </a:prstGeom>
          <a:noFill/>
        </p:spPr>
        <p:txBody>
          <a:bodyPr wrap="square">
            <a:spAutoFit/>
          </a:bodyPr>
          <a:lstStyle/>
          <a:p>
            <a:pPr algn="l"/>
            <a:r>
              <a:rPr sz="1000" b="0" i="0">
                <a:solidFill>
                  <a:srgbClr val="FAF7F0"/>
                </a:solidFill>
              </a:rPr>
              <a:t>$100K–$750K/year + $25K–$100K/incident investigations</a:t>
            </a:r>
          </a:p>
        </p:txBody>
      </p:sp>
      <p:sp>
        <p:nvSpPr>
          <p:cNvPr id="21" name="TextBox 20"/>
          <p:cNvSpPr txBox="1"/>
          <p:nvPr/>
        </p:nvSpPr>
        <p:spPr>
          <a:xfrm>
            <a:off x="9555480" y="3410712"/>
            <a:ext cx="1920240" cy="411480"/>
          </a:xfrm>
          <a:prstGeom prst="rect">
            <a:avLst/>
          </a:prstGeom>
          <a:noFill/>
        </p:spPr>
        <p:txBody>
          <a:bodyPr wrap="square">
            <a:spAutoFit/>
          </a:bodyPr>
          <a:lstStyle/>
          <a:p>
            <a:pPr algn="r"/>
            <a:r>
              <a:rPr sz="1200" b="1" i="0">
                <a:solidFill>
                  <a:srgbClr val="20E898"/>
                </a:solidFill>
              </a:rPr>
              <a:t>$200K</a:t>
            </a:r>
          </a:p>
        </p:txBody>
      </p:sp>
      <p:sp>
        <p:nvSpPr>
          <p:cNvPr id="22" name="Rectangle 21"/>
          <p:cNvSpPr/>
          <p:nvPr/>
        </p:nvSpPr>
        <p:spPr>
          <a:xfrm>
            <a:off x="320040" y="3904487"/>
            <a:ext cx="11548872" cy="54864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995927"/>
            <a:ext cx="2834640" cy="411480"/>
          </a:xfrm>
          <a:prstGeom prst="rect">
            <a:avLst/>
          </a:prstGeom>
          <a:noFill/>
        </p:spPr>
        <p:txBody>
          <a:bodyPr wrap="square">
            <a:spAutoFit/>
          </a:bodyPr>
          <a:lstStyle/>
          <a:p>
            <a:pPr algn="l"/>
            <a:r>
              <a:rPr sz="1100" b="1" i="0">
                <a:solidFill>
                  <a:srgbClr val="FFFFFF"/>
                </a:solidFill>
              </a:rPr>
              <a:t>AI Platforms</a:t>
            </a:r>
          </a:p>
        </p:txBody>
      </p:sp>
      <p:sp>
        <p:nvSpPr>
          <p:cNvPr id="24" name="TextBox 23"/>
          <p:cNvSpPr txBox="1"/>
          <p:nvPr/>
        </p:nvSpPr>
        <p:spPr>
          <a:xfrm>
            <a:off x="3337560" y="3977639"/>
            <a:ext cx="6035040" cy="457200"/>
          </a:xfrm>
          <a:prstGeom prst="rect">
            <a:avLst/>
          </a:prstGeom>
          <a:noFill/>
        </p:spPr>
        <p:txBody>
          <a:bodyPr wrap="square">
            <a:spAutoFit/>
          </a:bodyPr>
          <a:lstStyle/>
          <a:p>
            <a:pPr algn="l"/>
            <a:r>
              <a:rPr sz="1000" b="0" i="0">
                <a:solidFill>
                  <a:srgbClr val="FAF7F0"/>
                </a:solidFill>
              </a:rPr>
              <a:t>Integration license + per-receipt revenue share (LedgerProof ~40%)</a:t>
            </a:r>
          </a:p>
        </p:txBody>
      </p:sp>
      <p:sp>
        <p:nvSpPr>
          <p:cNvPr id="25" name="TextBox 24"/>
          <p:cNvSpPr txBox="1"/>
          <p:nvPr/>
        </p:nvSpPr>
        <p:spPr>
          <a:xfrm>
            <a:off x="9555480" y="3995927"/>
            <a:ext cx="1920240" cy="411480"/>
          </a:xfrm>
          <a:prstGeom prst="rect">
            <a:avLst/>
          </a:prstGeom>
          <a:noFill/>
        </p:spPr>
        <p:txBody>
          <a:bodyPr wrap="square">
            <a:spAutoFit/>
          </a:bodyPr>
          <a:lstStyle/>
          <a:p>
            <a:pPr algn="r"/>
            <a:r>
              <a:rPr sz="1200" b="1" i="0">
                <a:solidFill>
                  <a:srgbClr val="20E898"/>
                </a:solidFill>
              </a:rPr>
              <a:t>$180K</a:t>
            </a:r>
          </a:p>
        </p:txBody>
      </p:sp>
      <p:sp>
        <p:nvSpPr>
          <p:cNvPr id="26" name="Rectangle 25"/>
          <p:cNvSpPr/>
          <p:nvPr/>
        </p:nvSpPr>
        <p:spPr>
          <a:xfrm>
            <a:off x="320040" y="4489704"/>
            <a:ext cx="11548872" cy="5486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581144"/>
            <a:ext cx="2834640" cy="411480"/>
          </a:xfrm>
          <a:prstGeom prst="rect">
            <a:avLst/>
          </a:prstGeom>
          <a:noFill/>
        </p:spPr>
        <p:txBody>
          <a:bodyPr wrap="square">
            <a:spAutoFit/>
          </a:bodyPr>
          <a:lstStyle/>
          <a:p>
            <a:pPr algn="l"/>
            <a:r>
              <a:rPr sz="1100" b="1" i="0">
                <a:solidFill>
                  <a:srgbClr val="FFFFFF"/>
                </a:solidFill>
              </a:rPr>
              <a:t>Digital Forensics</a:t>
            </a:r>
          </a:p>
        </p:txBody>
      </p:sp>
      <p:sp>
        <p:nvSpPr>
          <p:cNvPr id="28" name="TextBox 27"/>
          <p:cNvSpPr txBox="1"/>
          <p:nvPr/>
        </p:nvSpPr>
        <p:spPr>
          <a:xfrm>
            <a:off x="3337560" y="4562856"/>
            <a:ext cx="6035040" cy="457200"/>
          </a:xfrm>
          <a:prstGeom prst="rect">
            <a:avLst/>
          </a:prstGeom>
          <a:noFill/>
        </p:spPr>
        <p:txBody>
          <a:bodyPr wrap="square">
            <a:spAutoFit/>
          </a:bodyPr>
          <a:lstStyle/>
          <a:p>
            <a:pPr algn="l"/>
            <a:r>
              <a:rPr sz="1000" b="0" i="0">
                <a:solidFill>
                  <a:srgbClr val="FAF7F0"/>
                </a:solidFill>
              </a:rPr>
              <a:t>$25K–$100K/year agency + $5K–$50K/case</a:t>
            </a:r>
          </a:p>
        </p:txBody>
      </p:sp>
      <p:sp>
        <p:nvSpPr>
          <p:cNvPr id="29" name="TextBox 28"/>
          <p:cNvSpPr txBox="1"/>
          <p:nvPr/>
        </p:nvSpPr>
        <p:spPr>
          <a:xfrm>
            <a:off x="9555480" y="4581144"/>
            <a:ext cx="1920240" cy="411480"/>
          </a:xfrm>
          <a:prstGeom prst="rect">
            <a:avLst/>
          </a:prstGeom>
          <a:noFill/>
        </p:spPr>
        <p:txBody>
          <a:bodyPr wrap="square">
            <a:spAutoFit/>
          </a:bodyPr>
          <a:lstStyle/>
          <a:p>
            <a:pPr algn="r"/>
            <a:r>
              <a:rPr sz="1200" b="1" i="0">
                <a:solidFill>
                  <a:srgbClr val="20E898"/>
                </a:solidFill>
              </a:rPr>
              <a:t>$60K</a:t>
            </a:r>
          </a:p>
        </p:txBody>
      </p:sp>
      <p:sp>
        <p:nvSpPr>
          <p:cNvPr id="30" name="Rectangle 29"/>
          <p:cNvSpPr/>
          <p:nvPr/>
        </p:nvSpPr>
        <p:spPr>
          <a:xfrm>
            <a:off x="320040" y="5074920"/>
            <a:ext cx="11548872" cy="54864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166360"/>
            <a:ext cx="2834640" cy="411480"/>
          </a:xfrm>
          <a:prstGeom prst="rect">
            <a:avLst/>
          </a:prstGeom>
          <a:noFill/>
        </p:spPr>
        <p:txBody>
          <a:bodyPr wrap="square">
            <a:spAutoFit/>
          </a:bodyPr>
          <a:lstStyle/>
          <a:p>
            <a:pPr algn="l"/>
            <a:r>
              <a:rPr sz="1100" b="1" i="0">
                <a:solidFill>
                  <a:srgbClr val="FFFFFF"/>
                </a:solidFill>
              </a:rPr>
              <a:t>Media / Journalism</a:t>
            </a:r>
          </a:p>
        </p:txBody>
      </p:sp>
      <p:sp>
        <p:nvSpPr>
          <p:cNvPr id="32" name="TextBox 31"/>
          <p:cNvSpPr txBox="1"/>
          <p:nvPr/>
        </p:nvSpPr>
        <p:spPr>
          <a:xfrm>
            <a:off x="3337560" y="5148072"/>
            <a:ext cx="6035040" cy="457200"/>
          </a:xfrm>
          <a:prstGeom prst="rect">
            <a:avLst/>
          </a:prstGeom>
          <a:noFill/>
        </p:spPr>
        <p:txBody>
          <a:bodyPr wrap="square">
            <a:spAutoFit/>
          </a:bodyPr>
          <a:lstStyle/>
          <a:p>
            <a:pPr algn="l"/>
            <a:r>
              <a:rPr sz="1000" b="0" i="0">
                <a:solidFill>
                  <a:srgbClr val="FAF7F0"/>
                </a:solidFill>
              </a:rPr>
              <a:t>$50K–$250K/year newsroom license</a:t>
            </a:r>
          </a:p>
        </p:txBody>
      </p:sp>
      <p:sp>
        <p:nvSpPr>
          <p:cNvPr id="33" name="TextBox 32"/>
          <p:cNvSpPr txBox="1"/>
          <p:nvPr/>
        </p:nvSpPr>
        <p:spPr>
          <a:xfrm>
            <a:off x="9555480" y="5166360"/>
            <a:ext cx="1920240" cy="411480"/>
          </a:xfrm>
          <a:prstGeom prst="rect">
            <a:avLst/>
          </a:prstGeom>
          <a:noFill/>
        </p:spPr>
        <p:txBody>
          <a:bodyPr wrap="square">
            <a:spAutoFit/>
          </a:bodyPr>
          <a:lstStyle/>
          <a:p>
            <a:pPr algn="r"/>
            <a:r>
              <a:rPr sz="1200" b="1" i="0">
                <a:solidFill>
                  <a:srgbClr val="20E898"/>
                </a:solidFill>
              </a:rPr>
              <a:t>$80K</a:t>
            </a:r>
          </a:p>
        </p:txBody>
      </p:sp>
      <p:sp>
        <p:nvSpPr>
          <p:cNvPr id="34" name="Rectangle 33"/>
          <p:cNvSpPr/>
          <p:nvPr/>
        </p:nvSpPr>
        <p:spPr>
          <a:xfrm>
            <a:off x="320040" y="5660136"/>
            <a:ext cx="11548872" cy="5486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751576"/>
            <a:ext cx="2834640" cy="411480"/>
          </a:xfrm>
          <a:prstGeom prst="rect">
            <a:avLst/>
          </a:prstGeom>
          <a:noFill/>
        </p:spPr>
        <p:txBody>
          <a:bodyPr wrap="square">
            <a:spAutoFit/>
          </a:bodyPr>
          <a:lstStyle/>
          <a:p>
            <a:pPr algn="l"/>
            <a:r>
              <a:rPr sz="1100" b="1" i="0">
                <a:solidFill>
                  <a:srgbClr val="FFFFFF"/>
                </a:solidFill>
              </a:rPr>
              <a:t>Corporate Compliance</a:t>
            </a:r>
          </a:p>
        </p:txBody>
      </p:sp>
      <p:sp>
        <p:nvSpPr>
          <p:cNvPr id="36" name="TextBox 35"/>
          <p:cNvSpPr txBox="1"/>
          <p:nvPr/>
        </p:nvSpPr>
        <p:spPr>
          <a:xfrm>
            <a:off x="3337560" y="5733288"/>
            <a:ext cx="6035040" cy="457200"/>
          </a:xfrm>
          <a:prstGeom prst="rect">
            <a:avLst/>
          </a:prstGeom>
          <a:noFill/>
        </p:spPr>
        <p:txBody>
          <a:bodyPr wrap="square">
            <a:spAutoFit/>
          </a:bodyPr>
          <a:lstStyle/>
          <a:p>
            <a:pPr algn="l"/>
            <a:r>
              <a:rPr sz="1000" b="0" i="0">
                <a:solidFill>
                  <a:srgbClr val="FAF7F0"/>
                </a:solidFill>
              </a:rPr>
              <a:t>$100K–$500K/year Article 50 compliance pack</a:t>
            </a:r>
          </a:p>
        </p:txBody>
      </p:sp>
      <p:sp>
        <p:nvSpPr>
          <p:cNvPr id="37" name="TextBox 36"/>
          <p:cNvSpPr txBox="1"/>
          <p:nvPr/>
        </p:nvSpPr>
        <p:spPr>
          <a:xfrm>
            <a:off x="9555480" y="5751576"/>
            <a:ext cx="1920240" cy="411480"/>
          </a:xfrm>
          <a:prstGeom prst="rect">
            <a:avLst/>
          </a:prstGeom>
          <a:noFill/>
        </p:spPr>
        <p:txBody>
          <a:bodyPr wrap="square">
            <a:spAutoFit/>
          </a:bodyPr>
          <a:lstStyle/>
          <a:p>
            <a:pPr algn="r"/>
            <a:r>
              <a:rPr sz="1200" b="1" i="0">
                <a:solidFill>
                  <a:srgbClr val="20E898"/>
                </a:solidFill>
              </a:rPr>
              <a:t>$150K</a:t>
            </a:r>
          </a:p>
        </p:txBody>
      </p:sp>
      <p:sp>
        <p:nvSpPr>
          <p:cNvPr id="38" name="TextBox 37"/>
          <p:cNvSpPr txBox="1"/>
          <p:nvPr/>
        </p:nvSpPr>
        <p:spPr>
          <a:xfrm>
            <a:off x="320040" y="6172200"/>
            <a:ext cx="11548872" cy="457200"/>
          </a:xfrm>
          <a:prstGeom prst="rect">
            <a:avLst/>
          </a:prstGeom>
          <a:noFill/>
        </p:spPr>
        <p:txBody>
          <a:bodyPr wrap="square">
            <a:spAutoFit/>
          </a:bodyPr>
          <a:lstStyle/>
          <a:p>
            <a:pPr algn="l"/>
            <a:r>
              <a:rPr sz="1100" b="0" i="1">
                <a:solidFill>
                  <a:srgbClr val="8899AA"/>
                </a:solidFill>
              </a:rPr>
              <a:t>Scale layer: Per-receipt transaction fee ($0.10–$2.00) + calendar operator licensing + basis points on anchored value at enterprise volumes.</a:t>
            </a:r>
          </a:p>
        </p:txBody>
      </p:sp>
      <p:sp>
        <p:nvSpPr>
          <p:cNvPr id="39" name="Rectangle 38"/>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YEAR 1 PIPELINE</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$4.25M Year 1 ARR — 20 named accounts, not volume projections.</a:t>
            </a:r>
          </a:p>
        </p:txBody>
      </p:sp>
      <p:sp>
        <p:nvSpPr>
          <p:cNvPr id="7" name="TextBox 6"/>
          <p:cNvSpPr txBox="1"/>
          <p:nvPr/>
        </p:nvSpPr>
        <p:spPr>
          <a:xfrm>
            <a:off x="320040" y="1755648"/>
            <a:ext cx="3200400" cy="292608"/>
          </a:xfrm>
          <a:prstGeom prst="rect">
            <a:avLst/>
          </a:prstGeom>
          <a:noFill/>
        </p:spPr>
        <p:txBody>
          <a:bodyPr wrap="square">
            <a:spAutoFit/>
          </a:bodyPr>
          <a:lstStyle/>
          <a:p>
            <a:pPr algn="l"/>
            <a:r>
              <a:rPr sz="1000" b="1" i="0">
                <a:solidFill>
                  <a:srgbClr val="8899AA"/>
                </a:solidFill>
              </a:rPr>
              <a:t>Lead / Company</a:t>
            </a:r>
          </a:p>
        </p:txBody>
      </p:sp>
      <p:sp>
        <p:nvSpPr>
          <p:cNvPr id="8" name="TextBox 7"/>
          <p:cNvSpPr txBox="1"/>
          <p:nvPr/>
        </p:nvSpPr>
        <p:spPr>
          <a:xfrm>
            <a:off x="3566160" y="1755648"/>
            <a:ext cx="2926080" cy="292608"/>
          </a:xfrm>
          <a:prstGeom prst="rect">
            <a:avLst/>
          </a:prstGeom>
          <a:noFill/>
        </p:spPr>
        <p:txBody>
          <a:bodyPr wrap="square">
            <a:spAutoFit/>
          </a:bodyPr>
          <a:lstStyle/>
          <a:p>
            <a:pPr algn="l"/>
            <a:r>
              <a:rPr sz="1000" b="1" i="0">
                <a:solidFill>
                  <a:srgbClr val="8899AA"/>
                </a:solidFill>
              </a:rPr>
              <a:t>Contact Role</a:t>
            </a:r>
          </a:p>
        </p:txBody>
      </p:sp>
      <p:sp>
        <p:nvSpPr>
          <p:cNvPr id="9" name="TextBox 8"/>
          <p:cNvSpPr txBox="1"/>
          <p:nvPr/>
        </p:nvSpPr>
        <p:spPr>
          <a:xfrm>
            <a:off x="6537960" y="1755648"/>
            <a:ext cx="2743200" cy="292608"/>
          </a:xfrm>
          <a:prstGeom prst="rect">
            <a:avLst/>
          </a:prstGeom>
          <a:noFill/>
        </p:spPr>
        <p:txBody>
          <a:bodyPr wrap="square">
            <a:spAutoFit/>
          </a:bodyPr>
          <a:lstStyle/>
          <a:p>
            <a:pPr algn="l"/>
            <a:r>
              <a:rPr sz="1000" b="1" i="0">
                <a:solidFill>
                  <a:srgbClr val="8899AA"/>
                </a:solidFill>
              </a:rPr>
              <a:t>Vertical</a:t>
            </a:r>
          </a:p>
        </p:txBody>
      </p:sp>
      <p:sp>
        <p:nvSpPr>
          <p:cNvPr id="10" name="TextBox 9"/>
          <p:cNvSpPr txBox="1"/>
          <p:nvPr/>
        </p:nvSpPr>
        <p:spPr>
          <a:xfrm>
            <a:off x="9418320" y="1755648"/>
            <a:ext cx="1828800" cy="292608"/>
          </a:xfrm>
          <a:prstGeom prst="rect">
            <a:avLst/>
          </a:prstGeom>
          <a:noFill/>
        </p:spPr>
        <p:txBody>
          <a:bodyPr wrap="square">
            <a:spAutoFit/>
          </a:bodyPr>
          <a:lstStyle/>
          <a:p>
            <a:pPr algn="r"/>
            <a:r>
              <a:rPr sz="1000" b="1" i="0">
                <a:solidFill>
                  <a:srgbClr val="8899AA"/>
                </a:solidFill>
              </a:rPr>
              <a:t>Target ACV</a:t>
            </a:r>
          </a:p>
        </p:txBody>
      </p:sp>
      <p:sp>
        <p:nvSpPr>
          <p:cNvPr id="11" name="Rectangle 10"/>
          <p:cNvSpPr/>
          <p:nvPr/>
        </p:nvSpPr>
        <p:spPr>
          <a:xfrm>
            <a:off x="320040" y="2084831"/>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103119"/>
            <a:ext cx="3108960" cy="256032"/>
          </a:xfrm>
          <a:prstGeom prst="rect">
            <a:avLst/>
          </a:prstGeom>
          <a:noFill/>
        </p:spPr>
        <p:txBody>
          <a:bodyPr wrap="square">
            <a:spAutoFit/>
          </a:bodyPr>
          <a:lstStyle/>
          <a:p>
            <a:pPr algn="l"/>
            <a:r>
              <a:rPr sz="1000" b="1" i="0">
                <a:solidFill>
                  <a:srgbClr val="FFFFFF"/>
                </a:solidFill>
              </a:rPr>
              <a:t>TransUnion</a:t>
            </a:r>
          </a:p>
        </p:txBody>
      </p:sp>
      <p:sp>
        <p:nvSpPr>
          <p:cNvPr id="13" name="TextBox 12"/>
          <p:cNvSpPr txBox="1"/>
          <p:nvPr/>
        </p:nvSpPr>
        <p:spPr>
          <a:xfrm>
            <a:off x="3566160" y="2103119"/>
            <a:ext cx="2926080" cy="256032"/>
          </a:xfrm>
          <a:prstGeom prst="rect">
            <a:avLst/>
          </a:prstGeom>
          <a:noFill/>
        </p:spPr>
        <p:txBody>
          <a:bodyPr wrap="square">
            <a:spAutoFit/>
          </a:bodyPr>
          <a:lstStyle/>
          <a:p>
            <a:pPr algn="l"/>
            <a:r>
              <a:rPr sz="1000" b="0" i="0">
                <a:solidFill>
                  <a:srgbClr val="FAF7F0"/>
                </a:solidFill>
              </a:rPr>
              <a:t>VP Incident Response</a:t>
            </a:r>
          </a:p>
        </p:txBody>
      </p:sp>
      <p:sp>
        <p:nvSpPr>
          <p:cNvPr id="14" name="TextBox 13"/>
          <p:cNvSpPr txBox="1"/>
          <p:nvPr/>
        </p:nvSpPr>
        <p:spPr>
          <a:xfrm>
            <a:off x="6537960" y="2103119"/>
            <a:ext cx="2743200" cy="256032"/>
          </a:xfrm>
          <a:prstGeom prst="rect">
            <a:avLst/>
          </a:prstGeom>
          <a:noFill/>
        </p:spPr>
        <p:txBody>
          <a:bodyPr wrap="square">
            <a:spAutoFit/>
          </a:bodyPr>
          <a:lstStyle/>
          <a:p>
            <a:pPr algn="l"/>
            <a:r>
              <a:rPr sz="1000" b="0" i="0">
                <a:solidFill>
                  <a:srgbClr val="FAF7F0"/>
                </a:solidFill>
              </a:rPr>
              <a:t>Insurance / Financial</a:t>
            </a:r>
          </a:p>
        </p:txBody>
      </p:sp>
      <p:sp>
        <p:nvSpPr>
          <p:cNvPr id="15" name="TextBox 14"/>
          <p:cNvSpPr txBox="1"/>
          <p:nvPr/>
        </p:nvSpPr>
        <p:spPr>
          <a:xfrm>
            <a:off x="9418320" y="2103119"/>
            <a:ext cx="1828800" cy="256032"/>
          </a:xfrm>
          <a:prstGeom prst="rect">
            <a:avLst/>
          </a:prstGeom>
          <a:noFill/>
        </p:spPr>
        <p:txBody>
          <a:bodyPr wrap="square">
            <a:spAutoFit/>
          </a:bodyPr>
          <a:lstStyle/>
          <a:p>
            <a:pPr algn="r"/>
            <a:r>
              <a:rPr sz="1000" b="1" i="0">
                <a:solidFill>
                  <a:srgbClr val="20E898"/>
                </a:solidFill>
              </a:rPr>
              <a:t>$450K</a:t>
            </a:r>
          </a:p>
        </p:txBody>
      </p:sp>
      <p:sp>
        <p:nvSpPr>
          <p:cNvPr id="16" name="TextBox 15"/>
          <p:cNvSpPr txBox="1"/>
          <p:nvPr/>
        </p:nvSpPr>
        <p:spPr>
          <a:xfrm>
            <a:off x="411480" y="2395727"/>
            <a:ext cx="3108960" cy="256032"/>
          </a:xfrm>
          <a:prstGeom prst="rect">
            <a:avLst/>
          </a:prstGeom>
          <a:noFill/>
        </p:spPr>
        <p:txBody>
          <a:bodyPr wrap="square">
            <a:spAutoFit/>
          </a:bodyPr>
          <a:lstStyle/>
          <a:p>
            <a:pPr algn="l"/>
            <a:r>
              <a:rPr sz="1000" b="1" i="0">
                <a:solidFill>
                  <a:srgbClr val="FFFFFF"/>
                </a:solidFill>
              </a:rPr>
              <a:t>BBSI</a:t>
            </a:r>
          </a:p>
        </p:txBody>
      </p:sp>
      <p:sp>
        <p:nvSpPr>
          <p:cNvPr id="17" name="TextBox 16"/>
          <p:cNvSpPr txBox="1"/>
          <p:nvPr/>
        </p:nvSpPr>
        <p:spPr>
          <a:xfrm>
            <a:off x="3566160" y="2395727"/>
            <a:ext cx="2926080" cy="256032"/>
          </a:xfrm>
          <a:prstGeom prst="rect">
            <a:avLst/>
          </a:prstGeom>
          <a:noFill/>
        </p:spPr>
        <p:txBody>
          <a:bodyPr wrap="square">
            <a:spAutoFit/>
          </a:bodyPr>
          <a:lstStyle/>
          <a:p>
            <a:pPr algn="l"/>
            <a:r>
              <a:rPr sz="1000" b="0" i="0">
                <a:solidFill>
                  <a:srgbClr val="FAF7F0"/>
                </a:solidFill>
              </a:rPr>
              <a:t>National Growth Leader</a:t>
            </a:r>
          </a:p>
        </p:txBody>
      </p:sp>
      <p:sp>
        <p:nvSpPr>
          <p:cNvPr id="18" name="TextBox 17"/>
          <p:cNvSpPr txBox="1"/>
          <p:nvPr/>
        </p:nvSpPr>
        <p:spPr>
          <a:xfrm>
            <a:off x="6537960" y="2395727"/>
            <a:ext cx="2743200" cy="256032"/>
          </a:xfrm>
          <a:prstGeom prst="rect">
            <a:avLst/>
          </a:prstGeom>
          <a:noFill/>
        </p:spPr>
        <p:txBody>
          <a:bodyPr wrap="square">
            <a:spAutoFit/>
          </a:bodyPr>
          <a:lstStyle/>
          <a:p>
            <a:pPr algn="l"/>
            <a:r>
              <a:rPr sz="1000" b="0" i="0">
                <a:solidFill>
                  <a:srgbClr val="FAF7F0"/>
                </a:solidFill>
              </a:rPr>
              <a:t>HR / Employment Docs</a:t>
            </a:r>
          </a:p>
        </p:txBody>
      </p:sp>
      <p:sp>
        <p:nvSpPr>
          <p:cNvPr id="19" name="TextBox 18"/>
          <p:cNvSpPr txBox="1"/>
          <p:nvPr/>
        </p:nvSpPr>
        <p:spPr>
          <a:xfrm>
            <a:off x="9418320" y="2395727"/>
            <a:ext cx="1828800" cy="256032"/>
          </a:xfrm>
          <a:prstGeom prst="rect">
            <a:avLst/>
          </a:prstGeom>
          <a:noFill/>
        </p:spPr>
        <p:txBody>
          <a:bodyPr wrap="square">
            <a:spAutoFit/>
          </a:bodyPr>
          <a:lstStyle/>
          <a:p>
            <a:pPr algn="r"/>
            <a:r>
              <a:rPr sz="1000" b="1" i="0">
                <a:solidFill>
                  <a:srgbClr val="20E898"/>
                </a:solidFill>
              </a:rPr>
              <a:t>$120K</a:t>
            </a:r>
          </a:p>
        </p:txBody>
      </p:sp>
      <p:sp>
        <p:nvSpPr>
          <p:cNvPr id="20" name="Rectangle 19"/>
          <p:cNvSpPr/>
          <p:nvPr/>
        </p:nvSpPr>
        <p:spPr>
          <a:xfrm>
            <a:off x="320040" y="2670048"/>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688336"/>
            <a:ext cx="3108960" cy="256032"/>
          </a:xfrm>
          <a:prstGeom prst="rect">
            <a:avLst/>
          </a:prstGeom>
          <a:noFill/>
        </p:spPr>
        <p:txBody>
          <a:bodyPr wrap="square">
            <a:spAutoFit/>
          </a:bodyPr>
          <a:lstStyle/>
          <a:p>
            <a:pPr algn="l"/>
            <a:r>
              <a:rPr sz="1000" b="1" i="0">
                <a:solidFill>
                  <a:srgbClr val="FFFFFF"/>
                </a:solidFill>
              </a:rPr>
              <a:t>Executive Advisors Group</a:t>
            </a:r>
          </a:p>
        </p:txBody>
      </p:sp>
      <p:sp>
        <p:nvSpPr>
          <p:cNvPr id="22" name="TextBox 21"/>
          <p:cNvSpPr txBox="1"/>
          <p:nvPr/>
        </p:nvSpPr>
        <p:spPr>
          <a:xfrm>
            <a:off x="3566160" y="2688336"/>
            <a:ext cx="2926080" cy="256032"/>
          </a:xfrm>
          <a:prstGeom prst="rect">
            <a:avLst/>
          </a:prstGeom>
          <a:noFill/>
        </p:spPr>
        <p:txBody>
          <a:bodyPr wrap="square">
            <a:spAutoFit/>
          </a:bodyPr>
          <a:lstStyle/>
          <a:p>
            <a:pPr algn="l"/>
            <a:r>
              <a:rPr sz="1000" b="0" i="0">
                <a:solidFill>
                  <a:srgbClr val="FAF7F0"/>
                </a:solidFill>
              </a:rPr>
              <a:t>CEO</a:t>
            </a:r>
          </a:p>
        </p:txBody>
      </p:sp>
      <p:sp>
        <p:nvSpPr>
          <p:cNvPr id="23" name="TextBox 22"/>
          <p:cNvSpPr txBox="1"/>
          <p:nvPr/>
        </p:nvSpPr>
        <p:spPr>
          <a:xfrm>
            <a:off x="6537960" y="2688336"/>
            <a:ext cx="2743200" cy="256032"/>
          </a:xfrm>
          <a:prstGeom prst="rect">
            <a:avLst/>
          </a:prstGeom>
          <a:noFill/>
        </p:spPr>
        <p:txBody>
          <a:bodyPr wrap="square">
            <a:spAutoFit/>
          </a:bodyPr>
          <a:lstStyle/>
          <a:p>
            <a:pPr algn="l"/>
            <a:r>
              <a:rPr sz="1000" b="0" i="0">
                <a:solidFill>
                  <a:srgbClr val="FAF7F0"/>
                </a:solidFill>
              </a:rPr>
              <a:t>CISO Advisory / Channel</a:t>
            </a:r>
          </a:p>
        </p:txBody>
      </p:sp>
      <p:sp>
        <p:nvSpPr>
          <p:cNvPr id="24" name="TextBox 23"/>
          <p:cNvSpPr txBox="1"/>
          <p:nvPr/>
        </p:nvSpPr>
        <p:spPr>
          <a:xfrm>
            <a:off x="9418320" y="2688336"/>
            <a:ext cx="1828800" cy="256032"/>
          </a:xfrm>
          <a:prstGeom prst="rect">
            <a:avLst/>
          </a:prstGeom>
          <a:noFill/>
        </p:spPr>
        <p:txBody>
          <a:bodyPr wrap="square">
            <a:spAutoFit/>
          </a:bodyPr>
          <a:lstStyle/>
          <a:p>
            <a:pPr algn="r"/>
            <a:r>
              <a:rPr sz="1000" b="1" i="0">
                <a:solidFill>
                  <a:srgbClr val="20E898"/>
                </a:solidFill>
              </a:rPr>
              <a:t>$200K</a:t>
            </a:r>
          </a:p>
        </p:txBody>
      </p:sp>
      <p:sp>
        <p:nvSpPr>
          <p:cNvPr id="25" name="TextBox 24"/>
          <p:cNvSpPr txBox="1"/>
          <p:nvPr/>
        </p:nvSpPr>
        <p:spPr>
          <a:xfrm>
            <a:off x="411480" y="2980944"/>
            <a:ext cx="3108960" cy="256032"/>
          </a:xfrm>
          <a:prstGeom prst="rect">
            <a:avLst/>
          </a:prstGeom>
          <a:noFill/>
        </p:spPr>
        <p:txBody>
          <a:bodyPr wrap="square">
            <a:spAutoFit/>
          </a:bodyPr>
          <a:lstStyle/>
          <a:p>
            <a:pPr algn="l"/>
            <a:r>
              <a:rPr sz="1000" b="1" i="0">
                <a:solidFill>
                  <a:srgbClr val="FFFFFF"/>
                </a:solidFill>
              </a:rPr>
              <a:t>Maryman &amp; Associates</a:t>
            </a:r>
          </a:p>
        </p:txBody>
      </p:sp>
      <p:sp>
        <p:nvSpPr>
          <p:cNvPr id="26" name="TextBox 25"/>
          <p:cNvSpPr txBox="1"/>
          <p:nvPr/>
        </p:nvSpPr>
        <p:spPr>
          <a:xfrm>
            <a:off x="3566160" y="2980944"/>
            <a:ext cx="2926080" cy="256032"/>
          </a:xfrm>
          <a:prstGeom prst="rect">
            <a:avLst/>
          </a:prstGeom>
          <a:noFill/>
        </p:spPr>
        <p:txBody>
          <a:bodyPr wrap="square">
            <a:spAutoFit/>
          </a:bodyPr>
          <a:lstStyle/>
          <a:p>
            <a:pPr algn="l"/>
            <a:r>
              <a:rPr sz="1000" b="0" i="0">
                <a:solidFill>
                  <a:srgbClr val="FAF7F0"/>
                </a:solidFill>
              </a:rPr>
              <a:t>Sr. Digital Forensic Examiner (ex-FBI)</a:t>
            </a:r>
          </a:p>
        </p:txBody>
      </p:sp>
      <p:sp>
        <p:nvSpPr>
          <p:cNvPr id="27" name="TextBox 26"/>
          <p:cNvSpPr txBox="1"/>
          <p:nvPr/>
        </p:nvSpPr>
        <p:spPr>
          <a:xfrm>
            <a:off x="6537960" y="2980944"/>
            <a:ext cx="2743200" cy="256032"/>
          </a:xfrm>
          <a:prstGeom prst="rect">
            <a:avLst/>
          </a:prstGeom>
          <a:noFill/>
        </p:spPr>
        <p:txBody>
          <a:bodyPr wrap="square">
            <a:spAutoFit/>
          </a:bodyPr>
          <a:lstStyle/>
          <a:p>
            <a:pPr algn="l"/>
            <a:r>
              <a:rPr sz="1000" b="0" i="0">
                <a:solidFill>
                  <a:srgbClr val="FAF7F0"/>
                </a:solidFill>
              </a:rPr>
              <a:t>Digital Forensics</a:t>
            </a:r>
          </a:p>
        </p:txBody>
      </p:sp>
      <p:sp>
        <p:nvSpPr>
          <p:cNvPr id="28" name="TextBox 27"/>
          <p:cNvSpPr txBox="1"/>
          <p:nvPr/>
        </p:nvSpPr>
        <p:spPr>
          <a:xfrm>
            <a:off x="9418320" y="2980944"/>
            <a:ext cx="1828800" cy="256032"/>
          </a:xfrm>
          <a:prstGeom prst="rect">
            <a:avLst/>
          </a:prstGeom>
          <a:noFill/>
        </p:spPr>
        <p:txBody>
          <a:bodyPr wrap="square">
            <a:spAutoFit/>
          </a:bodyPr>
          <a:lstStyle/>
          <a:p>
            <a:pPr algn="r"/>
            <a:r>
              <a:rPr sz="1000" b="1" i="0">
                <a:solidFill>
                  <a:srgbClr val="20E898"/>
                </a:solidFill>
              </a:rPr>
              <a:t>$85K</a:t>
            </a:r>
          </a:p>
        </p:txBody>
      </p:sp>
      <p:sp>
        <p:nvSpPr>
          <p:cNvPr id="29" name="Rectangle 28"/>
          <p:cNvSpPr/>
          <p:nvPr/>
        </p:nvSpPr>
        <p:spPr>
          <a:xfrm>
            <a:off x="320040" y="3255263"/>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273551"/>
            <a:ext cx="3108960" cy="256032"/>
          </a:xfrm>
          <a:prstGeom prst="rect">
            <a:avLst/>
          </a:prstGeom>
          <a:noFill/>
        </p:spPr>
        <p:txBody>
          <a:bodyPr wrap="square">
            <a:spAutoFit/>
          </a:bodyPr>
          <a:lstStyle/>
          <a:p>
            <a:pPr algn="l"/>
            <a:r>
              <a:rPr sz="1000" b="1" i="0">
                <a:solidFill>
                  <a:srgbClr val="FFFFFF"/>
                </a:solidFill>
              </a:rPr>
              <a:t>IDX</a:t>
            </a:r>
          </a:p>
        </p:txBody>
      </p:sp>
      <p:sp>
        <p:nvSpPr>
          <p:cNvPr id="31" name="TextBox 30"/>
          <p:cNvSpPr txBox="1"/>
          <p:nvPr/>
        </p:nvSpPr>
        <p:spPr>
          <a:xfrm>
            <a:off x="3566160" y="3273551"/>
            <a:ext cx="2926080" cy="256032"/>
          </a:xfrm>
          <a:prstGeom prst="rect">
            <a:avLst/>
          </a:prstGeom>
          <a:noFill/>
        </p:spPr>
        <p:txBody>
          <a:bodyPr wrap="square">
            <a:spAutoFit/>
          </a:bodyPr>
          <a:lstStyle/>
          <a:p>
            <a:pPr algn="l"/>
            <a:r>
              <a:rPr sz="1000" b="0" i="0">
                <a:solidFill>
                  <a:srgbClr val="FAF7F0"/>
                </a:solidFill>
              </a:rPr>
              <a:t>VP Cyber Strategy</a:t>
            </a:r>
          </a:p>
        </p:txBody>
      </p:sp>
      <p:sp>
        <p:nvSpPr>
          <p:cNvPr id="32" name="TextBox 31"/>
          <p:cNvSpPr txBox="1"/>
          <p:nvPr/>
        </p:nvSpPr>
        <p:spPr>
          <a:xfrm>
            <a:off x="6537960" y="3273551"/>
            <a:ext cx="2743200" cy="256032"/>
          </a:xfrm>
          <a:prstGeom prst="rect">
            <a:avLst/>
          </a:prstGeom>
          <a:noFill/>
        </p:spPr>
        <p:txBody>
          <a:bodyPr wrap="square">
            <a:spAutoFit/>
          </a:bodyPr>
          <a:lstStyle/>
          <a:p>
            <a:pPr algn="l"/>
            <a:r>
              <a:rPr sz="1000" b="0" i="0">
                <a:solidFill>
                  <a:srgbClr val="FAF7F0"/>
                </a:solidFill>
              </a:rPr>
              <a:t>Cyber Insurance / Response</a:t>
            </a:r>
          </a:p>
        </p:txBody>
      </p:sp>
      <p:sp>
        <p:nvSpPr>
          <p:cNvPr id="33" name="TextBox 32"/>
          <p:cNvSpPr txBox="1"/>
          <p:nvPr/>
        </p:nvSpPr>
        <p:spPr>
          <a:xfrm>
            <a:off x="9418320" y="3273551"/>
            <a:ext cx="1828800" cy="256032"/>
          </a:xfrm>
          <a:prstGeom prst="rect">
            <a:avLst/>
          </a:prstGeom>
          <a:noFill/>
        </p:spPr>
        <p:txBody>
          <a:bodyPr wrap="square">
            <a:spAutoFit/>
          </a:bodyPr>
          <a:lstStyle/>
          <a:p>
            <a:pPr algn="r"/>
            <a:r>
              <a:rPr sz="1000" b="1" i="0">
                <a:solidFill>
                  <a:srgbClr val="20E898"/>
                </a:solidFill>
              </a:rPr>
              <a:t>$240K</a:t>
            </a:r>
          </a:p>
        </p:txBody>
      </p:sp>
      <p:sp>
        <p:nvSpPr>
          <p:cNvPr id="34" name="TextBox 33"/>
          <p:cNvSpPr txBox="1"/>
          <p:nvPr/>
        </p:nvSpPr>
        <p:spPr>
          <a:xfrm>
            <a:off x="411480" y="3566160"/>
            <a:ext cx="3108960" cy="256032"/>
          </a:xfrm>
          <a:prstGeom prst="rect">
            <a:avLst/>
          </a:prstGeom>
          <a:noFill/>
        </p:spPr>
        <p:txBody>
          <a:bodyPr wrap="square">
            <a:spAutoFit/>
          </a:bodyPr>
          <a:lstStyle/>
          <a:p>
            <a:pPr algn="l"/>
            <a:r>
              <a:rPr sz="1000" b="1" i="0">
                <a:solidFill>
                  <a:srgbClr val="FFFFFF"/>
                </a:solidFill>
              </a:rPr>
              <a:t>ElevenLabs (integration)</a:t>
            </a:r>
          </a:p>
        </p:txBody>
      </p:sp>
      <p:sp>
        <p:nvSpPr>
          <p:cNvPr id="35" name="TextBox 34"/>
          <p:cNvSpPr txBox="1"/>
          <p:nvPr/>
        </p:nvSpPr>
        <p:spPr>
          <a:xfrm>
            <a:off x="3566160" y="3566160"/>
            <a:ext cx="2926080" cy="256032"/>
          </a:xfrm>
          <a:prstGeom prst="rect">
            <a:avLst/>
          </a:prstGeom>
          <a:noFill/>
        </p:spPr>
        <p:txBody>
          <a:bodyPr wrap="square">
            <a:spAutoFit/>
          </a:bodyPr>
          <a:lstStyle/>
          <a:p>
            <a:pPr algn="l"/>
            <a:r>
              <a:rPr sz="1000" b="0" i="0">
                <a:solidFill>
                  <a:srgbClr val="FAF7F0"/>
                </a:solidFill>
              </a:rPr>
              <a:t>VP Enterprise</a:t>
            </a:r>
          </a:p>
        </p:txBody>
      </p:sp>
      <p:sp>
        <p:nvSpPr>
          <p:cNvPr id="36" name="TextBox 35"/>
          <p:cNvSpPr txBox="1"/>
          <p:nvPr/>
        </p:nvSpPr>
        <p:spPr>
          <a:xfrm>
            <a:off x="6537960" y="3566160"/>
            <a:ext cx="2743200" cy="256032"/>
          </a:xfrm>
          <a:prstGeom prst="rect">
            <a:avLst/>
          </a:prstGeom>
          <a:noFill/>
        </p:spPr>
        <p:txBody>
          <a:bodyPr wrap="square">
            <a:spAutoFit/>
          </a:bodyPr>
          <a:lstStyle/>
          <a:p>
            <a:pPr algn="l"/>
            <a:r>
              <a:rPr sz="1000" b="0" i="0">
                <a:solidFill>
                  <a:srgbClr val="FAF7F0"/>
                </a:solidFill>
              </a:rPr>
              <a:t>AI Platform</a:t>
            </a:r>
          </a:p>
        </p:txBody>
      </p:sp>
      <p:sp>
        <p:nvSpPr>
          <p:cNvPr id="37" name="TextBox 36"/>
          <p:cNvSpPr txBox="1"/>
          <p:nvPr/>
        </p:nvSpPr>
        <p:spPr>
          <a:xfrm>
            <a:off x="9418320" y="3566160"/>
            <a:ext cx="1828800" cy="256032"/>
          </a:xfrm>
          <a:prstGeom prst="rect">
            <a:avLst/>
          </a:prstGeom>
          <a:noFill/>
        </p:spPr>
        <p:txBody>
          <a:bodyPr wrap="square">
            <a:spAutoFit/>
          </a:bodyPr>
          <a:lstStyle/>
          <a:p>
            <a:pPr algn="r"/>
            <a:r>
              <a:rPr sz="1000" b="1" i="0">
                <a:solidFill>
                  <a:srgbClr val="20E898"/>
                </a:solidFill>
              </a:rPr>
              <a:t>$300K</a:t>
            </a:r>
          </a:p>
        </p:txBody>
      </p:sp>
      <p:sp>
        <p:nvSpPr>
          <p:cNvPr id="38" name="Rectangle 37"/>
          <p:cNvSpPr/>
          <p:nvPr/>
        </p:nvSpPr>
        <p:spPr>
          <a:xfrm>
            <a:off x="320040" y="3840479"/>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3858767"/>
            <a:ext cx="3108960" cy="256032"/>
          </a:xfrm>
          <a:prstGeom prst="rect">
            <a:avLst/>
          </a:prstGeom>
          <a:noFill/>
        </p:spPr>
        <p:txBody>
          <a:bodyPr wrap="square">
            <a:spAutoFit/>
          </a:bodyPr>
          <a:lstStyle/>
          <a:p>
            <a:pPr algn="l"/>
            <a:r>
              <a:rPr sz="1000" b="1" i="0">
                <a:solidFill>
                  <a:srgbClr val="FFFFFF"/>
                </a:solidFill>
              </a:rPr>
              <a:t>Writer (integration)</a:t>
            </a:r>
          </a:p>
        </p:txBody>
      </p:sp>
      <p:sp>
        <p:nvSpPr>
          <p:cNvPr id="40" name="TextBox 39"/>
          <p:cNvSpPr txBox="1"/>
          <p:nvPr/>
        </p:nvSpPr>
        <p:spPr>
          <a:xfrm>
            <a:off x="3566160" y="3858767"/>
            <a:ext cx="2926080" cy="256032"/>
          </a:xfrm>
          <a:prstGeom prst="rect">
            <a:avLst/>
          </a:prstGeom>
          <a:noFill/>
        </p:spPr>
        <p:txBody>
          <a:bodyPr wrap="square">
            <a:spAutoFit/>
          </a:bodyPr>
          <a:lstStyle/>
          <a:p>
            <a:pPr algn="l"/>
            <a:r>
              <a:rPr sz="1000" b="0" i="0">
                <a:solidFill>
                  <a:srgbClr val="FAF7F0"/>
                </a:solidFill>
              </a:rPr>
              <a:t>Head of Partnerships</a:t>
            </a:r>
          </a:p>
        </p:txBody>
      </p:sp>
      <p:sp>
        <p:nvSpPr>
          <p:cNvPr id="41" name="TextBox 40"/>
          <p:cNvSpPr txBox="1"/>
          <p:nvPr/>
        </p:nvSpPr>
        <p:spPr>
          <a:xfrm>
            <a:off x="6537960" y="3858767"/>
            <a:ext cx="2743200" cy="256032"/>
          </a:xfrm>
          <a:prstGeom prst="rect">
            <a:avLst/>
          </a:prstGeom>
          <a:noFill/>
        </p:spPr>
        <p:txBody>
          <a:bodyPr wrap="square">
            <a:spAutoFit/>
          </a:bodyPr>
          <a:lstStyle/>
          <a:p>
            <a:pPr algn="l"/>
            <a:r>
              <a:rPr sz="1000" b="0" i="0">
                <a:solidFill>
                  <a:srgbClr val="FAF7F0"/>
                </a:solidFill>
              </a:rPr>
              <a:t>AI Platform</a:t>
            </a:r>
          </a:p>
        </p:txBody>
      </p:sp>
      <p:sp>
        <p:nvSpPr>
          <p:cNvPr id="42" name="TextBox 41"/>
          <p:cNvSpPr txBox="1"/>
          <p:nvPr/>
        </p:nvSpPr>
        <p:spPr>
          <a:xfrm>
            <a:off x="9418320" y="3858767"/>
            <a:ext cx="1828800" cy="256032"/>
          </a:xfrm>
          <a:prstGeom prst="rect">
            <a:avLst/>
          </a:prstGeom>
          <a:noFill/>
        </p:spPr>
        <p:txBody>
          <a:bodyPr wrap="square">
            <a:spAutoFit/>
          </a:bodyPr>
          <a:lstStyle/>
          <a:p>
            <a:pPr algn="r"/>
            <a:r>
              <a:rPr sz="1000" b="1" i="0">
                <a:solidFill>
                  <a:srgbClr val="20E898"/>
                </a:solidFill>
              </a:rPr>
              <a:t>$250K</a:t>
            </a:r>
          </a:p>
        </p:txBody>
      </p:sp>
      <p:sp>
        <p:nvSpPr>
          <p:cNvPr id="43" name="TextBox 42"/>
          <p:cNvSpPr txBox="1"/>
          <p:nvPr/>
        </p:nvSpPr>
        <p:spPr>
          <a:xfrm>
            <a:off x="411480" y="4151375"/>
            <a:ext cx="3108960" cy="256032"/>
          </a:xfrm>
          <a:prstGeom prst="rect">
            <a:avLst/>
          </a:prstGeom>
          <a:noFill/>
        </p:spPr>
        <p:txBody>
          <a:bodyPr wrap="square">
            <a:spAutoFit/>
          </a:bodyPr>
          <a:lstStyle/>
          <a:p>
            <a:pPr algn="l"/>
            <a:r>
              <a:rPr sz="1000" b="1" i="0">
                <a:solidFill>
                  <a:srgbClr val="FFFFFF"/>
                </a:solidFill>
              </a:rPr>
              <a:t>Harvey / Am Law pilot</a:t>
            </a:r>
          </a:p>
        </p:txBody>
      </p:sp>
      <p:sp>
        <p:nvSpPr>
          <p:cNvPr id="44" name="TextBox 43"/>
          <p:cNvSpPr txBox="1"/>
          <p:nvPr/>
        </p:nvSpPr>
        <p:spPr>
          <a:xfrm>
            <a:off x="3566160" y="4151375"/>
            <a:ext cx="2926080" cy="256032"/>
          </a:xfrm>
          <a:prstGeom prst="rect">
            <a:avLst/>
          </a:prstGeom>
          <a:noFill/>
        </p:spPr>
        <p:txBody>
          <a:bodyPr wrap="square">
            <a:spAutoFit/>
          </a:bodyPr>
          <a:lstStyle/>
          <a:p>
            <a:pPr algn="l"/>
            <a:r>
              <a:rPr sz="1000" b="0" i="0">
                <a:solidFill>
                  <a:srgbClr val="FAF7F0"/>
                </a:solidFill>
              </a:rPr>
              <a:t>CIO / Dir. Legal Tech</a:t>
            </a:r>
          </a:p>
        </p:txBody>
      </p:sp>
      <p:sp>
        <p:nvSpPr>
          <p:cNvPr id="45" name="TextBox 44"/>
          <p:cNvSpPr txBox="1"/>
          <p:nvPr/>
        </p:nvSpPr>
        <p:spPr>
          <a:xfrm>
            <a:off x="6537960" y="4151375"/>
            <a:ext cx="2743200" cy="256032"/>
          </a:xfrm>
          <a:prstGeom prst="rect">
            <a:avLst/>
          </a:prstGeom>
          <a:noFill/>
        </p:spPr>
        <p:txBody>
          <a:bodyPr wrap="square">
            <a:spAutoFit/>
          </a:bodyPr>
          <a:lstStyle/>
          <a:p>
            <a:pPr algn="l"/>
            <a:r>
              <a:rPr sz="1000" b="0" i="0">
                <a:solidFill>
                  <a:srgbClr val="FAF7F0"/>
                </a:solidFill>
              </a:rPr>
              <a:t>Legal</a:t>
            </a:r>
          </a:p>
        </p:txBody>
      </p:sp>
      <p:sp>
        <p:nvSpPr>
          <p:cNvPr id="46" name="TextBox 45"/>
          <p:cNvSpPr txBox="1"/>
          <p:nvPr/>
        </p:nvSpPr>
        <p:spPr>
          <a:xfrm>
            <a:off x="9418320" y="4151375"/>
            <a:ext cx="1828800" cy="256032"/>
          </a:xfrm>
          <a:prstGeom prst="rect">
            <a:avLst/>
          </a:prstGeom>
          <a:noFill/>
        </p:spPr>
        <p:txBody>
          <a:bodyPr wrap="square">
            <a:spAutoFit/>
          </a:bodyPr>
          <a:lstStyle/>
          <a:p>
            <a:pPr algn="r"/>
            <a:r>
              <a:rPr sz="1000" b="1" i="0">
                <a:solidFill>
                  <a:srgbClr val="20E898"/>
                </a:solidFill>
              </a:rPr>
              <a:t>$500K</a:t>
            </a:r>
          </a:p>
        </p:txBody>
      </p:sp>
      <p:sp>
        <p:nvSpPr>
          <p:cNvPr id="47" name="Rectangle 46"/>
          <p:cNvSpPr/>
          <p:nvPr/>
        </p:nvSpPr>
        <p:spPr>
          <a:xfrm>
            <a:off x="320040" y="4425696"/>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443984"/>
            <a:ext cx="3108960" cy="256032"/>
          </a:xfrm>
          <a:prstGeom prst="rect">
            <a:avLst/>
          </a:prstGeom>
          <a:noFill/>
        </p:spPr>
        <p:txBody>
          <a:bodyPr wrap="square">
            <a:spAutoFit/>
          </a:bodyPr>
          <a:lstStyle/>
          <a:p>
            <a:pPr algn="l"/>
            <a:r>
              <a:rPr sz="1000" b="0" i="0">
                <a:solidFill>
                  <a:srgbClr val="FAF7F0"/>
                </a:solidFill>
              </a:rPr>
              <a:t>Wilson Elser</a:t>
            </a:r>
          </a:p>
        </p:txBody>
      </p:sp>
      <p:sp>
        <p:nvSpPr>
          <p:cNvPr id="49" name="TextBox 48"/>
          <p:cNvSpPr txBox="1"/>
          <p:nvPr/>
        </p:nvSpPr>
        <p:spPr>
          <a:xfrm>
            <a:off x="3566160" y="4443984"/>
            <a:ext cx="2926080" cy="256032"/>
          </a:xfrm>
          <a:prstGeom prst="rect">
            <a:avLst/>
          </a:prstGeom>
          <a:noFill/>
        </p:spPr>
        <p:txBody>
          <a:bodyPr wrap="square">
            <a:spAutoFit/>
          </a:bodyPr>
          <a:lstStyle/>
          <a:p>
            <a:pPr algn="l"/>
            <a:r>
              <a:rPr sz="1000" b="0" i="0">
                <a:solidFill>
                  <a:srgbClr val="FAF7F0"/>
                </a:solidFill>
              </a:rPr>
              <a:t>Partner</a:t>
            </a:r>
          </a:p>
        </p:txBody>
      </p:sp>
      <p:sp>
        <p:nvSpPr>
          <p:cNvPr id="50" name="TextBox 49"/>
          <p:cNvSpPr txBox="1"/>
          <p:nvPr/>
        </p:nvSpPr>
        <p:spPr>
          <a:xfrm>
            <a:off x="6537960" y="4443984"/>
            <a:ext cx="2743200" cy="256032"/>
          </a:xfrm>
          <a:prstGeom prst="rect">
            <a:avLst/>
          </a:prstGeom>
          <a:noFill/>
        </p:spPr>
        <p:txBody>
          <a:bodyPr wrap="square">
            <a:spAutoFit/>
          </a:bodyPr>
          <a:lstStyle/>
          <a:p>
            <a:pPr algn="l"/>
            <a:r>
              <a:rPr sz="1000" b="0" i="0">
                <a:solidFill>
                  <a:srgbClr val="FAF7F0"/>
                </a:solidFill>
              </a:rPr>
              <a:t>Am Law 200 / Legal</a:t>
            </a:r>
          </a:p>
        </p:txBody>
      </p:sp>
      <p:sp>
        <p:nvSpPr>
          <p:cNvPr id="51" name="TextBox 50"/>
          <p:cNvSpPr txBox="1"/>
          <p:nvPr/>
        </p:nvSpPr>
        <p:spPr>
          <a:xfrm>
            <a:off x="9418320" y="4443984"/>
            <a:ext cx="1828800" cy="256032"/>
          </a:xfrm>
          <a:prstGeom prst="rect">
            <a:avLst/>
          </a:prstGeom>
          <a:noFill/>
        </p:spPr>
        <p:txBody>
          <a:bodyPr wrap="square">
            <a:spAutoFit/>
          </a:bodyPr>
          <a:lstStyle/>
          <a:p>
            <a:pPr algn="r"/>
            <a:r>
              <a:rPr sz="1000" b="1" i="0">
                <a:solidFill>
                  <a:srgbClr val="20E898"/>
                </a:solidFill>
              </a:rPr>
              <a:t>$150K</a:t>
            </a:r>
          </a:p>
        </p:txBody>
      </p:sp>
      <p:sp>
        <p:nvSpPr>
          <p:cNvPr id="52" name="TextBox 51"/>
          <p:cNvSpPr txBox="1"/>
          <p:nvPr/>
        </p:nvSpPr>
        <p:spPr>
          <a:xfrm>
            <a:off x="411480" y="4736592"/>
            <a:ext cx="3108960" cy="256032"/>
          </a:xfrm>
          <a:prstGeom prst="rect">
            <a:avLst/>
          </a:prstGeom>
          <a:noFill/>
        </p:spPr>
        <p:txBody>
          <a:bodyPr wrap="square">
            <a:spAutoFit/>
          </a:bodyPr>
          <a:lstStyle/>
          <a:p>
            <a:pPr algn="l"/>
            <a:r>
              <a:rPr sz="1000" b="0" i="0">
                <a:solidFill>
                  <a:srgbClr val="FAF7F0"/>
                </a:solidFill>
              </a:rPr>
              <a:t>CRC Group</a:t>
            </a:r>
          </a:p>
        </p:txBody>
      </p:sp>
      <p:sp>
        <p:nvSpPr>
          <p:cNvPr id="53" name="TextBox 52"/>
          <p:cNvSpPr txBox="1"/>
          <p:nvPr/>
        </p:nvSpPr>
        <p:spPr>
          <a:xfrm>
            <a:off x="3566160" y="4736592"/>
            <a:ext cx="2926080" cy="256032"/>
          </a:xfrm>
          <a:prstGeom prst="rect">
            <a:avLst/>
          </a:prstGeom>
          <a:noFill/>
        </p:spPr>
        <p:txBody>
          <a:bodyPr wrap="square">
            <a:spAutoFit/>
          </a:bodyPr>
          <a:lstStyle/>
          <a:p>
            <a:pPr algn="l"/>
            <a:r>
              <a:rPr sz="1000" b="0" i="0">
                <a:solidFill>
                  <a:srgbClr val="FAF7F0"/>
                </a:solidFill>
              </a:rPr>
              <a:t>VP</a:t>
            </a:r>
          </a:p>
        </p:txBody>
      </p:sp>
      <p:sp>
        <p:nvSpPr>
          <p:cNvPr id="54" name="TextBox 53"/>
          <p:cNvSpPr txBox="1"/>
          <p:nvPr/>
        </p:nvSpPr>
        <p:spPr>
          <a:xfrm>
            <a:off x="6537960" y="4736592"/>
            <a:ext cx="2743200" cy="256032"/>
          </a:xfrm>
          <a:prstGeom prst="rect">
            <a:avLst/>
          </a:prstGeom>
          <a:noFill/>
        </p:spPr>
        <p:txBody>
          <a:bodyPr wrap="square">
            <a:spAutoFit/>
          </a:bodyPr>
          <a:lstStyle/>
          <a:p>
            <a:pPr algn="l"/>
            <a:r>
              <a:rPr sz="1000" b="0" i="0">
                <a:solidFill>
                  <a:srgbClr val="FAF7F0"/>
                </a:solidFill>
              </a:rPr>
              <a:t>Insurance</a:t>
            </a:r>
          </a:p>
        </p:txBody>
      </p:sp>
      <p:sp>
        <p:nvSpPr>
          <p:cNvPr id="55" name="TextBox 54"/>
          <p:cNvSpPr txBox="1"/>
          <p:nvPr/>
        </p:nvSpPr>
        <p:spPr>
          <a:xfrm>
            <a:off x="9418320" y="4736592"/>
            <a:ext cx="1828800" cy="256032"/>
          </a:xfrm>
          <a:prstGeom prst="rect">
            <a:avLst/>
          </a:prstGeom>
          <a:noFill/>
        </p:spPr>
        <p:txBody>
          <a:bodyPr wrap="square">
            <a:spAutoFit/>
          </a:bodyPr>
          <a:lstStyle/>
          <a:p>
            <a:pPr algn="r"/>
            <a:r>
              <a:rPr sz="1000" b="1" i="0">
                <a:solidFill>
                  <a:srgbClr val="20E898"/>
                </a:solidFill>
              </a:rPr>
              <a:t>$180K</a:t>
            </a:r>
          </a:p>
        </p:txBody>
      </p:sp>
      <p:sp>
        <p:nvSpPr>
          <p:cNvPr id="56" name="Rectangle 55"/>
          <p:cNvSpPr/>
          <p:nvPr/>
        </p:nvSpPr>
        <p:spPr>
          <a:xfrm>
            <a:off x="320040" y="5010912"/>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80" y="5029200"/>
            <a:ext cx="3108960" cy="256032"/>
          </a:xfrm>
          <a:prstGeom prst="rect">
            <a:avLst/>
          </a:prstGeom>
          <a:noFill/>
        </p:spPr>
        <p:txBody>
          <a:bodyPr wrap="square">
            <a:spAutoFit/>
          </a:bodyPr>
          <a:lstStyle/>
          <a:p>
            <a:pPr algn="l"/>
            <a:r>
              <a:rPr sz="1000" b="0" i="0">
                <a:solidFill>
                  <a:srgbClr val="FAF7F0"/>
                </a:solidFill>
              </a:rPr>
              <a:t>INSUREtrust</a:t>
            </a:r>
          </a:p>
        </p:txBody>
      </p:sp>
      <p:sp>
        <p:nvSpPr>
          <p:cNvPr id="58" name="TextBox 57"/>
          <p:cNvSpPr txBox="1"/>
          <p:nvPr/>
        </p:nvSpPr>
        <p:spPr>
          <a:xfrm>
            <a:off x="3566160" y="5029200"/>
            <a:ext cx="2926080" cy="256032"/>
          </a:xfrm>
          <a:prstGeom prst="rect">
            <a:avLst/>
          </a:prstGeom>
          <a:noFill/>
        </p:spPr>
        <p:txBody>
          <a:bodyPr wrap="square">
            <a:spAutoFit/>
          </a:bodyPr>
          <a:lstStyle/>
          <a:p>
            <a:pPr algn="l"/>
            <a:r>
              <a:rPr sz="1000" b="0" i="0">
                <a:solidFill>
                  <a:srgbClr val="FAF7F0"/>
                </a:solidFill>
              </a:rPr>
              <a:t>TBD</a:t>
            </a:r>
          </a:p>
        </p:txBody>
      </p:sp>
      <p:sp>
        <p:nvSpPr>
          <p:cNvPr id="59" name="TextBox 58"/>
          <p:cNvSpPr txBox="1"/>
          <p:nvPr/>
        </p:nvSpPr>
        <p:spPr>
          <a:xfrm>
            <a:off x="6537960" y="5029200"/>
            <a:ext cx="2743200" cy="256032"/>
          </a:xfrm>
          <a:prstGeom prst="rect">
            <a:avLst/>
          </a:prstGeom>
          <a:noFill/>
        </p:spPr>
        <p:txBody>
          <a:bodyPr wrap="square">
            <a:spAutoFit/>
          </a:bodyPr>
          <a:lstStyle/>
          <a:p>
            <a:pPr algn="l"/>
            <a:r>
              <a:rPr sz="1000" b="0" i="0">
                <a:solidFill>
                  <a:srgbClr val="FAF7F0"/>
                </a:solidFill>
              </a:rPr>
              <a:t>Cyber Insurance</a:t>
            </a:r>
          </a:p>
        </p:txBody>
      </p:sp>
      <p:sp>
        <p:nvSpPr>
          <p:cNvPr id="60" name="TextBox 59"/>
          <p:cNvSpPr txBox="1"/>
          <p:nvPr/>
        </p:nvSpPr>
        <p:spPr>
          <a:xfrm>
            <a:off x="9418320" y="5029200"/>
            <a:ext cx="1828800" cy="256032"/>
          </a:xfrm>
          <a:prstGeom prst="rect">
            <a:avLst/>
          </a:prstGeom>
          <a:noFill/>
        </p:spPr>
        <p:txBody>
          <a:bodyPr wrap="square">
            <a:spAutoFit/>
          </a:bodyPr>
          <a:lstStyle/>
          <a:p>
            <a:pPr algn="r"/>
            <a:r>
              <a:rPr sz="1000" b="1" i="0">
                <a:solidFill>
                  <a:srgbClr val="20E898"/>
                </a:solidFill>
              </a:rPr>
              <a:t>$120K</a:t>
            </a:r>
          </a:p>
        </p:txBody>
      </p:sp>
      <p:sp>
        <p:nvSpPr>
          <p:cNvPr id="61" name="TextBox 60"/>
          <p:cNvSpPr txBox="1"/>
          <p:nvPr/>
        </p:nvSpPr>
        <p:spPr>
          <a:xfrm>
            <a:off x="411480" y="5321808"/>
            <a:ext cx="3108960" cy="256032"/>
          </a:xfrm>
          <a:prstGeom prst="rect">
            <a:avLst/>
          </a:prstGeom>
          <a:noFill/>
        </p:spPr>
        <p:txBody>
          <a:bodyPr wrap="square">
            <a:spAutoFit/>
          </a:bodyPr>
          <a:lstStyle/>
          <a:p>
            <a:pPr algn="l"/>
            <a:r>
              <a:rPr sz="1000" b="0" i="0">
                <a:solidFill>
                  <a:srgbClr val="FAF7F0"/>
                </a:solidFill>
              </a:rPr>
              <a:t>Lewis Brisbois</a:t>
            </a:r>
          </a:p>
        </p:txBody>
      </p:sp>
      <p:sp>
        <p:nvSpPr>
          <p:cNvPr id="62" name="TextBox 61"/>
          <p:cNvSpPr txBox="1"/>
          <p:nvPr/>
        </p:nvSpPr>
        <p:spPr>
          <a:xfrm>
            <a:off x="3566160" y="5321808"/>
            <a:ext cx="2926080" cy="256032"/>
          </a:xfrm>
          <a:prstGeom prst="rect">
            <a:avLst/>
          </a:prstGeom>
          <a:noFill/>
        </p:spPr>
        <p:txBody>
          <a:bodyPr wrap="square">
            <a:spAutoFit/>
          </a:bodyPr>
          <a:lstStyle/>
          <a:p>
            <a:pPr algn="l"/>
            <a:r>
              <a:rPr sz="1000" b="0" i="0">
                <a:solidFill>
                  <a:srgbClr val="FAF7F0"/>
                </a:solidFill>
              </a:rPr>
              <a:t>National Data Privacy VC</a:t>
            </a:r>
          </a:p>
        </p:txBody>
      </p:sp>
      <p:sp>
        <p:nvSpPr>
          <p:cNvPr id="63" name="TextBox 62"/>
          <p:cNvSpPr txBox="1"/>
          <p:nvPr/>
        </p:nvSpPr>
        <p:spPr>
          <a:xfrm>
            <a:off x="6537960" y="5321808"/>
            <a:ext cx="2743200" cy="256032"/>
          </a:xfrm>
          <a:prstGeom prst="rect">
            <a:avLst/>
          </a:prstGeom>
          <a:noFill/>
        </p:spPr>
        <p:txBody>
          <a:bodyPr wrap="square">
            <a:spAutoFit/>
          </a:bodyPr>
          <a:lstStyle/>
          <a:p>
            <a:pPr algn="l"/>
            <a:r>
              <a:rPr sz="1000" b="0" i="0">
                <a:solidFill>
                  <a:srgbClr val="FAF7F0"/>
                </a:solidFill>
              </a:rPr>
              <a:t>Legal</a:t>
            </a:r>
          </a:p>
        </p:txBody>
      </p:sp>
      <p:sp>
        <p:nvSpPr>
          <p:cNvPr id="64" name="TextBox 63"/>
          <p:cNvSpPr txBox="1"/>
          <p:nvPr/>
        </p:nvSpPr>
        <p:spPr>
          <a:xfrm>
            <a:off x="9418320" y="5321808"/>
            <a:ext cx="1828800" cy="256032"/>
          </a:xfrm>
          <a:prstGeom prst="rect">
            <a:avLst/>
          </a:prstGeom>
          <a:noFill/>
        </p:spPr>
        <p:txBody>
          <a:bodyPr wrap="square">
            <a:spAutoFit/>
          </a:bodyPr>
          <a:lstStyle/>
          <a:p>
            <a:pPr algn="r"/>
            <a:r>
              <a:rPr sz="1000" b="1" i="0">
                <a:solidFill>
                  <a:srgbClr val="20E898"/>
                </a:solidFill>
              </a:rPr>
              <a:t>$120K</a:t>
            </a:r>
          </a:p>
        </p:txBody>
      </p:sp>
      <p:sp>
        <p:nvSpPr>
          <p:cNvPr id="65" name="Rectangle 64"/>
          <p:cNvSpPr/>
          <p:nvPr/>
        </p:nvSpPr>
        <p:spPr>
          <a:xfrm>
            <a:off x="320040" y="5596127"/>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11480" y="5614415"/>
            <a:ext cx="3108960" cy="256032"/>
          </a:xfrm>
          <a:prstGeom prst="rect">
            <a:avLst/>
          </a:prstGeom>
          <a:noFill/>
        </p:spPr>
        <p:txBody>
          <a:bodyPr wrap="square">
            <a:spAutoFit/>
          </a:bodyPr>
          <a:lstStyle/>
          <a:p>
            <a:pPr algn="l"/>
            <a:r>
              <a:rPr sz="1000" b="0" i="0">
                <a:solidFill>
                  <a:srgbClr val="FAF7F0"/>
                </a:solidFill>
              </a:rPr>
              <a:t>Microsoft (Concentric AI)</a:t>
            </a:r>
          </a:p>
        </p:txBody>
      </p:sp>
      <p:sp>
        <p:nvSpPr>
          <p:cNvPr id="67" name="TextBox 66"/>
          <p:cNvSpPr txBox="1"/>
          <p:nvPr/>
        </p:nvSpPr>
        <p:spPr>
          <a:xfrm>
            <a:off x="3566160" y="5614415"/>
            <a:ext cx="2926080" cy="256032"/>
          </a:xfrm>
          <a:prstGeom prst="rect">
            <a:avLst/>
          </a:prstGeom>
          <a:noFill/>
        </p:spPr>
        <p:txBody>
          <a:bodyPr wrap="square">
            <a:spAutoFit/>
          </a:bodyPr>
          <a:lstStyle/>
          <a:p>
            <a:pPr algn="l"/>
            <a:r>
              <a:rPr sz="1000" b="0" i="0">
                <a:solidFill>
                  <a:srgbClr val="FAF7F0"/>
                </a:solidFill>
              </a:rPr>
              <a:t>Enterprise AE</a:t>
            </a:r>
          </a:p>
        </p:txBody>
      </p:sp>
      <p:sp>
        <p:nvSpPr>
          <p:cNvPr id="68" name="TextBox 67"/>
          <p:cNvSpPr txBox="1"/>
          <p:nvPr/>
        </p:nvSpPr>
        <p:spPr>
          <a:xfrm>
            <a:off x="6537960" y="5614415"/>
            <a:ext cx="2743200" cy="256032"/>
          </a:xfrm>
          <a:prstGeom prst="rect">
            <a:avLst/>
          </a:prstGeom>
          <a:noFill/>
        </p:spPr>
        <p:txBody>
          <a:bodyPr wrap="square">
            <a:spAutoFit/>
          </a:bodyPr>
          <a:lstStyle/>
          <a:p>
            <a:pPr algn="l"/>
            <a:r>
              <a:rPr sz="1000" b="0" i="0">
                <a:solidFill>
                  <a:srgbClr val="FAF7F0"/>
                </a:solidFill>
              </a:rPr>
              <a:t>Channel / Integration</a:t>
            </a:r>
          </a:p>
        </p:txBody>
      </p:sp>
      <p:sp>
        <p:nvSpPr>
          <p:cNvPr id="69" name="TextBox 68"/>
          <p:cNvSpPr txBox="1"/>
          <p:nvPr/>
        </p:nvSpPr>
        <p:spPr>
          <a:xfrm>
            <a:off x="9418320" y="5614415"/>
            <a:ext cx="1828800" cy="256032"/>
          </a:xfrm>
          <a:prstGeom prst="rect">
            <a:avLst/>
          </a:prstGeom>
          <a:noFill/>
        </p:spPr>
        <p:txBody>
          <a:bodyPr wrap="square">
            <a:spAutoFit/>
          </a:bodyPr>
          <a:lstStyle/>
          <a:p>
            <a:pPr algn="r"/>
            <a:r>
              <a:rPr sz="1000" b="1" i="0">
                <a:solidFill>
                  <a:srgbClr val="20E898"/>
                </a:solidFill>
              </a:rPr>
              <a:t>$100K</a:t>
            </a:r>
          </a:p>
        </p:txBody>
      </p:sp>
      <p:sp>
        <p:nvSpPr>
          <p:cNvPr id="70" name="TextBox 69"/>
          <p:cNvSpPr txBox="1"/>
          <p:nvPr/>
        </p:nvSpPr>
        <p:spPr>
          <a:xfrm>
            <a:off x="411480" y="5907024"/>
            <a:ext cx="3108960" cy="256032"/>
          </a:xfrm>
          <a:prstGeom prst="rect">
            <a:avLst/>
          </a:prstGeom>
          <a:noFill/>
        </p:spPr>
        <p:txBody>
          <a:bodyPr wrap="square">
            <a:spAutoFit/>
          </a:bodyPr>
          <a:lstStyle/>
          <a:p>
            <a:pPr algn="l"/>
            <a:r>
              <a:rPr sz="1000" b="0" i="0">
                <a:solidFill>
                  <a:srgbClr val="FAF7F0"/>
                </a:solidFill>
              </a:rPr>
              <a:t>Concentric AI</a:t>
            </a:r>
          </a:p>
        </p:txBody>
      </p:sp>
      <p:sp>
        <p:nvSpPr>
          <p:cNvPr id="71" name="TextBox 70"/>
          <p:cNvSpPr txBox="1"/>
          <p:nvPr/>
        </p:nvSpPr>
        <p:spPr>
          <a:xfrm>
            <a:off x="3566160" y="5907024"/>
            <a:ext cx="2926080" cy="256032"/>
          </a:xfrm>
          <a:prstGeom prst="rect">
            <a:avLst/>
          </a:prstGeom>
          <a:noFill/>
        </p:spPr>
        <p:txBody>
          <a:bodyPr wrap="square">
            <a:spAutoFit/>
          </a:bodyPr>
          <a:lstStyle/>
          <a:p>
            <a:pPr algn="l"/>
            <a:r>
              <a:rPr sz="1000" b="0" i="0">
                <a:solidFill>
                  <a:srgbClr val="FAF7F0"/>
                </a:solidFill>
              </a:rPr>
              <a:t>Enterprise AE Pacific</a:t>
            </a:r>
          </a:p>
        </p:txBody>
      </p:sp>
      <p:sp>
        <p:nvSpPr>
          <p:cNvPr id="72" name="TextBox 71"/>
          <p:cNvSpPr txBox="1"/>
          <p:nvPr/>
        </p:nvSpPr>
        <p:spPr>
          <a:xfrm>
            <a:off x="6537960" y="5907024"/>
            <a:ext cx="2743200" cy="256032"/>
          </a:xfrm>
          <a:prstGeom prst="rect">
            <a:avLst/>
          </a:prstGeom>
          <a:noFill/>
        </p:spPr>
        <p:txBody>
          <a:bodyPr wrap="square">
            <a:spAutoFit/>
          </a:bodyPr>
          <a:lstStyle/>
          <a:p>
            <a:pPr algn="l"/>
            <a:r>
              <a:rPr sz="1000" b="0" i="0">
                <a:solidFill>
                  <a:srgbClr val="FAF7F0"/>
                </a:solidFill>
              </a:rPr>
              <a:t>Data Security / Channel</a:t>
            </a:r>
          </a:p>
        </p:txBody>
      </p:sp>
      <p:sp>
        <p:nvSpPr>
          <p:cNvPr id="73" name="TextBox 72"/>
          <p:cNvSpPr txBox="1"/>
          <p:nvPr/>
        </p:nvSpPr>
        <p:spPr>
          <a:xfrm>
            <a:off x="9418320" y="5907024"/>
            <a:ext cx="1828800" cy="256032"/>
          </a:xfrm>
          <a:prstGeom prst="rect">
            <a:avLst/>
          </a:prstGeom>
          <a:noFill/>
        </p:spPr>
        <p:txBody>
          <a:bodyPr wrap="square">
            <a:spAutoFit/>
          </a:bodyPr>
          <a:lstStyle/>
          <a:p>
            <a:pPr algn="r"/>
            <a:r>
              <a:rPr sz="1000" b="1" i="0">
                <a:solidFill>
                  <a:srgbClr val="20E898"/>
                </a:solidFill>
              </a:rPr>
              <a:t>$80K</a:t>
            </a:r>
          </a:p>
        </p:txBody>
      </p:sp>
      <p:sp>
        <p:nvSpPr>
          <p:cNvPr id="74" name="Rectangle 73"/>
          <p:cNvSpPr/>
          <p:nvPr/>
        </p:nvSpPr>
        <p:spPr>
          <a:xfrm>
            <a:off x="320040" y="6181344"/>
            <a:ext cx="11548872" cy="283464"/>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11480" y="6199632"/>
            <a:ext cx="3108960" cy="256032"/>
          </a:xfrm>
          <a:prstGeom prst="rect">
            <a:avLst/>
          </a:prstGeom>
          <a:noFill/>
        </p:spPr>
        <p:txBody>
          <a:bodyPr wrap="square">
            <a:spAutoFit/>
          </a:bodyPr>
          <a:lstStyle/>
          <a:p>
            <a:pPr algn="l"/>
            <a:r>
              <a:rPr sz="1000" b="0" i="0">
                <a:solidFill>
                  <a:srgbClr val="FAF7F0"/>
                </a:solidFill>
              </a:rPr>
              <a:t>+ 6 additional warm leads</a:t>
            </a:r>
          </a:p>
        </p:txBody>
      </p:sp>
      <p:sp>
        <p:nvSpPr>
          <p:cNvPr id="76" name="TextBox 75"/>
          <p:cNvSpPr txBox="1"/>
          <p:nvPr/>
        </p:nvSpPr>
        <p:spPr>
          <a:xfrm>
            <a:off x="3566160" y="6199632"/>
            <a:ext cx="2926080" cy="256032"/>
          </a:xfrm>
          <a:prstGeom prst="rect">
            <a:avLst/>
          </a:prstGeom>
          <a:noFill/>
        </p:spPr>
        <p:txBody>
          <a:bodyPr wrap="square">
            <a:spAutoFit/>
          </a:bodyPr>
          <a:lstStyle/>
          <a:p>
            <a:pPr algn="l"/>
            <a:r>
              <a:rPr sz="1000" b="0" i="0">
                <a:solidFill>
                  <a:srgbClr val="FAF7F0"/>
                </a:solidFill>
              </a:rPr>
              <a:t>Symposium pipeline</a:t>
            </a:r>
          </a:p>
        </p:txBody>
      </p:sp>
      <p:sp>
        <p:nvSpPr>
          <p:cNvPr id="77" name="TextBox 76"/>
          <p:cNvSpPr txBox="1"/>
          <p:nvPr/>
        </p:nvSpPr>
        <p:spPr>
          <a:xfrm>
            <a:off x="6537960" y="6199632"/>
            <a:ext cx="2743200" cy="256032"/>
          </a:xfrm>
          <a:prstGeom prst="rect">
            <a:avLst/>
          </a:prstGeom>
          <a:noFill/>
        </p:spPr>
        <p:txBody>
          <a:bodyPr wrap="square">
            <a:spAutoFit/>
          </a:bodyPr>
          <a:lstStyle/>
          <a:p>
            <a:pPr algn="l"/>
            <a:r>
              <a:rPr sz="1000" b="0" i="0">
                <a:solidFill>
                  <a:srgbClr val="FAF7F0"/>
                </a:solidFill>
              </a:rPr>
              <a:t>Various</a:t>
            </a:r>
          </a:p>
        </p:txBody>
      </p:sp>
      <p:sp>
        <p:nvSpPr>
          <p:cNvPr id="78" name="TextBox 77"/>
          <p:cNvSpPr txBox="1"/>
          <p:nvPr/>
        </p:nvSpPr>
        <p:spPr>
          <a:xfrm>
            <a:off x="9418320" y="6199632"/>
            <a:ext cx="1828800" cy="256032"/>
          </a:xfrm>
          <a:prstGeom prst="rect">
            <a:avLst/>
          </a:prstGeom>
          <a:noFill/>
        </p:spPr>
        <p:txBody>
          <a:bodyPr wrap="square">
            <a:spAutoFit/>
          </a:bodyPr>
          <a:lstStyle/>
          <a:p>
            <a:pPr algn="r"/>
            <a:r>
              <a:rPr sz="1000" b="1" i="0">
                <a:solidFill>
                  <a:srgbClr val="20E898"/>
                </a:solidFill>
              </a:rPr>
              <a:t>$355K</a:t>
            </a:r>
          </a:p>
        </p:txBody>
      </p:sp>
      <p:sp>
        <p:nvSpPr>
          <p:cNvPr id="79" name="Rectangle 78"/>
          <p:cNvSpPr/>
          <p:nvPr/>
        </p:nvSpPr>
        <p:spPr>
          <a:xfrm>
            <a:off x="7772400" y="6400800"/>
            <a:ext cx="4114800" cy="320040"/>
          </a:xfrm>
          <a:prstGeom prst="rect">
            <a:avLst/>
          </a:prstGeom>
          <a:solidFill>
            <a:srgbClr val="0A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818120" y="6419088"/>
            <a:ext cx="2011680" cy="274320"/>
          </a:xfrm>
          <a:prstGeom prst="rect">
            <a:avLst/>
          </a:prstGeom>
          <a:noFill/>
        </p:spPr>
        <p:txBody>
          <a:bodyPr wrap="square">
            <a:spAutoFit/>
          </a:bodyPr>
          <a:lstStyle/>
          <a:p>
            <a:pPr algn="l"/>
            <a:r>
              <a:rPr sz="1100" b="1" i="0">
                <a:solidFill>
                  <a:srgbClr val="8899AA"/>
                </a:solidFill>
              </a:rPr>
              <a:t>Pipeline total:</a:t>
            </a:r>
          </a:p>
        </p:txBody>
      </p:sp>
      <p:sp>
        <p:nvSpPr>
          <p:cNvPr id="81" name="TextBox 80"/>
          <p:cNvSpPr txBox="1"/>
          <p:nvPr/>
        </p:nvSpPr>
        <p:spPr>
          <a:xfrm>
            <a:off x="9738360" y="6382512"/>
            <a:ext cx="2011680" cy="347472"/>
          </a:xfrm>
          <a:prstGeom prst="rect">
            <a:avLst/>
          </a:prstGeom>
          <a:noFill/>
        </p:spPr>
        <p:txBody>
          <a:bodyPr wrap="square">
            <a:spAutoFit/>
          </a:bodyPr>
          <a:lstStyle/>
          <a:p>
            <a:pPr algn="r"/>
            <a:r>
              <a:rPr sz="1400" b="1" i="0">
                <a:solidFill>
                  <a:srgbClr val="20E898"/>
                </a:solidFill>
              </a:rPr>
              <a:t>$4.25M ARR</a:t>
            </a:r>
          </a:p>
        </p:txBody>
      </p:sp>
      <p:sp>
        <p:nvSpPr>
          <p:cNvPr id="82" name="Rectangle 81"/>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UNIT ECONOMICS</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600" b="1" i="0">
                <a:solidFill>
                  <a:srgbClr val="FFFFFF"/>
                </a:solidFill>
              </a:rPr>
              <a:t>The margin profile of infrastructure, not software.</a:t>
            </a:r>
          </a:p>
        </p:txBody>
      </p:sp>
      <p:sp>
        <p:nvSpPr>
          <p:cNvPr id="7" name="Rectangle 6"/>
          <p:cNvSpPr/>
          <p:nvPr/>
        </p:nvSpPr>
        <p:spPr>
          <a:xfrm>
            <a:off x="320040" y="1828800"/>
            <a:ext cx="5394960" cy="43891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20240"/>
            <a:ext cx="5120640" cy="365760"/>
          </a:xfrm>
          <a:prstGeom prst="rect">
            <a:avLst/>
          </a:prstGeom>
          <a:noFill/>
        </p:spPr>
        <p:txBody>
          <a:bodyPr wrap="square">
            <a:spAutoFit/>
          </a:bodyPr>
          <a:lstStyle/>
          <a:p>
            <a:pPr algn="l"/>
            <a:r>
              <a:rPr sz="1300" b="1" i="0">
                <a:solidFill>
                  <a:srgbClr val="20E898"/>
                </a:solidFill>
              </a:rPr>
              <a:t>Per-Receipt Economics</a:t>
            </a:r>
          </a:p>
        </p:txBody>
      </p:sp>
      <p:sp>
        <p:nvSpPr>
          <p:cNvPr id="9" name="TextBox 8"/>
          <p:cNvSpPr txBox="1"/>
          <p:nvPr/>
        </p:nvSpPr>
        <p:spPr>
          <a:xfrm>
            <a:off x="457200" y="2423160"/>
            <a:ext cx="3291840" cy="347472"/>
          </a:xfrm>
          <a:prstGeom prst="rect">
            <a:avLst/>
          </a:prstGeom>
          <a:noFill/>
        </p:spPr>
        <p:txBody>
          <a:bodyPr wrap="square">
            <a:spAutoFit/>
          </a:bodyPr>
          <a:lstStyle/>
          <a:p>
            <a:pPr algn="l"/>
            <a:r>
              <a:rPr sz="1200" b="0" i="0">
                <a:solidFill>
                  <a:srgbClr val="8899AA"/>
                </a:solidFill>
              </a:rPr>
              <a:t>Revenue per receipt</a:t>
            </a:r>
          </a:p>
        </p:txBody>
      </p:sp>
      <p:sp>
        <p:nvSpPr>
          <p:cNvPr id="10" name="TextBox 9"/>
          <p:cNvSpPr txBox="1"/>
          <p:nvPr/>
        </p:nvSpPr>
        <p:spPr>
          <a:xfrm>
            <a:off x="3749039" y="2423160"/>
            <a:ext cx="1828800" cy="347472"/>
          </a:xfrm>
          <a:prstGeom prst="rect">
            <a:avLst/>
          </a:prstGeom>
          <a:noFill/>
        </p:spPr>
        <p:txBody>
          <a:bodyPr wrap="square">
            <a:spAutoFit/>
          </a:bodyPr>
          <a:lstStyle/>
          <a:p>
            <a:pPr algn="r"/>
            <a:r>
              <a:rPr sz="1200" b="0" i="0">
                <a:solidFill>
                  <a:srgbClr val="FAF7F0"/>
                </a:solidFill>
              </a:rPr>
              <a:t>$0.10 – $2.00</a:t>
            </a:r>
          </a:p>
        </p:txBody>
      </p:sp>
      <p:sp>
        <p:nvSpPr>
          <p:cNvPr id="11" name="TextBox 10"/>
          <p:cNvSpPr txBox="1"/>
          <p:nvPr/>
        </p:nvSpPr>
        <p:spPr>
          <a:xfrm>
            <a:off x="457200" y="2880360"/>
            <a:ext cx="3291840" cy="347472"/>
          </a:xfrm>
          <a:prstGeom prst="rect">
            <a:avLst/>
          </a:prstGeom>
          <a:noFill/>
        </p:spPr>
        <p:txBody>
          <a:bodyPr wrap="square">
            <a:spAutoFit/>
          </a:bodyPr>
          <a:lstStyle/>
          <a:p>
            <a:pPr algn="l"/>
            <a:r>
              <a:rPr sz="1200" b="0" i="0">
                <a:solidFill>
                  <a:srgbClr val="8899AA"/>
                </a:solidFill>
              </a:rPr>
              <a:t>Bitcoin OP_RETURN fee</a:t>
            </a:r>
          </a:p>
        </p:txBody>
      </p:sp>
      <p:sp>
        <p:nvSpPr>
          <p:cNvPr id="12" name="TextBox 11"/>
          <p:cNvSpPr txBox="1"/>
          <p:nvPr/>
        </p:nvSpPr>
        <p:spPr>
          <a:xfrm>
            <a:off x="3749039" y="2880360"/>
            <a:ext cx="1828800" cy="347472"/>
          </a:xfrm>
          <a:prstGeom prst="rect">
            <a:avLst/>
          </a:prstGeom>
          <a:noFill/>
        </p:spPr>
        <p:txBody>
          <a:bodyPr wrap="square">
            <a:spAutoFit/>
          </a:bodyPr>
          <a:lstStyle/>
          <a:p>
            <a:pPr algn="r"/>
            <a:r>
              <a:rPr sz="1200" b="0" i="0">
                <a:solidFill>
                  <a:srgbClr val="FAF7F0"/>
                </a:solidFill>
              </a:rPr>
              <a:t>~$0.0002</a:t>
            </a:r>
          </a:p>
        </p:txBody>
      </p:sp>
      <p:sp>
        <p:nvSpPr>
          <p:cNvPr id="13" name="TextBox 12"/>
          <p:cNvSpPr txBox="1"/>
          <p:nvPr/>
        </p:nvSpPr>
        <p:spPr>
          <a:xfrm>
            <a:off x="457200" y="3337560"/>
            <a:ext cx="3291840" cy="347472"/>
          </a:xfrm>
          <a:prstGeom prst="rect">
            <a:avLst/>
          </a:prstGeom>
          <a:noFill/>
        </p:spPr>
        <p:txBody>
          <a:bodyPr wrap="square">
            <a:spAutoFit/>
          </a:bodyPr>
          <a:lstStyle/>
          <a:p>
            <a:pPr algn="l"/>
            <a:r>
              <a:rPr sz="1200" b="0" i="0">
                <a:solidFill>
                  <a:srgbClr val="8899AA"/>
                </a:solidFill>
              </a:rPr>
              <a:t>API compute cost</a:t>
            </a:r>
          </a:p>
        </p:txBody>
      </p:sp>
      <p:sp>
        <p:nvSpPr>
          <p:cNvPr id="14" name="TextBox 13"/>
          <p:cNvSpPr txBox="1"/>
          <p:nvPr/>
        </p:nvSpPr>
        <p:spPr>
          <a:xfrm>
            <a:off x="3749039" y="3337560"/>
            <a:ext cx="1828800" cy="347472"/>
          </a:xfrm>
          <a:prstGeom prst="rect">
            <a:avLst/>
          </a:prstGeom>
          <a:noFill/>
        </p:spPr>
        <p:txBody>
          <a:bodyPr wrap="square">
            <a:spAutoFit/>
          </a:bodyPr>
          <a:lstStyle/>
          <a:p>
            <a:pPr algn="r"/>
            <a:r>
              <a:rPr sz="1200" b="0" i="0">
                <a:solidFill>
                  <a:srgbClr val="FAF7F0"/>
                </a:solidFill>
              </a:rPr>
              <a:t>~$0.0001</a:t>
            </a:r>
          </a:p>
        </p:txBody>
      </p:sp>
      <p:sp>
        <p:nvSpPr>
          <p:cNvPr id="15" name="TextBox 14"/>
          <p:cNvSpPr txBox="1"/>
          <p:nvPr/>
        </p:nvSpPr>
        <p:spPr>
          <a:xfrm>
            <a:off x="457200" y="3794760"/>
            <a:ext cx="3291840" cy="347472"/>
          </a:xfrm>
          <a:prstGeom prst="rect">
            <a:avLst/>
          </a:prstGeom>
          <a:noFill/>
        </p:spPr>
        <p:txBody>
          <a:bodyPr wrap="square">
            <a:spAutoFit/>
          </a:bodyPr>
          <a:lstStyle/>
          <a:p>
            <a:pPr algn="l"/>
            <a:r>
              <a:rPr sz="1200" b="0" i="0">
                <a:solidFill>
                  <a:srgbClr val="8899AA"/>
                </a:solidFill>
              </a:rPr>
              <a:t>Gross margin per receipt</a:t>
            </a:r>
          </a:p>
        </p:txBody>
      </p:sp>
      <p:sp>
        <p:nvSpPr>
          <p:cNvPr id="16" name="TextBox 15"/>
          <p:cNvSpPr txBox="1"/>
          <p:nvPr/>
        </p:nvSpPr>
        <p:spPr>
          <a:xfrm>
            <a:off x="3749039" y="3794760"/>
            <a:ext cx="1828800" cy="347472"/>
          </a:xfrm>
          <a:prstGeom prst="rect">
            <a:avLst/>
          </a:prstGeom>
          <a:noFill/>
        </p:spPr>
        <p:txBody>
          <a:bodyPr wrap="square">
            <a:spAutoFit/>
          </a:bodyPr>
          <a:lstStyle/>
          <a:p>
            <a:pPr algn="r"/>
            <a:r>
              <a:rPr sz="1200" b="1" i="0">
                <a:solidFill>
                  <a:srgbClr val="20E898"/>
                </a:solidFill>
              </a:rPr>
              <a:t>99.97%</a:t>
            </a:r>
          </a:p>
        </p:txBody>
      </p:sp>
      <p:sp>
        <p:nvSpPr>
          <p:cNvPr id="17" name="TextBox 16"/>
          <p:cNvSpPr txBox="1"/>
          <p:nvPr/>
        </p:nvSpPr>
        <p:spPr>
          <a:xfrm>
            <a:off x="457200" y="4709160"/>
            <a:ext cx="3291840" cy="347472"/>
          </a:xfrm>
          <a:prstGeom prst="rect">
            <a:avLst/>
          </a:prstGeom>
          <a:noFill/>
        </p:spPr>
        <p:txBody>
          <a:bodyPr wrap="square">
            <a:spAutoFit/>
          </a:bodyPr>
          <a:lstStyle/>
          <a:p>
            <a:pPr algn="l"/>
            <a:r>
              <a:rPr sz="1200" b="0" i="0">
                <a:solidFill>
                  <a:srgbClr val="8899AA"/>
                </a:solidFill>
              </a:rPr>
              <a:t>Legal evidence packet</a:t>
            </a:r>
          </a:p>
        </p:txBody>
      </p:sp>
      <p:sp>
        <p:nvSpPr>
          <p:cNvPr id="18" name="TextBox 17"/>
          <p:cNvSpPr txBox="1"/>
          <p:nvPr/>
        </p:nvSpPr>
        <p:spPr>
          <a:xfrm>
            <a:off x="3749039" y="4709160"/>
            <a:ext cx="1828800" cy="347472"/>
          </a:xfrm>
          <a:prstGeom prst="rect">
            <a:avLst/>
          </a:prstGeom>
          <a:noFill/>
        </p:spPr>
        <p:txBody>
          <a:bodyPr wrap="square">
            <a:spAutoFit/>
          </a:bodyPr>
          <a:lstStyle/>
          <a:p>
            <a:pPr algn="r"/>
            <a:r>
              <a:rPr sz="1200" b="0" i="0">
                <a:solidFill>
                  <a:srgbClr val="FAF7F0"/>
                </a:solidFill>
              </a:rPr>
              <a:t>$2,500 – $25,000 per filing</a:t>
            </a:r>
          </a:p>
        </p:txBody>
      </p:sp>
      <p:sp>
        <p:nvSpPr>
          <p:cNvPr id="19" name="TextBox 18"/>
          <p:cNvSpPr txBox="1"/>
          <p:nvPr/>
        </p:nvSpPr>
        <p:spPr>
          <a:xfrm>
            <a:off x="457200" y="5166360"/>
            <a:ext cx="3291840" cy="347472"/>
          </a:xfrm>
          <a:prstGeom prst="rect">
            <a:avLst/>
          </a:prstGeom>
          <a:noFill/>
        </p:spPr>
        <p:txBody>
          <a:bodyPr wrap="square">
            <a:spAutoFit/>
          </a:bodyPr>
          <a:lstStyle/>
          <a:p>
            <a:pPr algn="l"/>
            <a:r>
              <a:rPr sz="1200" b="0" i="0">
                <a:solidFill>
                  <a:srgbClr val="8899AA"/>
                </a:solidFill>
              </a:rPr>
              <a:t>Marginal cost (packet)</a:t>
            </a:r>
          </a:p>
        </p:txBody>
      </p:sp>
      <p:sp>
        <p:nvSpPr>
          <p:cNvPr id="20" name="TextBox 19"/>
          <p:cNvSpPr txBox="1"/>
          <p:nvPr/>
        </p:nvSpPr>
        <p:spPr>
          <a:xfrm>
            <a:off x="3749039" y="5166360"/>
            <a:ext cx="1828800" cy="347472"/>
          </a:xfrm>
          <a:prstGeom prst="rect">
            <a:avLst/>
          </a:prstGeom>
          <a:noFill/>
        </p:spPr>
        <p:txBody>
          <a:bodyPr wrap="square">
            <a:spAutoFit/>
          </a:bodyPr>
          <a:lstStyle/>
          <a:p>
            <a:pPr algn="r"/>
            <a:r>
              <a:rPr sz="1200" b="0" i="0">
                <a:solidFill>
                  <a:srgbClr val="FAF7F0"/>
                </a:solidFill>
              </a:rPr>
              <a:t>~$0.001 compute</a:t>
            </a:r>
          </a:p>
        </p:txBody>
      </p:sp>
      <p:sp>
        <p:nvSpPr>
          <p:cNvPr id="21" name="TextBox 20"/>
          <p:cNvSpPr txBox="1"/>
          <p:nvPr/>
        </p:nvSpPr>
        <p:spPr>
          <a:xfrm>
            <a:off x="457200" y="5623560"/>
            <a:ext cx="3291840" cy="347472"/>
          </a:xfrm>
          <a:prstGeom prst="rect">
            <a:avLst/>
          </a:prstGeom>
          <a:noFill/>
        </p:spPr>
        <p:txBody>
          <a:bodyPr wrap="square">
            <a:spAutoFit/>
          </a:bodyPr>
          <a:lstStyle/>
          <a:p>
            <a:pPr algn="l"/>
            <a:r>
              <a:rPr sz="1200" b="0" i="0">
                <a:solidFill>
                  <a:srgbClr val="8899AA"/>
                </a:solidFill>
              </a:rPr>
              <a:t>Gross margin (packet)</a:t>
            </a:r>
          </a:p>
        </p:txBody>
      </p:sp>
      <p:sp>
        <p:nvSpPr>
          <p:cNvPr id="22" name="TextBox 21"/>
          <p:cNvSpPr txBox="1"/>
          <p:nvPr/>
        </p:nvSpPr>
        <p:spPr>
          <a:xfrm>
            <a:off x="3749039" y="5623560"/>
            <a:ext cx="1828800" cy="347472"/>
          </a:xfrm>
          <a:prstGeom prst="rect">
            <a:avLst/>
          </a:prstGeom>
          <a:noFill/>
        </p:spPr>
        <p:txBody>
          <a:bodyPr wrap="square">
            <a:spAutoFit/>
          </a:bodyPr>
          <a:lstStyle/>
          <a:p>
            <a:pPr algn="r"/>
            <a:r>
              <a:rPr sz="1200" b="1" i="0">
                <a:solidFill>
                  <a:srgbClr val="20E898"/>
                </a:solidFill>
              </a:rPr>
              <a:t>99.99%+</a:t>
            </a:r>
          </a:p>
        </p:txBody>
      </p:sp>
      <p:sp>
        <p:nvSpPr>
          <p:cNvPr id="23" name="Rectangle 22"/>
          <p:cNvSpPr/>
          <p:nvPr/>
        </p:nvSpPr>
        <p:spPr>
          <a:xfrm>
            <a:off x="6126480" y="1828800"/>
            <a:ext cx="5760720" cy="43891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1920240"/>
            <a:ext cx="5486400" cy="365760"/>
          </a:xfrm>
          <a:prstGeom prst="rect">
            <a:avLst/>
          </a:prstGeom>
          <a:noFill/>
        </p:spPr>
        <p:txBody>
          <a:bodyPr wrap="square">
            <a:spAutoFit/>
          </a:bodyPr>
          <a:lstStyle/>
          <a:p>
            <a:pPr algn="l"/>
            <a:r>
              <a:rPr sz="1300" b="1" i="0">
                <a:solidFill>
                  <a:srgbClr val="20E898"/>
                </a:solidFill>
              </a:rPr>
              <a:t>LTV : CAC Analysis</a:t>
            </a:r>
          </a:p>
        </p:txBody>
      </p:sp>
      <p:sp>
        <p:nvSpPr>
          <p:cNvPr id="25" name="TextBox 24"/>
          <p:cNvSpPr txBox="1"/>
          <p:nvPr/>
        </p:nvSpPr>
        <p:spPr>
          <a:xfrm>
            <a:off x="6263640" y="2423160"/>
            <a:ext cx="3840480" cy="347472"/>
          </a:xfrm>
          <a:prstGeom prst="rect">
            <a:avLst/>
          </a:prstGeom>
          <a:noFill/>
        </p:spPr>
        <p:txBody>
          <a:bodyPr wrap="square">
            <a:spAutoFit/>
          </a:bodyPr>
          <a:lstStyle/>
          <a:p>
            <a:pPr algn="l"/>
            <a:r>
              <a:rPr sz="1200" b="0" i="0">
                <a:solidFill>
                  <a:srgbClr val="8899AA"/>
                </a:solidFill>
              </a:rPr>
              <a:t>Enterprise ACV (mean)</a:t>
            </a:r>
          </a:p>
        </p:txBody>
      </p:sp>
      <p:sp>
        <p:nvSpPr>
          <p:cNvPr id="26" name="TextBox 25"/>
          <p:cNvSpPr txBox="1"/>
          <p:nvPr/>
        </p:nvSpPr>
        <p:spPr>
          <a:xfrm>
            <a:off x="10149840" y="2423160"/>
            <a:ext cx="1600200" cy="347472"/>
          </a:xfrm>
          <a:prstGeom prst="rect">
            <a:avLst/>
          </a:prstGeom>
          <a:noFill/>
        </p:spPr>
        <p:txBody>
          <a:bodyPr wrap="square">
            <a:spAutoFit/>
          </a:bodyPr>
          <a:lstStyle/>
          <a:p>
            <a:pPr algn="r"/>
            <a:r>
              <a:rPr sz="1200" b="0" i="0">
                <a:solidFill>
                  <a:srgbClr val="FAF7F0"/>
                </a:solidFill>
              </a:rPr>
              <a:t>$350,000</a:t>
            </a:r>
          </a:p>
        </p:txBody>
      </p:sp>
      <p:sp>
        <p:nvSpPr>
          <p:cNvPr id="27" name="TextBox 26"/>
          <p:cNvSpPr txBox="1"/>
          <p:nvPr/>
        </p:nvSpPr>
        <p:spPr>
          <a:xfrm>
            <a:off x="6263640" y="2834640"/>
            <a:ext cx="3840480" cy="347472"/>
          </a:xfrm>
          <a:prstGeom prst="rect">
            <a:avLst/>
          </a:prstGeom>
          <a:noFill/>
        </p:spPr>
        <p:txBody>
          <a:bodyPr wrap="square">
            <a:spAutoFit/>
          </a:bodyPr>
          <a:lstStyle/>
          <a:p>
            <a:pPr algn="l"/>
            <a:r>
              <a:rPr sz="1200" b="0" i="0">
                <a:solidFill>
                  <a:srgbClr val="8899AA"/>
                </a:solidFill>
              </a:rPr>
              <a:t>Contract length (avg)</a:t>
            </a:r>
          </a:p>
        </p:txBody>
      </p:sp>
      <p:sp>
        <p:nvSpPr>
          <p:cNvPr id="28" name="TextBox 27"/>
          <p:cNvSpPr txBox="1"/>
          <p:nvPr/>
        </p:nvSpPr>
        <p:spPr>
          <a:xfrm>
            <a:off x="10149840" y="2834640"/>
            <a:ext cx="1600200" cy="347472"/>
          </a:xfrm>
          <a:prstGeom prst="rect">
            <a:avLst/>
          </a:prstGeom>
          <a:noFill/>
        </p:spPr>
        <p:txBody>
          <a:bodyPr wrap="square">
            <a:spAutoFit/>
          </a:bodyPr>
          <a:lstStyle/>
          <a:p>
            <a:pPr algn="r"/>
            <a:r>
              <a:rPr sz="1200" b="0" i="0">
                <a:solidFill>
                  <a:srgbClr val="FAF7F0"/>
                </a:solidFill>
              </a:rPr>
              <a:t>3 years</a:t>
            </a:r>
          </a:p>
        </p:txBody>
      </p:sp>
      <p:sp>
        <p:nvSpPr>
          <p:cNvPr id="29" name="TextBox 28"/>
          <p:cNvSpPr txBox="1"/>
          <p:nvPr/>
        </p:nvSpPr>
        <p:spPr>
          <a:xfrm>
            <a:off x="6263640" y="3246120"/>
            <a:ext cx="3840480" cy="347472"/>
          </a:xfrm>
          <a:prstGeom prst="rect">
            <a:avLst/>
          </a:prstGeom>
          <a:noFill/>
        </p:spPr>
        <p:txBody>
          <a:bodyPr wrap="square">
            <a:spAutoFit/>
          </a:bodyPr>
          <a:lstStyle/>
          <a:p>
            <a:pPr algn="l"/>
            <a:r>
              <a:rPr sz="1200" b="0" i="0">
                <a:solidFill>
                  <a:srgbClr val="8899AA"/>
                </a:solidFill>
              </a:rPr>
              <a:t>Gross retention</a:t>
            </a:r>
          </a:p>
        </p:txBody>
      </p:sp>
      <p:sp>
        <p:nvSpPr>
          <p:cNvPr id="30" name="TextBox 29"/>
          <p:cNvSpPr txBox="1"/>
          <p:nvPr/>
        </p:nvSpPr>
        <p:spPr>
          <a:xfrm>
            <a:off x="10149840" y="3246120"/>
            <a:ext cx="1600200" cy="347472"/>
          </a:xfrm>
          <a:prstGeom prst="rect">
            <a:avLst/>
          </a:prstGeom>
          <a:noFill/>
        </p:spPr>
        <p:txBody>
          <a:bodyPr wrap="square">
            <a:spAutoFit/>
          </a:bodyPr>
          <a:lstStyle/>
          <a:p>
            <a:pPr algn="r"/>
            <a:r>
              <a:rPr sz="1200" b="0" i="0">
                <a:solidFill>
                  <a:srgbClr val="FAF7F0"/>
                </a:solidFill>
              </a:rPr>
              <a:t>95%+</a:t>
            </a:r>
          </a:p>
        </p:txBody>
      </p:sp>
      <p:sp>
        <p:nvSpPr>
          <p:cNvPr id="31" name="TextBox 30"/>
          <p:cNvSpPr txBox="1"/>
          <p:nvPr/>
        </p:nvSpPr>
        <p:spPr>
          <a:xfrm>
            <a:off x="6263640" y="3657600"/>
            <a:ext cx="3840480" cy="347472"/>
          </a:xfrm>
          <a:prstGeom prst="rect">
            <a:avLst/>
          </a:prstGeom>
          <a:noFill/>
        </p:spPr>
        <p:txBody>
          <a:bodyPr wrap="square">
            <a:spAutoFit/>
          </a:bodyPr>
          <a:lstStyle/>
          <a:p>
            <a:pPr algn="l"/>
            <a:r>
              <a:rPr sz="1200" b="0" i="0">
                <a:solidFill>
                  <a:srgbClr val="8899AA"/>
                </a:solidFill>
              </a:rPr>
              <a:t>LTV (3-year, 95% retention)</a:t>
            </a:r>
          </a:p>
        </p:txBody>
      </p:sp>
      <p:sp>
        <p:nvSpPr>
          <p:cNvPr id="32" name="TextBox 31"/>
          <p:cNvSpPr txBox="1"/>
          <p:nvPr/>
        </p:nvSpPr>
        <p:spPr>
          <a:xfrm>
            <a:off x="10149840" y="3657600"/>
            <a:ext cx="1600200" cy="347472"/>
          </a:xfrm>
          <a:prstGeom prst="rect">
            <a:avLst/>
          </a:prstGeom>
          <a:noFill/>
        </p:spPr>
        <p:txBody>
          <a:bodyPr wrap="square">
            <a:spAutoFit/>
          </a:bodyPr>
          <a:lstStyle/>
          <a:p>
            <a:pPr algn="r"/>
            <a:r>
              <a:rPr sz="1200" b="0" i="0">
                <a:solidFill>
                  <a:srgbClr val="FAF7F0"/>
                </a:solidFill>
              </a:rPr>
              <a:t>$997,500</a:t>
            </a:r>
          </a:p>
        </p:txBody>
      </p:sp>
      <p:sp>
        <p:nvSpPr>
          <p:cNvPr id="33" name="TextBox 32"/>
          <p:cNvSpPr txBox="1"/>
          <p:nvPr/>
        </p:nvSpPr>
        <p:spPr>
          <a:xfrm>
            <a:off x="6263640" y="4480560"/>
            <a:ext cx="3840480" cy="347472"/>
          </a:xfrm>
          <a:prstGeom prst="rect">
            <a:avLst/>
          </a:prstGeom>
          <a:noFill/>
        </p:spPr>
        <p:txBody>
          <a:bodyPr wrap="square">
            <a:spAutoFit/>
          </a:bodyPr>
          <a:lstStyle/>
          <a:p>
            <a:pPr algn="l"/>
            <a:r>
              <a:rPr sz="1200" b="0" i="0">
                <a:solidFill>
                  <a:srgbClr val="8899AA"/>
                </a:solidFill>
              </a:rPr>
              <a:t>CAC (direct sales + SE)</a:t>
            </a:r>
          </a:p>
        </p:txBody>
      </p:sp>
      <p:sp>
        <p:nvSpPr>
          <p:cNvPr id="34" name="TextBox 33"/>
          <p:cNvSpPr txBox="1"/>
          <p:nvPr/>
        </p:nvSpPr>
        <p:spPr>
          <a:xfrm>
            <a:off x="10149840" y="4480560"/>
            <a:ext cx="1600200" cy="347472"/>
          </a:xfrm>
          <a:prstGeom prst="rect">
            <a:avLst/>
          </a:prstGeom>
          <a:noFill/>
        </p:spPr>
        <p:txBody>
          <a:bodyPr wrap="square">
            <a:spAutoFit/>
          </a:bodyPr>
          <a:lstStyle/>
          <a:p>
            <a:pPr algn="r"/>
            <a:r>
              <a:rPr sz="1200" b="0" i="0">
                <a:solidFill>
                  <a:srgbClr val="FAF7F0"/>
                </a:solidFill>
              </a:rPr>
              <a:t>~$45,000</a:t>
            </a:r>
          </a:p>
        </p:txBody>
      </p:sp>
      <p:sp>
        <p:nvSpPr>
          <p:cNvPr id="35" name="TextBox 34"/>
          <p:cNvSpPr txBox="1"/>
          <p:nvPr/>
        </p:nvSpPr>
        <p:spPr>
          <a:xfrm>
            <a:off x="6263640" y="4892040"/>
            <a:ext cx="3840480" cy="347472"/>
          </a:xfrm>
          <a:prstGeom prst="rect">
            <a:avLst/>
          </a:prstGeom>
          <a:noFill/>
        </p:spPr>
        <p:txBody>
          <a:bodyPr wrap="square">
            <a:spAutoFit/>
          </a:bodyPr>
          <a:lstStyle/>
          <a:p>
            <a:pPr algn="l"/>
            <a:r>
              <a:rPr sz="1200" b="0" i="0">
                <a:solidFill>
                  <a:srgbClr val="8899AA"/>
                </a:solidFill>
              </a:rPr>
              <a:t>CAC (channel / integration)</a:t>
            </a:r>
          </a:p>
        </p:txBody>
      </p:sp>
      <p:sp>
        <p:nvSpPr>
          <p:cNvPr id="36" name="TextBox 35"/>
          <p:cNvSpPr txBox="1"/>
          <p:nvPr/>
        </p:nvSpPr>
        <p:spPr>
          <a:xfrm>
            <a:off x="10149840" y="4892040"/>
            <a:ext cx="1600200" cy="347472"/>
          </a:xfrm>
          <a:prstGeom prst="rect">
            <a:avLst/>
          </a:prstGeom>
          <a:noFill/>
        </p:spPr>
        <p:txBody>
          <a:bodyPr wrap="square">
            <a:spAutoFit/>
          </a:bodyPr>
          <a:lstStyle/>
          <a:p>
            <a:pPr algn="r"/>
            <a:r>
              <a:rPr sz="1200" b="0" i="0">
                <a:solidFill>
                  <a:srgbClr val="FAF7F0"/>
                </a:solidFill>
              </a:rPr>
              <a:t>~$12,000</a:t>
            </a:r>
          </a:p>
        </p:txBody>
      </p:sp>
      <p:sp>
        <p:nvSpPr>
          <p:cNvPr id="37" name="TextBox 36"/>
          <p:cNvSpPr txBox="1"/>
          <p:nvPr/>
        </p:nvSpPr>
        <p:spPr>
          <a:xfrm>
            <a:off x="6263640" y="5715000"/>
            <a:ext cx="3840480" cy="347472"/>
          </a:xfrm>
          <a:prstGeom prst="rect">
            <a:avLst/>
          </a:prstGeom>
          <a:noFill/>
        </p:spPr>
        <p:txBody>
          <a:bodyPr wrap="square">
            <a:spAutoFit/>
          </a:bodyPr>
          <a:lstStyle/>
          <a:p>
            <a:pPr algn="l"/>
            <a:r>
              <a:rPr sz="1300" b="1" i="0">
                <a:solidFill>
                  <a:srgbClr val="8899AA"/>
                </a:solidFill>
              </a:rPr>
              <a:t>LTV:CAC (direct)</a:t>
            </a:r>
          </a:p>
        </p:txBody>
      </p:sp>
      <p:sp>
        <p:nvSpPr>
          <p:cNvPr id="38" name="TextBox 37"/>
          <p:cNvSpPr txBox="1"/>
          <p:nvPr/>
        </p:nvSpPr>
        <p:spPr>
          <a:xfrm>
            <a:off x="10149840" y="5715000"/>
            <a:ext cx="1600200" cy="347472"/>
          </a:xfrm>
          <a:prstGeom prst="rect">
            <a:avLst/>
          </a:prstGeom>
          <a:noFill/>
        </p:spPr>
        <p:txBody>
          <a:bodyPr wrap="square">
            <a:spAutoFit/>
          </a:bodyPr>
          <a:lstStyle/>
          <a:p>
            <a:pPr algn="r"/>
            <a:r>
              <a:rPr sz="1500" b="1" i="0">
                <a:solidFill>
                  <a:srgbClr val="20E898"/>
                </a:solidFill>
              </a:rPr>
              <a:t>22:1</a:t>
            </a:r>
          </a:p>
        </p:txBody>
      </p:sp>
      <p:sp>
        <p:nvSpPr>
          <p:cNvPr id="39" name="TextBox 38"/>
          <p:cNvSpPr txBox="1"/>
          <p:nvPr/>
        </p:nvSpPr>
        <p:spPr>
          <a:xfrm>
            <a:off x="6263640" y="6126479"/>
            <a:ext cx="3840480" cy="347472"/>
          </a:xfrm>
          <a:prstGeom prst="rect">
            <a:avLst/>
          </a:prstGeom>
          <a:noFill/>
        </p:spPr>
        <p:txBody>
          <a:bodyPr wrap="square">
            <a:spAutoFit/>
          </a:bodyPr>
          <a:lstStyle/>
          <a:p>
            <a:pPr algn="l"/>
            <a:r>
              <a:rPr sz="1300" b="1" i="0">
                <a:solidFill>
                  <a:srgbClr val="8899AA"/>
                </a:solidFill>
              </a:rPr>
              <a:t>LTV:CAC (channel)</a:t>
            </a:r>
          </a:p>
        </p:txBody>
      </p:sp>
      <p:sp>
        <p:nvSpPr>
          <p:cNvPr id="40" name="TextBox 39"/>
          <p:cNvSpPr txBox="1"/>
          <p:nvPr/>
        </p:nvSpPr>
        <p:spPr>
          <a:xfrm>
            <a:off x="10149840" y="6126479"/>
            <a:ext cx="1600200" cy="347472"/>
          </a:xfrm>
          <a:prstGeom prst="rect">
            <a:avLst/>
          </a:prstGeom>
          <a:noFill/>
        </p:spPr>
        <p:txBody>
          <a:bodyPr wrap="square">
            <a:spAutoFit/>
          </a:bodyPr>
          <a:lstStyle/>
          <a:p>
            <a:pPr algn="r"/>
            <a:r>
              <a:rPr sz="1500" b="1" i="0">
                <a:solidFill>
                  <a:srgbClr val="20E898"/>
                </a:solidFill>
              </a:rPr>
              <a:t>83:1</a:t>
            </a:r>
          </a:p>
        </p:txBody>
      </p:sp>
      <p:sp>
        <p:nvSpPr>
          <p:cNvPr id="41" name="TextBox 40"/>
          <p:cNvSpPr txBox="1"/>
          <p:nvPr/>
        </p:nvSpPr>
        <p:spPr>
          <a:xfrm>
            <a:off x="320040" y="6400800"/>
            <a:ext cx="11548872" cy="320040"/>
          </a:xfrm>
          <a:prstGeom prst="rect">
            <a:avLst/>
          </a:prstGeom>
          <a:noFill/>
        </p:spPr>
        <p:txBody>
          <a:bodyPr wrap="square">
            <a:spAutoFit/>
          </a:bodyPr>
          <a:lstStyle/>
          <a:p>
            <a:pPr algn="l"/>
            <a:r>
              <a:rPr sz="1100" b="0" i="1">
                <a:solidFill>
                  <a:srgbClr val="8899AA"/>
                </a:solidFill>
              </a:rPr>
              <a:t>Benchmark: top-quartile B2B SaaS LTV:CAC is 3:1. LedgerProof's infrastructure economics are in a different category.</a:t>
            </a:r>
          </a:p>
        </p:txBody>
      </p:sp>
      <p:sp>
        <p:nvSpPr>
          <p:cNvPr id="42" name="Rectangle 41"/>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PROJECTIONS</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Five-year revenue trajectory — conservative, base, upside.</a:t>
            </a:r>
          </a:p>
        </p:txBody>
      </p:sp>
      <p:sp>
        <p:nvSpPr>
          <p:cNvPr id="7" name="Rectangle 6"/>
          <p:cNvSpPr/>
          <p:nvPr/>
        </p:nvSpPr>
        <p:spPr>
          <a:xfrm>
            <a:off x="914400" y="6110071"/>
            <a:ext cx="502920" cy="16408"/>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81328" y="6110071"/>
            <a:ext cx="502920" cy="16408"/>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9888" y="5790031"/>
            <a:ext cx="822960" cy="274320"/>
          </a:xfrm>
          <a:prstGeom prst="rect">
            <a:avLst/>
          </a:prstGeom>
          <a:noFill/>
        </p:spPr>
        <p:txBody>
          <a:bodyPr wrap="square">
            <a:spAutoFit/>
          </a:bodyPr>
          <a:lstStyle/>
          <a:p>
            <a:pPr algn="ctr"/>
            <a:r>
              <a:rPr sz="800" b="0" i="0">
                <a:solidFill>
                  <a:srgbClr val="20E898"/>
                </a:solidFill>
              </a:rPr>
              <a:t>$4M</a:t>
            </a:r>
          </a:p>
        </p:txBody>
      </p:sp>
      <p:sp>
        <p:nvSpPr>
          <p:cNvPr id="10" name="Rectangle 9"/>
          <p:cNvSpPr/>
          <p:nvPr/>
        </p:nvSpPr>
        <p:spPr>
          <a:xfrm>
            <a:off x="2048256" y="6110071"/>
            <a:ext cx="502920" cy="1640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17520" y="6072428"/>
            <a:ext cx="502920" cy="54051"/>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84448" y="6041542"/>
            <a:ext cx="502920" cy="84937"/>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5721502"/>
            <a:ext cx="822960" cy="274320"/>
          </a:xfrm>
          <a:prstGeom prst="rect">
            <a:avLst/>
          </a:prstGeom>
          <a:noFill/>
        </p:spPr>
        <p:txBody>
          <a:bodyPr wrap="square">
            <a:spAutoFit/>
          </a:bodyPr>
          <a:lstStyle/>
          <a:p>
            <a:pPr algn="ctr"/>
            <a:r>
              <a:rPr sz="800" b="0" i="0">
                <a:solidFill>
                  <a:srgbClr val="20E898"/>
                </a:solidFill>
              </a:rPr>
              <a:t>$22M</a:t>
            </a:r>
          </a:p>
        </p:txBody>
      </p:sp>
      <p:sp>
        <p:nvSpPr>
          <p:cNvPr id="14" name="Rectangle 13"/>
          <p:cNvSpPr/>
          <p:nvPr/>
        </p:nvSpPr>
        <p:spPr>
          <a:xfrm>
            <a:off x="4151376" y="5991352"/>
            <a:ext cx="502920" cy="13512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5979769"/>
            <a:ext cx="502920" cy="14671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87568" y="5863945"/>
            <a:ext cx="502920" cy="26253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96128" y="5543905"/>
            <a:ext cx="822960" cy="274320"/>
          </a:xfrm>
          <a:prstGeom prst="rect">
            <a:avLst/>
          </a:prstGeom>
          <a:noFill/>
        </p:spPr>
        <p:txBody>
          <a:bodyPr wrap="square">
            <a:spAutoFit/>
          </a:bodyPr>
          <a:lstStyle/>
          <a:p>
            <a:pPr algn="ctr"/>
            <a:r>
              <a:rPr sz="800" b="0" i="0">
                <a:solidFill>
                  <a:srgbClr val="20E898"/>
                </a:solidFill>
              </a:rPr>
              <a:t>$68M</a:t>
            </a:r>
          </a:p>
        </p:txBody>
      </p:sp>
      <p:sp>
        <p:nvSpPr>
          <p:cNvPr id="18" name="Rectangle 17"/>
          <p:cNvSpPr/>
          <p:nvPr/>
        </p:nvSpPr>
        <p:spPr>
          <a:xfrm>
            <a:off x="6254496" y="5701792"/>
            <a:ext cx="502920" cy="42468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23760" y="5759704"/>
            <a:ext cx="502920" cy="366776"/>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5431536"/>
            <a:ext cx="502920" cy="69494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99248" y="5111496"/>
            <a:ext cx="822960" cy="274320"/>
          </a:xfrm>
          <a:prstGeom prst="rect">
            <a:avLst/>
          </a:prstGeom>
          <a:noFill/>
        </p:spPr>
        <p:txBody>
          <a:bodyPr wrap="square">
            <a:spAutoFit/>
          </a:bodyPr>
          <a:lstStyle/>
          <a:p>
            <a:pPr algn="ctr"/>
            <a:r>
              <a:rPr sz="800" b="0" i="0">
                <a:solidFill>
                  <a:srgbClr val="20E898"/>
                </a:solidFill>
              </a:rPr>
              <a:t>$180M</a:t>
            </a:r>
          </a:p>
        </p:txBody>
      </p:sp>
      <p:sp>
        <p:nvSpPr>
          <p:cNvPr id="22" name="Rectangle 21"/>
          <p:cNvSpPr/>
          <p:nvPr/>
        </p:nvSpPr>
        <p:spPr>
          <a:xfrm>
            <a:off x="8357616" y="4891024"/>
            <a:ext cx="502920" cy="1235456"/>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326880" y="5277104"/>
            <a:ext cx="502920" cy="849376"/>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4957064"/>
            <a:ext cx="822960" cy="274320"/>
          </a:xfrm>
          <a:prstGeom prst="rect">
            <a:avLst/>
          </a:prstGeom>
          <a:noFill/>
        </p:spPr>
        <p:txBody>
          <a:bodyPr wrap="square">
            <a:spAutoFit/>
          </a:bodyPr>
          <a:lstStyle/>
          <a:p>
            <a:pPr algn="ctr"/>
            <a:r>
              <a:rPr sz="800" b="0" i="0">
                <a:solidFill>
                  <a:srgbClr val="8899AA"/>
                </a:solidFill>
              </a:rPr>
              <a:t>$220M</a:t>
            </a:r>
          </a:p>
        </p:txBody>
      </p:sp>
      <p:sp>
        <p:nvSpPr>
          <p:cNvPr id="25" name="Rectangle 24"/>
          <p:cNvSpPr/>
          <p:nvPr/>
        </p:nvSpPr>
        <p:spPr>
          <a:xfrm>
            <a:off x="9893808" y="4389120"/>
            <a:ext cx="502920" cy="173736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02368" y="4069080"/>
            <a:ext cx="822960" cy="274320"/>
          </a:xfrm>
          <a:prstGeom prst="rect">
            <a:avLst/>
          </a:prstGeom>
          <a:noFill/>
        </p:spPr>
        <p:txBody>
          <a:bodyPr wrap="square">
            <a:spAutoFit/>
          </a:bodyPr>
          <a:lstStyle/>
          <a:p>
            <a:pPr algn="ctr"/>
            <a:r>
              <a:rPr sz="800" b="0" i="0">
                <a:solidFill>
                  <a:srgbClr val="20E898"/>
                </a:solidFill>
              </a:rPr>
              <a:t>$450M</a:t>
            </a:r>
          </a:p>
        </p:txBody>
      </p:sp>
      <p:sp>
        <p:nvSpPr>
          <p:cNvPr id="27" name="Rectangle 26"/>
          <p:cNvSpPr/>
          <p:nvPr/>
        </p:nvSpPr>
        <p:spPr>
          <a:xfrm>
            <a:off x="10460736" y="2844800"/>
            <a:ext cx="502920" cy="3281680"/>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69296" y="2524760"/>
            <a:ext cx="822960" cy="274320"/>
          </a:xfrm>
          <a:prstGeom prst="rect">
            <a:avLst/>
          </a:prstGeom>
          <a:noFill/>
        </p:spPr>
        <p:txBody>
          <a:bodyPr wrap="square">
            <a:spAutoFit/>
          </a:bodyPr>
          <a:lstStyle/>
          <a:p>
            <a:pPr algn="ctr"/>
            <a:r>
              <a:rPr sz="800" b="0" i="0">
                <a:solidFill>
                  <a:srgbClr val="4DEFAB"/>
                </a:solidFill>
              </a:rPr>
              <a:t>$850M</a:t>
            </a:r>
          </a:p>
        </p:txBody>
      </p:sp>
      <p:sp>
        <p:nvSpPr>
          <p:cNvPr id="29" name="TextBox 28"/>
          <p:cNvSpPr txBox="1"/>
          <p:nvPr/>
        </p:nvSpPr>
        <p:spPr>
          <a:xfrm>
            <a:off x="1188720" y="6172200"/>
            <a:ext cx="1371600" cy="457200"/>
          </a:xfrm>
          <a:prstGeom prst="rect">
            <a:avLst/>
          </a:prstGeom>
          <a:noFill/>
        </p:spPr>
        <p:txBody>
          <a:bodyPr wrap="square">
            <a:spAutoFit/>
          </a:bodyPr>
          <a:lstStyle/>
          <a:p>
            <a:pPr algn="ctr"/>
            <a:r>
              <a:rPr sz="1000" b="0" i="0">
                <a:solidFill>
                  <a:srgbClr val="8899AA"/>
                </a:solidFill>
              </a:rPr>
              <a:t>Year 1
(2027)</a:t>
            </a:r>
          </a:p>
        </p:txBody>
      </p:sp>
      <p:sp>
        <p:nvSpPr>
          <p:cNvPr id="30" name="TextBox 29"/>
          <p:cNvSpPr txBox="1"/>
          <p:nvPr/>
        </p:nvSpPr>
        <p:spPr>
          <a:xfrm>
            <a:off x="3291840" y="6172200"/>
            <a:ext cx="1371600" cy="457200"/>
          </a:xfrm>
          <a:prstGeom prst="rect">
            <a:avLst/>
          </a:prstGeom>
          <a:noFill/>
        </p:spPr>
        <p:txBody>
          <a:bodyPr wrap="square">
            <a:spAutoFit/>
          </a:bodyPr>
          <a:lstStyle/>
          <a:p>
            <a:pPr algn="ctr"/>
            <a:r>
              <a:rPr sz="1000" b="0" i="0">
                <a:solidFill>
                  <a:srgbClr val="8899AA"/>
                </a:solidFill>
              </a:rPr>
              <a:t>Year 2
(2028)</a:t>
            </a:r>
          </a:p>
        </p:txBody>
      </p:sp>
      <p:sp>
        <p:nvSpPr>
          <p:cNvPr id="31" name="TextBox 30"/>
          <p:cNvSpPr txBox="1"/>
          <p:nvPr/>
        </p:nvSpPr>
        <p:spPr>
          <a:xfrm>
            <a:off x="5394960" y="6172200"/>
            <a:ext cx="1371600" cy="457200"/>
          </a:xfrm>
          <a:prstGeom prst="rect">
            <a:avLst/>
          </a:prstGeom>
          <a:noFill/>
        </p:spPr>
        <p:txBody>
          <a:bodyPr wrap="square">
            <a:spAutoFit/>
          </a:bodyPr>
          <a:lstStyle/>
          <a:p>
            <a:pPr algn="ctr"/>
            <a:r>
              <a:rPr sz="1000" b="0" i="0">
                <a:solidFill>
                  <a:srgbClr val="8899AA"/>
                </a:solidFill>
              </a:rPr>
              <a:t>Year 3
(2029)</a:t>
            </a:r>
          </a:p>
        </p:txBody>
      </p:sp>
      <p:sp>
        <p:nvSpPr>
          <p:cNvPr id="32" name="TextBox 31"/>
          <p:cNvSpPr txBox="1"/>
          <p:nvPr/>
        </p:nvSpPr>
        <p:spPr>
          <a:xfrm>
            <a:off x="7498080" y="6172200"/>
            <a:ext cx="1371600" cy="457200"/>
          </a:xfrm>
          <a:prstGeom prst="rect">
            <a:avLst/>
          </a:prstGeom>
          <a:noFill/>
        </p:spPr>
        <p:txBody>
          <a:bodyPr wrap="square">
            <a:spAutoFit/>
          </a:bodyPr>
          <a:lstStyle/>
          <a:p>
            <a:pPr algn="ctr"/>
            <a:r>
              <a:rPr sz="1000" b="0" i="0">
                <a:solidFill>
                  <a:srgbClr val="8899AA"/>
                </a:solidFill>
              </a:rPr>
              <a:t>Year 4
(2030)</a:t>
            </a:r>
          </a:p>
        </p:txBody>
      </p:sp>
      <p:sp>
        <p:nvSpPr>
          <p:cNvPr id="33" name="TextBox 32"/>
          <p:cNvSpPr txBox="1"/>
          <p:nvPr/>
        </p:nvSpPr>
        <p:spPr>
          <a:xfrm>
            <a:off x="9601200" y="6172200"/>
            <a:ext cx="1371600" cy="457200"/>
          </a:xfrm>
          <a:prstGeom prst="rect">
            <a:avLst/>
          </a:prstGeom>
          <a:noFill/>
        </p:spPr>
        <p:txBody>
          <a:bodyPr wrap="square">
            <a:spAutoFit/>
          </a:bodyPr>
          <a:lstStyle/>
          <a:p>
            <a:pPr algn="ctr"/>
            <a:r>
              <a:rPr sz="1000" b="0" i="0">
                <a:solidFill>
                  <a:srgbClr val="8899AA"/>
                </a:solidFill>
              </a:rPr>
              <a:t>Year 5
(2031)</a:t>
            </a:r>
          </a:p>
        </p:txBody>
      </p:sp>
      <p:sp>
        <p:nvSpPr>
          <p:cNvPr id="34" name="Rectangle 33"/>
          <p:cNvSpPr/>
          <p:nvPr/>
        </p:nvSpPr>
        <p:spPr>
          <a:xfrm>
            <a:off x="731520" y="1920240"/>
            <a:ext cx="228600" cy="164592"/>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1874519"/>
            <a:ext cx="1828800" cy="274320"/>
          </a:xfrm>
          <a:prstGeom prst="rect">
            <a:avLst/>
          </a:prstGeom>
          <a:noFill/>
        </p:spPr>
        <p:txBody>
          <a:bodyPr wrap="square">
            <a:spAutoFit/>
          </a:bodyPr>
          <a:lstStyle/>
          <a:p>
            <a:pPr algn="l"/>
            <a:r>
              <a:rPr sz="1100" b="0" i="0">
                <a:solidFill>
                  <a:srgbClr val="8899AA"/>
                </a:solidFill>
              </a:rPr>
              <a:t>Conservative</a:t>
            </a:r>
          </a:p>
        </p:txBody>
      </p:sp>
      <p:sp>
        <p:nvSpPr>
          <p:cNvPr id="36" name="Rectangle 35"/>
          <p:cNvSpPr/>
          <p:nvPr/>
        </p:nvSpPr>
        <p:spPr>
          <a:xfrm>
            <a:off x="3017520" y="1920240"/>
            <a:ext cx="228600" cy="16459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91840" y="1874519"/>
            <a:ext cx="1828800" cy="274320"/>
          </a:xfrm>
          <a:prstGeom prst="rect">
            <a:avLst/>
          </a:prstGeom>
          <a:noFill/>
        </p:spPr>
        <p:txBody>
          <a:bodyPr wrap="square">
            <a:spAutoFit/>
          </a:bodyPr>
          <a:lstStyle/>
          <a:p>
            <a:pPr algn="l"/>
            <a:r>
              <a:rPr sz="1100" b="0" i="0">
                <a:solidFill>
                  <a:srgbClr val="8899AA"/>
                </a:solidFill>
              </a:rPr>
              <a:t>Base</a:t>
            </a:r>
          </a:p>
        </p:txBody>
      </p:sp>
      <p:sp>
        <p:nvSpPr>
          <p:cNvPr id="38" name="Rectangle 37"/>
          <p:cNvSpPr/>
          <p:nvPr/>
        </p:nvSpPr>
        <p:spPr>
          <a:xfrm>
            <a:off x="5303520" y="1920240"/>
            <a:ext cx="228600" cy="164592"/>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0" y="1874519"/>
            <a:ext cx="1828800" cy="274320"/>
          </a:xfrm>
          <a:prstGeom prst="rect">
            <a:avLst/>
          </a:prstGeom>
          <a:noFill/>
        </p:spPr>
        <p:txBody>
          <a:bodyPr wrap="square">
            <a:spAutoFit/>
          </a:bodyPr>
          <a:lstStyle/>
          <a:p>
            <a:pPr algn="l"/>
            <a:r>
              <a:rPr sz="1100" b="0" i="0">
                <a:solidFill>
                  <a:srgbClr val="8899AA"/>
                </a:solidFill>
              </a:rPr>
              <a:t>Upside</a:t>
            </a:r>
          </a:p>
        </p:txBody>
      </p:sp>
      <p:sp>
        <p:nvSpPr>
          <p:cNvPr id="40" name="TextBox 39"/>
          <p:cNvSpPr txBox="1"/>
          <p:nvPr/>
        </p:nvSpPr>
        <p:spPr>
          <a:xfrm>
            <a:off x="320040" y="6492240"/>
            <a:ext cx="11548872" cy="274320"/>
          </a:xfrm>
          <a:prstGeom prst="rect">
            <a:avLst/>
          </a:prstGeom>
          <a:noFill/>
        </p:spPr>
        <p:txBody>
          <a:bodyPr wrap="square">
            <a:spAutoFit/>
          </a:bodyPr>
          <a:lstStyle/>
          <a:p>
            <a:pPr algn="l"/>
            <a:r>
              <a:rPr sz="1000" b="0" i="1">
                <a:solidFill>
                  <a:srgbClr val="8899AA"/>
                </a:solidFill>
              </a:rPr>
              <a:t>Year 1 = $4.25M from named pipeline. Years 2–5 driven by EU enforcement adoption wave, US regulatory follow-on, and network compounding.</a:t>
            </a:r>
          </a:p>
        </p:txBody>
      </p:sp>
      <p:sp>
        <p:nvSpPr>
          <p:cNvPr id="41" name="Rectangle 40"/>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10-YEAR PATH</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Five phases. One destination: global trust infrastructure.</a:t>
            </a:r>
          </a:p>
        </p:txBody>
      </p:sp>
      <p:sp>
        <p:nvSpPr>
          <p:cNvPr id="7" name="Rectangle 6"/>
          <p:cNvSpPr/>
          <p:nvPr/>
        </p:nvSpPr>
        <p:spPr>
          <a:xfrm>
            <a:off x="320040" y="1874519"/>
            <a:ext cx="1005840" cy="80467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920239"/>
            <a:ext cx="960120" cy="274320"/>
          </a:xfrm>
          <a:prstGeom prst="rect">
            <a:avLst/>
          </a:prstGeom>
          <a:noFill/>
        </p:spPr>
        <p:txBody>
          <a:bodyPr wrap="square">
            <a:spAutoFit/>
          </a:bodyPr>
          <a:lstStyle/>
          <a:p>
            <a:pPr algn="ctr"/>
            <a:r>
              <a:rPr sz="1000" b="1" i="0">
                <a:solidFill>
                  <a:srgbClr val="20E898"/>
                </a:solidFill>
              </a:rPr>
              <a:t>Phase 1</a:t>
            </a:r>
          </a:p>
        </p:txBody>
      </p:sp>
      <p:sp>
        <p:nvSpPr>
          <p:cNvPr id="9" name="TextBox 8"/>
          <p:cNvSpPr txBox="1"/>
          <p:nvPr/>
        </p:nvSpPr>
        <p:spPr>
          <a:xfrm>
            <a:off x="347472" y="2194559"/>
            <a:ext cx="960120" cy="256032"/>
          </a:xfrm>
          <a:prstGeom prst="rect">
            <a:avLst/>
          </a:prstGeom>
          <a:noFill/>
        </p:spPr>
        <p:txBody>
          <a:bodyPr wrap="square">
            <a:spAutoFit/>
          </a:bodyPr>
          <a:lstStyle/>
          <a:p>
            <a:pPr algn="ctr"/>
            <a:r>
              <a:rPr sz="900" b="0" i="0">
                <a:solidFill>
                  <a:srgbClr val="8899AA"/>
                </a:solidFill>
              </a:rPr>
              <a:t>2026–2027</a:t>
            </a:r>
          </a:p>
        </p:txBody>
      </p:sp>
      <p:sp>
        <p:nvSpPr>
          <p:cNvPr id="10" name="Rectangle 9"/>
          <p:cNvSpPr/>
          <p:nvPr/>
        </p:nvSpPr>
        <p:spPr>
          <a:xfrm>
            <a:off x="1371600" y="2057399"/>
            <a:ext cx="9875520" cy="45720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2075687"/>
            <a:ext cx="2286000" cy="320040"/>
          </a:xfrm>
          <a:prstGeom prst="rect">
            <a:avLst/>
          </a:prstGeom>
          <a:noFill/>
        </p:spPr>
        <p:txBody>
          <a:bodyPr wrap="square">
            <a:spAutoFit/>
          </a:bodyPr>
          <a:lstStyle/>
          <a:p>
            <a:pPr algn="l"/>
            <a:r>
              <a:rPr sz="1200" b="1" i="0">
                <a:solidFill>
                  <a:srgbClr val="FFFFFF"/>
                </a:solidFill>
              </a:rPr>
              <a:t>Foundation</a:t>
            </a:r>
          </a:p>
        </p:txBody>
      </p:sp>
      <p:sp>
        <p:nvSpPr>
          <p:cNvPr id="12" name="TextBox 11"/>
          <p:cNvSpPr txBox="1"/>
          <p:nvPr/>
        </p:nvSpPr>
        <p:spPr>
          <a:xfrm>
            <a:off x="3840480" y="2075687"/>
            <a:ext cx="6400800" cy="320040"/>
          </a:xfrm>
          <a:prstGeom prst="rect">
            <a:avLst/>
          </a:prstGeom>
          <a:noFill/>
        </p:spPr>
        <p:txBody>
          <a:bodyPr wrap="square">
            <a:spAutoFit/>
          </a:bodyPr>
          <a:lstStyle/>
          <a:p>
            <a:pPr algn="l"/>
            <a:r>
              <a:rPr sz="1100" b="0" i="0">
                <a:solidFill>
                  <a:srgbClr val="FAF7F0"/>
                </a:solidFill>
              </a:rPr>
              <a:t>Launch · EU compliance wave · 20 named accounts · IETF -00 filed · $4–8M ARR</a:t>
            </a:r>
          </a:p>
        </p:txBody>
      </p:sp>
      <p:sp>
        <p:nvSpPr>
          <p:cNvPr id="13" name="Rectangle 12"/>
          <p:cNvSpPr/>
          <p:nvPr/>
        </p:nvSpPr>
        <p:spPr>
          <a:xfrm>
            <a:off x="320040" y="2807208"/>
            <a:ext cx="1005840" cy="80467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2852928"/>
            <a:ext cx="960120" cy="274320"/>
          </a:xfrm>
          <a:prstGeom prst="rect">
            <a:avLst/>
          </a:prstGeom>
          <a:noFill/>
        </p:spPr>
        <p:txBody>
          <a:bodyPr wrap="square">
            <a:spAutoFit/>
          </a:bodyPr>
          <a:lstStyle/>
          <a:p>
            <a:pPr algn="ctr"/>
            <a:r>
              <a:rPr sz="1000" b="1" i="0">
                <a:solidFill>
                  <a:srgbClr val="4DEFAB"/>
                </a:solidFill>
              </a:rPr>
              <a:t>Phase 2</a:t>
            </a:r>
          </a:p>
        </p:txBody>
      </p:sp>
      <p:sp>
        <p:nvSpPr>
          <p:cNvPr id="15" name="TextBox 14"/>
          <p:cNvSpPr txBox="1"/>
          <p:nvPr/>
        </p:nvSpPr>
        <p:spPr>
          <a:xfrm>
            <a:off x="347472" y="3127248"/>
            <a:ext cx="960120" cy="256032"/>
          </a:xfrm>
          <a:prstGeom prst="rect">
            <a:avLst/>
          </a:prstGeom>
          <a:noFill/>
        </p:spPr>
        <p:txBody>
          <a:bodyPr wrap="square">
            <a:spAutoFit/>
          </a:bodyPr>
          <a:lstStyle/>
          <a:p>
            <a:pPr algn="ctr"/>
            <a:r>
              <a:rPr sz="900" b="0" i="0">
                <a:solidFill>
                  <a:srgbClr val="8899AA"/>
                </a:solidFill>
              </a:rPr>
              <a:t>2027–2028</a:t>
            </a:r>
          </a:p>
        </p:txBody>
      </p:sp>
      <p:sp>
        <p:nvSpPr>
          <p:cNvPr id="16" name="Rectangle 15"/>
          <p:cNvSpPr/>
          <p:nvPr/>
        </p:nvSpPr>
        <p:spPr>
          <a:xfrm>
            <a:off x="1371600" y="2990088"/>
            <a:ext cx="9875520" cy="45720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63040" y="3008376"/>
            <a:ext cx="2286000" cy="320040"/>
          </a:xfrm>
          <a:prstGeom prst="rect">
            <a:avLst/>
          </a:prstGeom>
          <a:noFill/>
        </p:spPr>
        <p:txBody>
          <a:bodyPr wrap="square">
            <a:spAutoFit/>
          </a:bodyPr>
          <a:lstStyle/>
          <a:p>
            <a:pPr algn="l"/>
            <a:r>
              <a:rPr sz="1200" b="1" i="0">
                <a:solidFill>
                  <a:srgbClr val="FFFFFF"/>
                </a:solidFill>
              </a:rPr>
              <a:t>Institutional Adoption</a:t>
            </a:r>
          </a:p>
        </p:txBody>
      </p:sp>
      <p:sp>
        <p:nvSpPr>
          <p:cNvPr id="18" name="TextBox 17"/>
          <p:cNvSpPr txBox="1"/>
          <p:nvPr/>
        </p:nvSpPr>
        <p:spPr>
          <a:xfrm>
            <a:off x="3840480" y="3008376"/>
            <a:ext cx="6400800" cy="320040"/>
          </a:xfrm>
          <a:prstGeom prst="rect">
            <a:avLst/>
          </a:prstGeom>
          <a:noFill/>
        </p:spPr>
        <p:txBody>
          <a:bodyPr wrap="square">
            <a:spAutoFit/>
          </a:bodyPr>
          <a:lstStyle/>
          <a:p>
            <a:pPr algn="l"/>
            <a:r>
              <a:rPr sz="1100" b="0" i="0">
                <a:solidFill>
                  <a:srgbClr val="FAF7F0"/>
                </a:solidFill>
              </a:rPr>
              <a:t>Am Law 50 pilots · 3 global bank deployments · US regulatory follow-on · $20–50M ARR</a:t>
            </a:r>
          </a:p>
        </p:txBody>
      </p:sp>
      <p:sp>
        <p:nvSpPr>
          <p:cNvPr id="19" name="Rectangle 18"/>
          <p:cNvSpPr/>
          <p:nvPr/>
        </p:nvSpPr>
        <p:spPr>
          <a:xfrm>
            <a:off x="320040" y="3739896"/>
            <a:ext cx="1005840" cy="80467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3785616"/>
            <a:ext cx="960120" cy="274320"/>
          </a:xfrm>
          <a:prstGeom prst="rect">
            <a:avLst/>
          </a:prstGeom>
          <a:noFill/>
        </p:spPr>
        <p:txBody>
          <a:bodyPr wrap="square">
            <a:spAutoFit/>
          </a:bodyPr>
          <a:lstStyle/>
          <a:p>
            <a:pPr algn="ctr"/>
            <a:r>
              <a:rPr sz="1000" b="1" i="0">
                <a:solidFill>
                  <a:srgbClr val="8899AA"/>
                </a:solidFill>
              </a:rPr>
              <a:t>Phase 3</a:t>
            </a:r>
          </a:p>
        </p:txBody>
      </p:sp>
      <p:sp>
        <p:nvSpPr>
          <p:cNvPr id="21" name="TextBox 20"/>
          <p:cNvSpPr txBox="1"/>
          <p:nvPr/>
        </p:nvSpPr>
        <p:spPr>
          <a:xfrm>
            <a:off x="347472" y="4059936"/>
            <a:ext cx="960120" cy="256032"/>
          </a:xfrm>
          <a:prstGeom prst="rect">
            <a:avLst/>
          </a:prstGeom>
          <a:noFill/>
        </p:spPr>
        <p:txBody>
          <a:bodyPr wrap="square">
            <a:spAutoFit/>
          </a:bodyPr>
          <a:lstStyle/>
          <a:p>
            <a:pPr algn="ctr"/>
            <a:r>
              <a:rPr sz="900" b="0" i="0">
                <a:solidFill>
                  <a:srgbClr val="8899AA"/>
                </a:solidFill>
              </a:rPr>
              <a:t>2028–2030</a:t>
            </a:r>
          </a:p>
        </p:txBody>
      </p:sp>
      <p:sp>
        <p:nvSpPr>
          <p:cNvPr id="22" name="Rectangle 21"/>
          <p:cNvSpPr/>
          <p:nvPr/>
        </p:nvSpPr>
        <p:spPr>
          <a:xfrm>
            <a:off x="1371600" y="3922776"/>
            <a:ext cx="9875520" cy="45720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3941064"/>
            <a:ext cx="2286000" cy="320040"/>
          </a:xfrm>
          <a:prstGeom prst="rect">
            <a:avLst/>
          </a:prstGeom>
          <a:noFill/>
        </p:spPr>
        <p:txBody>
          <a:bodyPr wrap="square">
            <a:spAutoFit/>
          </a:bodyPr>
          <a:lstStyle/>
          <a:p>
            <a:pPr algn="l"/>
            <a:r>
              <a:rPr sz="1200" b="1" i="0">
                <a:solidFill>
                  <a:srgbClr val="FFFFFF"/>
                </a:solidFill>
              </a:rPr>
              <a:t>Protocol Standard</a:t>
            </a:r>
          </a:p>
        </p:txBody>
      </p:sp>
      <p:sp>
        <p:nvSpPr>
          <p:cNvPr id="24" name="TextBox 23"/>
          <p:cNvSpPr txBox="1"/>
          <p:nvPr/>
        </p:nvSpPr>
        <p:spPr>
          <a:xfrm>
            <a:off x="3840480" y="3941064"/>
            <a:ext cx="6400800" cy="320040"/>
          </a:xfrm>
          <a:prstGeom prst="rect">
            <a:avLst/>
          </a:prstGeom>
          <a:noFill/>
        </p:spPr>
        <p:txBody>
          <a:bodyPr wrap="square">
            <a:spAutoFit/>
          </a:bodyPr>
          <a:lstStyle/>
          <a:p>
            <a:pPr algn="l"/>
            <a:r>
              <a:rPr sz="1100" b="0" i="0">
                <a:solidFill>
                  <a:srgbClr val="FAF7F0"/>
                </a:solidFill>
              </a:rPr>
              <a:t>IETF RFC published · 3+ jurisdictions cite LPR in court · 100+ calendar operators · $80–200M ARR</a:t>
            </a:r>
          </a:p>
        </p:txBody>
      </p:sp>
      <p:sp>
        <p:nvSpPr>
          <p:cNvPr id="25" name="Rectangle 24"/>
          <p:cNvSpPr/>
          <p:nvPr/>
        </p:nvSpPr>
        <p:spPr>
          <a:xfrm>
            <a:off x="320040" y="4672583"/>
            <a:ext cx="1005840" cy="80467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4718303"/>
            <a:ext cx="960120" cy="274320"/>
          </a:xfrm>
          <a:prstGeom prst="rect">
            <a:avLst/>
          </a:prstGeom>
          <a:noFill/>
        </p:spPr>
        <p:txBody>
          <a:bodyPr wrap="square">
            <a:spAutoFit/>
          </a:bodyPr>
          <a:lstStyle/>
          <a:p>
            <a:pPr algn="ctr"/>
            <a:r>
              <a:rPr sz="1000" b="1" i="0">
                <a:solidFill>
                  <a:srgbClr val="8899AA"/>
                </a:solidFill>
              </a:rPr>
              <a:t>Phase 4</a:t>
            </a:r>
          </a:p>
        </p:txBody>
      </p:sp>
      <p:sp>
        <p:nvSpPr>
          <p:cNvPr id="27" name="TextBox 26"/>
          <p:cNvSpPr txBox="1"/>
          <p:nvPr/>
        </p:nvSpPr>
        <p:spPr>
          <a:xfrm>
            <a:off x="347472" y="4992623"/>
            <a:ext cx="960120" cy="256032"/>
          </a:xfrm>
          <a:prstGeom prst="rect">
            <a:avLst/>
          </a:prstGeom>
          <a:noFill/>
        </p:spPr>
        <p:txBody>
          <a:bodyPr wrap="square">
            <a:spAutoFit/>
          </a:bodyPr>
          <a:lstStyle/>
          <a:p>
            <a:pPr algn="ctr"/>
            <a:r>
              <a:rPr sz="900" b="0" i="0">
                <a:solidFill>
                  <a:srgbClr val="8899AA"/>
                </a:solidFill>
              </a:rPr>
              <a:t>2030–2032</a:t>
            </a:r>
          </a:p>
        </p:txBody>
      </p:sp>
      <p:sp>
        <p:nvSpPr>
          <p:cNvPr id="28" name="Rectangle 27"/>
          <p:cNvSpPr/>
          <p:nvPr/>
        </p:nvSpPr>
        <p:spPr>
          <a:xfrm>
            <a:off x="1371600" y="4855463"/>
            <a:ext cx="9875520" cy="45720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63040" y="4873751"/>
            <a:ext cx="2286000" cy="320040"/>
          </a:xfrm>
          <a:prstGeom prst="rect">
            <a:avLst/>
          </a:prstGeom>
          <a:noFill/>
        </p:spPr>
        <p:txBody>
          <a:bodyPr wrap="square">
            <a:spAutoFit/>
          </a:bodyPr>
          <a:lstStyle/>
          <a:p>
            <a:pPr algn="l"/>
            <a:r>
              <a:rPr sz="1200" b="1" i="0">
                <a:solidFill>
                  <a:srgbClr val="FFFFFF"/>
                </a:solidFill>
              </a:rPr>
              <a:t>Cooperative Transition</a:t>
            </a:r>
          </a:p>
        </p:txBody>
      </p:sp>
      <p:sp>
        <p:nvSpPr>
          <p:cNvPr id="30" name="TextBox 29"/>
          <p:cNvSpPr txBox="1"/>
          <p:nvPr/>
        </p:nvSpPr>
        <p:spPr>
          <a:xfrm>
            <a:off x="3840480" y="4873751"/>
            <a:ext cx="6400800" cy="320040"/>
          </a:xfrm>
          <a:prstGeom prst="rect">
            <a:avLst/>
          </a:prstGeom>
          <a:noFill/>
        </p:spPr>
        <p:txBody>
          <a:bodyPr wrap="square">
            <a:spAutoFit/>
          </a:bodyPr>
          <a:lstStyle/>
          <a:p>
            <a:pPr algn="l"/>
            <a:r>
              <a:rPr sz="1100" b="0" i="0">
                <a:solidFill>
                  <a:srgbClr val="FAF7F0"/>
                </a:solidFill>
              </a:rPr>
              <a:t>Foundation to member-owned utility (DTCC/SWIFT structure) · PQC migration · $300–600M ARR</a:t>
            </a:r>
          </a:p>
        </p:txBody>
      </p:sp>
      <p:sp>
        <p:nvSpPr>
          <p:cNvPr id="31" name="Rectangle 30"/>
          <p:cNvSpPr/>
          <p:nvPr/>
        </p:nvSpPr>
        <p:spPr>
          <a:xfrm>
            <a:off x="320040" y="5605272"/>
            <a:ext cx="1005840" cy="80467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5650992"/>
            <a:ext cx="960120" cy="274320"/>
          </a:xfrm>
          <a:prstGeom prst="rect">
            <a:avLst/>
          </a:prstGeom>
          <a:noFill/>
        </p:spPr>
        <p:txBody>
          <a:bodyPr wrap="square">
            <a:spAutoFit/>
          </a:bodyPr>
          <a:lstStyle/>
          <a:p>
            <a:pPr algn="ctr"/>
            <a:r>
              <a:rPr sz="1000" b="1" i="0">
                <a:solidFill>
                  <a:srgbClr val="8899AA"/>
                </a:solidFill>
              </a:rPr>
              <a:t>Phase 5</a:t>
            </a:r>
          </a:p>
        </p:txBody>
      </p:sp>
      <p:sp>
        <p:nvSpPr>
          <p:cNvPr id="33" name="TextBox 32"/>
          <p:cNvSpPr txBox="1"/>
          <p:nvPr/>
        </p:nvSpPr>
        <p:spPr>
          <a:xfrm>
            <a:off x="347472" y="5925312"/>
            <a:ext cx="960120" cy="256032"/>
          </a:xfrm>
          <a:prstGeom prst="rect">
            <a:avLst/>
          </a:prstGeom>
          <a:noFill/>
        </p:spPr>
        <p:txBody>
          <a:bodyPr wrap="square">
            <a:spAutoFit/>
          </a:bodyPr>
          <a:lstStyle/>
          <a:p>
            <a:pPr algn="ctr"/>
            <a:r>
              <a:rPr sz="900" b="0" i="0">
                <a:solidFill>
                  <a:srgbClr val="8899AA"/>
                </a:solidFill>
              </a:rPr>
              <a:t>2032–2036</a:t>
            </a:r>
          </a:p>
        </p:txBody>
      </p:sp>
      <p:sp>
        <p:nvSpPr>
          <p:cNvPr id="34" name="Rectangle 33"/>
          <p:cNvSpPr/>
          <p:nvPr/>
        </p:nvSpPr>
        <p:spPr>
          <a:xfrm>
            <a:off x="1371600" y="5788152"/>
            <a:ext cx="9875520" cy="45720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63040" y="5806440"/>
            <a:ext cx="2286000" cy="320040"/>
          </a:xfrm>
          <a:prstGeom prst="rect">
            <a:avLst/>
          </a:prstGeom>
          <a:noFill/>
        </p:spPr>
        <p:txBody>
          <a:bodyPr wrap="square">
            <a:spAutoFit/>
          </a:bodyPr>
          <a:lstStyle/>
          <a:p>
            <a:pPr algn="l"/>
            <a:r>
              <a:rPr sz="1200" b="1" i="0">
                <a:solidFill>
                  <a:srgbClr val="FFFFFF"/>
                </a:solidFill>
              </a:rPr>
              <a:t>Global Infrastructure</a:t>
            </a:r>
          </a:p>
        </p:txBody>
      </p:sp>
      <p:sp>
        <p:nvSpPr>
          <p:cNvPr id="36" name="TextBox 35"/>
          <p:cNvSpPr txBox="1"/>
          <p:nvPr/>
        </p:nvSpPr>
        <p:spPr>
          <a:xfrm>
            <a:off x="3840480" y="5806440"/>
            <a:ext cx="6400800" cy="320040"/>
          </a:xfrm>
          <a:prstGeom prst="rect">
            <a:avLst/>
          </a:prstGeom>
          <a:noFill/>
        </p:spPr>
        <p:txBody>
          <a:bodyPr wrap="square">
            <a:spAutoFit/>
          </a:bodyPr>
          <a:lstStyle/>
          <a:p>
            <a:pPr algn="l"/>
            <a:r>
              <a:rPr sz="1100" b="0" i="0">
                <a:solidFill>
                  <a:srgbClr val="FAF7F0"/>
                </a:solidFill>
              </a:rPr>
              <a:t>1B+ AI agents registered · 100M+ daily receipts · multi-substrate · $1–5B ARR · $10–50B+ network value</a:t>
            </a:r>
          </a:p>
        </p:txBody>
      </p:sp>
      <p:sp>
        <p:nvSpPr>
          <p:cNvPr id="37" name="TextBox 36"/>
          <p:cNvSpPr txBox="1"/>
          <p:nvPr/>
        </p:nvSpPr>
        <p:spPr>
          <a:xfrm>
            <a:off x="320040" y="6492240"/>
            <a:ext cx="11548872" cy="274320"/>
          </a:xfrm>
          <a:prstGeom prst="rect">
            <a:avLst/>
          </a:prstGeom>
          <a:noFill/>
        </p:spPr>
        <p:txBody>
          <a:bodyPr wrap="square">
            <a:spAutoFit/>
          </a:bodyPr>
          <a:lstStyle/>
          <a:p>
            <a:pPr algn="l"/>
            <a:r>
              <a:rPr sz="1200" b="1" i="0">
                <a:solidFill>
                  <a:srgbClr val="20E898"/>
                </a:solidFill>
              </a:rPr>
              <a:t>10-year ARR range: $5–9B  ·  Network value: $50–90B+  ·  Comp: VeriSign × SWIFT</a:t>
            </a:r>
          </a:p>
        </p:txBody>
      </p:sp>
      <p:sp>
        <p:nvSpPr>
          <p:cNvPr id="38" name="Rectangle 37"/>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THE FOUNDATION</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600" b="1" i="0">
                <a:solidFill>
                  <a:srgbClr val="FFFFFF"/>
                </a:solidFill>
              </a:rPr>
              <a:t>The protocol cannot be acquired. It cannot be shut down.</a:t>
            </a:r>
          </a:p>
        </p:txBody>
      </p:sp>
      <p:sp>
        <p:nvSpPr>
          <p:cNvPr id="7" name="Rectangle 6"/>
          <p:cNvSpPr/>
          <p:nvPr/>
        </p:nvSpPr>
        <p:spPr>
          <a:xfrm>
            <a:off x="320040" y="1874519"/>
            <a:ext cx="5394960" cy="34747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874519"/>
            <a:ext cx="5394960" cy="731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11680"/>
            <a:ext cx="5120640" cy="411480"/>
          </a:xfrm>
          <a:prstGeom prst="rect">
            <a:avLst/>
          </a:prstGeom>
          <a:noFill/>
        </p:spPr>
        <p:txBody>
          <a:bodyPr wrap="square">
            <a:spAutoFit/>
          </a:bodyPr>
          <a:lstStyle/>
          <a:p>
            <a:pPr algn="l"/>
            <a:r>
              <a:rPr sz="1400" b="1" i="0">
                <a:solidFill>
                  <a:srgbClr val="20E898"/>
                </a:solidFill>
              </a:rPr>
              <a:t>LedgerProof Foundation</a:t>
            </a:r>
          </a:p>
        </p:txBody>
      </p:sp>
      <p:sp>
        <p:nvSpPr>
          <p:cNvPr id="10" name="TextBox 9"/>
          <p:cNvSpPr txBox="1"/>
          <p:nvPr/>
        </p:nvSpPr>
        <p:spPr>
          <a:xfrm>
            <a:off x="457200" y="2423160"/>
            <a:ext cx="5120640" cy="274320"/>
          </a:xfrm>
          <a:prstGeom prst="rect">
            <a:avLst/>
          </a:prstGeom>
          <a:noFill/>
        </p:spPr>
        <p:txBody>
          <a:bodyPr wrap="square">
            <a:spAutoFit/>
          </a:bodyPr>
          <a:lstStyle/>
          <a:p>
            <a:pPr algn="l"/>
            <a:r>
              <a:rPr sz="1100" b="0" i="0">
                <a:solidFill>
                  <a:srgbClr val="8899AA"/>
                </a:solidFill>
              </a:rPr>
              <a:t>501(c)(3) — in formation</a:t>
            </a:r>
          </a:p>
        </p:txBody>
      </p:sp>
      <p:sp>
        <p:nvSpPr>
          <p:cNvPr id="11" name="TextBox 10"/>
          <p:cNvSpPr txBox="1"/>
          <p:nvPr/>
        </p:nvSpPr>
        <p:spPr>
          <a:xfrm>
            <a:off x="457200" y="2743200"/>
            <a:ext cx="5120640" cy="347472"/>
          </a:xfrm>
          <a:prstGeom prst="rect">
            <a:avLst/>
          </a:prstGeom>
          <a:noFill/>
        </p:spPr>
        <p:txBody>
          <a:bodyPr wrap="square">
            <a:spAutoFit/>
          </a:bodyPr>
          <a:lstStyle/>
          <a:p>
            <a:pPr algn="l"/>
            <a:r>
              <a:rPr sz="1100" b="0" i="0">
                <a:solidFill>
                  <a:srgbClr val="FAF7F0"/>
                </a:solidFill>
              </a:rPr>
              <a:t>·  Owns the open LPR protocol — forever</a:t>
            </a:r>
          </a:p>
        </p:txBody>
      </p:sp>
      <p:sp>
        <p:nvSpPr>
          <p:cNvPr id="12" name="TextBox 11"/>
          <p:cNvSpPr txBox="1"/>
          <p:nvPr/>
        </p:nvSpPr>
        <p:spPr>
          <a:xfrm>
            <a:off x="457200" y="3136392"/>
            <a:ext cx="5120640" cy="347472"/>
          </a:xfrm>
          <a:prstGeom prst="rect">
            <a:avLst/>
          </a:prstGeom>
          <a:noFill/>
        </p:spPr>
        <p:txBody>
          <a:bodyPr wrap="square">
            <a:spAutoFit/>
          </a:bodyPr>
          <a:lstStyle/>
          <a:p>
            <a:pPr algn="l"/>
            <a:r>
              <a:rPr sz="1100" b="0" i="0">
                <a:solidFill>
                  <a:srgbClr val="FAF7F0"/>
                </a:solidFill>
              </a:rPr>
              <a:t>·  Protocol-continuity escrow (endowment)</a:t>
            </a:r>
          </a:p>
        </p:txBody>
      </p:sp>
      <p:sp>
        <p:nvSpPr>
          <p:cNvPr id="13" name="TextBox 12"/>
          <p:cNvSpPr txBox="1"/>
          <p:nvPr/>
        </p:nvSpPr>
        <p:spPr>
          <a:xfrm>
            <a:off x="457200" y="3529584"/>
            <a:ext cx="5120640" cy="347472"/>
          </a:xfrm>
          <a:prstGeom prst="rect">
            <a:avLst/>
          </a:prstGeom>
          <a:noFill/>
        </p:spPr>
        <p:txBody>
          <a:bodyPr wrap="square">
            <a:spAutoFit/>
          </a:bodyPr>
          <a:lstStyle/>
          <a:p>
            <a:pPr algn="l"/>
            <a:r>
              <a:rPr sz="1100" b="0" i="0">
                <a:solidFill>
                  <a:srgbClr val="FAF7F0"/>
                </a:solidFill>
              </a:rPr>
              <a:t>·  IETF standards maintenance</a:t>
            </a:r>
          </a:p>
        </p:txBody>
      </p:sp>
      <p:sp>
        <p:nvSpPr>
          <p:cNvPr id="14" name="TextBox 13"/>
          <p:cNvSpPr txBox="1"/>
          <p:nvPr/>
        </p:nvSpPr>
        <p:spPr>
          <a:xfrm>
            <a:off x="457200" y="3922776"/>
            <a:ext cx="5120640" cy="347472"/>
          </a:xfrm>
          <a:prstGeom prst="rect">
            <a:avLst/>
          </a:prstGeom>
          <a:noFill/>
        </p:spPr>
        <p:txBody>
          <a:bodyPr wrap="square">
            <a:spAutoFit/>
          </a:bodyPr>
          <a:lstStyle/>
          <a:p>
            <a:pPr algn="l"/>
            <a:r>
              <a:rPr sz="1100" b="0" i="0">
                <a:solidFill>
                  <a:srgbClr val="FAF7F0"/>
                </a:solidFill>
              </a:rPr>
              <a:t>·  Reference verifier — free, public, permanent</a:t>
            </a:r>
          </a:p>
        </p:txBody>
      </p:sp>
      <p:sp>
        <p:nvSpPr>
          <p:cNvPr id="15" name="TextBox 14"/>
          <p:cNvSpPr txBox="1"/>
          <p:nvPr/>
        </p:nvSpPr>
        <p:spPr>
          <a:xfrm>
            <a:off x="457200" y="4315968"/>
            <a:ext cx="5120640" cy="347472"/>
          </a:xfrm>
          <a:prstGeom prst="rect">
            <a:avLst/>
          </a:prstGeom>
          <a:noFill/>
        </p:spPr>
        <p:txBody>
          <a:bodyPr wrap="square">
            <a:spAutoFit/>
          </a:bodyPr>
          <a:lstStyle/>
          <a:p>
            <a:pPr algn="l"/>
            <a:r>
              <a:rPr sz="1100" b="0" i="0">
                <a:solidFill>
                  <a:srgbClr val="FAF7F0"/>
                </a:solidFill>
              </a:rPr>
              <a:t>·  A receipt from 2026 is verifiable in 2076</a:t>
            </a:r>
          </a:p>
        </p:txBody>
      </p:sp>
      <p:sp>
        <p:nvSpPr>
          <p:cNvPr id="16" name="TextBox 15"/>
          <p:cNvSpPr txBox="1"/>
          <p:nvPr/>
        </p:nvSpPr>
        <p:spPr>
          <a:xfrm>
            <a:off x="457200" y="4709160"/>
            <a:ext cx="5120640" cy="347472"/>
          </a:xfrm>
          <a:prstGeom prst="rect">
            <a:avLst/>
          </a:prstGeom>
          <a:noFill/>
        </p:spPr>
        <p:txBody>
          <a:bodyPr wrap="square">
            <a:spAutoFit/>
          </a:bodyPr>
          <a:lstStyle/>
          <a:p>
            <a:pPr algn="l"/>
            <a:r>
              <a:rPr sz="1100" b="1" i="0">
                <a:solidFill>
                  <a:srgbClr val="20E898"/>
                </a:solidFill>
              </a:rPr>
              <a:t>·  Cannot be acquired. Cannot be shut down.</a:t>
            </a:r>
          </a:p>
        </p:txBody>
      </p:sp>
      <p:sp>
        <p:nvSpPr>
          <p:cNvPr id="17" name="Rectangle 16"/>
          <p:cNvSpPr/>
          <p:nvPr/>
        </p:nvSpPr>
        <p:spPr>
          <a:xfrm>
            <a:off x="6172200" y="1874519"/>
            <a:ext cx="5715000" cy="34747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874519"/>
            <a:ext cx="5715000" cy="73152"/>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011680"/>
            <a:ext cx="5486400" cy="411480"/>
          </a:xfrm>
          <a:prstGeom prst="rect">
            <a:avLst/>
          </a:prstGeom>
          <a:noFill/>
        </p:spPr>
        <p:txBody>
          <a:bodyPr wrap="square">
            <a:spAutoFit/>
          </a:bodyPr>
          <a:lstStyle/>
          <a:p>
            <a:pPr algn="l"/>
            <a:r>
              <a:rPr sz="1400" b="1" i="0">
                <a:solidFill>
                  <a:srgbClr val="4DEFAB"/>
                </a:solidFill>
              </a:rPr>
              <a:t>LedgerProof, Inc.</a:t>
            </a:r>
          </a:p>
        </p:txBody>
      </p:sp>
      <p:sp>
        <p:nvSpPr>
          <p:cNvPr id="20" name="TextBox 19"/>
          <p:cNvSpPr txBox="1"/>
          <p:nvPr/>
        </p:nvSpPr>
        <p:spPr>
          <a:xfrm>
            <a:off x="6309360" y="2423160"/>
            <a:ext cx="5486400" cy="274320"/>
          </a:xfrm>
          <a:prstGeom prst="rect">
            <a:avLst/>
          </a:prstGeom>
          <a:noFill/>
        </p:spPr>
        <p:txBody>
          <a:bodyPr wrap="square">
            <a:spAutoFit/>
          </a:bodyPr>
          <a:lstStyle/>
          <a:p>
            <a:pPr algn="l"/>
            <a:r>
              <a:rPr sz="1100" b="0" i="0">
                <a:solidFill>
                  <a:srgbClr val="8899AA"/>
                </a:solidFill>
              </a:rPr>
              <a:t>Delaware C-Corp — commercial entity</a:t>
            </a:r>
          </a:p>
        </p:txBody>
      </p:sp>
      <p:sp>
        <p:nvSpPr>
          <p:cNvPr id="21" name="TextBox 20"/>
          <p:cNvSpPr txBox="1"/>
          <p:nvPr/>
        </p:nvSpPr>
        <p:spPr>
          <a:xfrm>
            <a:off x="6309360" y="2743200"/>
            <a:ext cx="5486400" cy="347472"/>
          </a:xfrm>
          <a:prstGeom prst="rect">
            <a:avLst/>
          </a:prstGeom>
          <a:noFill/>
        </p:spPr>
        <p:txBody>
          <a:bodyPr wrap="square">
            <a:spAutoFit/>
          </a:bodyPr>
          <a:lstStyle/>
          <a:p>
            <a:pPr algn="l"/>
            <a:r>
              <a:rPr sz="1100" b="0" i="0">
                <a:solidFill>
                  <a:srgbClr val="FAF7F0"/>
                </a:solidFill>
              </a:rPr>
              <a:t>·  Builds enterprise APIs, SDKs, integrations</a:t>
            </a:r>
          </a:p>
        </p:txBody>
      </p:sp>
      <p:sp>
        <p:nvSpPr>
          <p:cNvPr id="22" name="TextBox 21"/>
          <p:cNvSpPr txBox="1"/>
          <p:nvPr/>
        </p:nvSpPr>
        <p:spPr>
          <a:xfrm>
            <a:off x="6309360" y="3136392"/>
            <a:ext cx="5486400" cy="347472"/>
          </a:xfrm>
          <a:prstGeom prst="rect">
            <a:avLst/>
          </a:prstGeom>
          <a:noFill/>
        </p:spPr>
        <p:txBody>
          <a:bodyPr wrap="square">
            <a:spAutoFit/>
          </a:bodyPr>
          <a:lstStyle/>
          <a:p>
            <a:pPr algn="l"/>
            <a:r>
              <a:rPr sz="1100" b="0" i="0">
                <a:solidFill>
                  <a:srgbClr val="FAF7F0"/>
                </a:solidFill>
              </a:rPr>
              <a:t>·  Institutional sales and partnerships</a:t>
            </a:r>
          </a:p>
        </p:txBody>
      </p:sp>
      <p:sp>
        <p:nvSpPr>
          <p:cNvPr id="23" name="TextBox 22"/>
          <p:cNvSpPr txBox="1"/>
          <p:nvPr/>
        </p:nvSpPr>
        <p:spPr>
          <a:xfrm>
            <a:off x="6309360" y="3529584"/>
            <a:ext cx="5486400" cy="347472"/>
          </a:xfrm>
          <a:prstGeom prst="rect">
            <a:avLst/>
          </a:prstGeom>
          <a:noFill/>
        </p:spPr>
        <p:txBody>
          <a:bodyPr wrap="square">
            <a:spAutoFit/>
          </a:bodyPr>
          <a:lstStyle/>
          <a:p>
            <a:pPr algn="l"/>
            <a:r>
              <a:rPr sz="1100" b="0" i="0">
                <a:solidFill>
                  <a:srgbClr val="FAF7F0"/>
                </a:solidFill>
              </a:rPr>
              <a:t>·  Calendar operator network (revenue)</a:t>
            </a:r>
          </a:p>
        </p:txBody>
      </p:sp>
      <p:sp>
        <p:nvSpPr>
          <p:cNvPr id="24" name="TextBox 23"/>
          <p:cNvSpPr txBox="1"/>
          <p:nvPr/>
        </p:nvSpPr>
        <p:spPr>
          <a:xfrm>
            <a:off x="6309360" y="3922776"/>
            <a:ext cx="5486400" cy="347472"/>
          </a:xfrm>
          <a:prstGeom prst="rect">
            <a:avLst/>
          </a:prstGeom>
          <a:noFill/>
        </p:spPr>
        <p:txBody>
          <a:bodyPr wrap="square">
            <a:spAutoFit/>
          </a:bodyPr>
          <a:lstStyle/>
          <a:p>
            <a:pPr algn="l"/>
            <a:r>
              <a:rPr sz="1100" b="0" i="0">
                <a:solidFill>
                  <a:srgbClr val="FAF7F0"/>
                </a:solidFill>
              </a:rPr>
              <a:t>·  Enterprise SLAs and support</a:t>
            </a:r>
          </a:p>
        </p:txBody>
      </p:sp>
      <p:sp>
        <p:nvSpPr>
          <p:cNvPr id="25" name="TextBox 24"/>
          <p:cNvSpPr txBox="1"/>
          <p:nvPr/>
        </p:nvSpPr>
        <p:spPr>
          <a:xfrm>
            <a:off x="6309360" y="4315968"/>
            <a:ext cx="5486400" cy="347472"/>
          </a:xfrm>
          <a:prstGeom prst="rect">
            <a:avLst/>
          </a:prstGeom>
          <a:noFill/>
        </p:spPr>
        <p:txBody>
          <a:bodyPr wrap="square">
            <a:spAutoFit/>
          </a:bodyPr>
          <a:lstStyle/>
          <a:p>
            <a:pPr algn="l"/>
            <a:r>
              <a:rPr sz="1100" b="1" i="0">
                <a:solidFill>
                  <a:srgbClr val="FAF7F0"/>
                </a:solidFill>
              </a:rPr>
              <a:t>·  The investable entity (this round)</a:t>
            </a:r>
          </a:p>
        </p:txBody>
      </p:sp>
      <p:sp>
        <p:nvSpPr>
          <p:cNvPr id="26" name="TextBox 25"/>
          <p:cNvSpPr txBox="1"/>
          <p:nvPr/>
        </p:nvSpPr>
        <p:spPr>
          <a:xfrm>
            <a:off x="6309360" y="4709160"/>
            <a:ext cx="5486400" cy="347472"/>
          </a:xfrm>
          <a:prstGeom prst="rect">
            <a:avLst/>
          </a:prstGeom>
          <a:noFill/>
        </p:spPr>
        <p:txBody>
          <a:bodyPr wrap="square">
            <a:spAutoFit/>
          </a:bodyPr>
          <a:lstStyle/>
          <a:p>
            <a:pPr algn="l"/>
            <a:r>
              <a:rPr sz="1100" b="0" i="0">
                <a:solidFill>
                  <a:srgbClr val="4DEFAB"/>
                </a:solidFill>
              </a:rPr>
              <a:t>·  Licenses protocol from Foundation</a:t>
            </a:r>
          </a:p>
        </p:txBody>
      </p:sp>
      <p:sp>
        <p:nvSpPr>
          <p:cNvPr id="27" name="TextBox 26"/>
          <p:cNvSpPr txBox="1"/>
          <p:nvPr/>
        </p:nvSpPr>
        <p:spPr>
          <a:xfrm>
            <a:off x="320040" y="5577840"/>
            <a:ext cx="11548872" cy="502920"/>
          </a:xfrm>
          <a:prstGeom prst="rect">
            <a:avLst/>
          </a:prstGeom>
          <a:noFill/>
        </p:spPr>
        <p:txBody>
          <a:bodyPr wrap="square">
            <a:spAutoFit/>
          </a:bodyPr>
          <a:lstStyle/>
          <a:p>
            <a:pPr algn="l"/>
            <a:r>
              <a:rPr sz="1200" b="0" i="0">
                <a:solidFill>
                  <a:srgbClr val="FAF7F0"/>
                </a:solidFill>
              </a:rPr>
              <a:t>Structural precedents: OpenSats (protocol) + Let's Encrypt (free public infra) + DTCC (member-owned utility) — scaled and institutionalized.</a:t>
            </a:r>
          </a:p>
        </p:txBody>
      </p:sp>
      <p:sp>
        <p:nvSpPr>
          <p:cNvPr id="28" name="TextBox 27"/>
          <p:cNvSpPr txBox="1"/>
          <p:nvPr/>
        </p:nvSpPr>
        <p:spPr>
          <a:xfrm>
            <a:off x="320040" y="6144768"/>
            <a:ext cx="11548872" cy="365760"/>
          </a:xfrm>
          <a:prstGeom prst="rect">
            <a:avLst/>
          </a:prstGeom>
          <a:noFill/>
        </p:spPr>
        <p:txBody>
          <a:bodyPr wrap="square">
            <a:spAutoFit/>
          </a:bodyPr>
          <a:lstStyle/>
          <a:p>
            <a:pPr algn="l"/>
            <a:r>
              <a:rPr sz="1200" b="1" i="0">
                <a:solidFill>
                  <a:srgbClr val="20E898"/>
                </a:solidFill>
              </a:rPr>
              <a:t>The four moats: Network effects · Protocol lock-in · Foundation permanence · Regulatory citability</a:t>
            </a:r>
          </a:p>
        </p:txBody>
      </p:sp>
      <p:sp>
        <p:nvSpPr>
          <p:cNvPr id="29" name="Rectangle 28"/>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COMPETITION</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No one does what we do. Every adjacent solution fails on one axis.</a:t>
            </a:r>
          </a:p>
        </p:txBody>
      </p:sp>
      <p:sp>
        <p:nvSpPr>
          <p:cNvPr id="7" name="TextBox 6"/>
          <p:cNvSpPr txBox="1"/>
          <p:nvPr/>
        </p:nvSpPr>
        <p:spPr>
          <a:xfrm>
            <a:off x="320040" y="1828800"/>
            <a:ext cx="2011680" cy="457200"/>
          </a:xfrm>
          <a:prstGeom prst="rect">
            <a:avLst/>
          </a:prstGeom>
          <a:noFill/>
        </p:spPr>
        <p:txBody>
          <a:bodyPr wrap="square">
            <a:spAutoFit/>
          </a:bodyPr>
          <a:lstStyle/>
          <a:p>
            <a:pPr algn="l"/>
            <a:r>
              <a:rPr sz="900" b="1" i="0">
                <a:solidFill>
                  <a:srgbClr val="8899AA"/>
                </a:solidFill>
              </a:rPr>
              <a:t/>
            </a:r>
          </a:p>
        </p:txBody>
      </p:sp>
      <p:sp>
        <p:nvSpPr>
          <p:cNvPr id="8" name="TextBox 7"/>
          <p:cNvSpPr txBox="1"/>
          <p:nvPr/>
        </p:nvSpPr>
        <p:spPr>
          <a:xfrm>
            <a:off x="2423160" y="1828800"/>
            <a:ext cx="1463040" cy="457200"/>
          </a:xfrm>
          <a:prstGeom prst="rect">
            <a:avLst/>
          </a:prstGeom>
          <a:noFill/>
        </p:spPr>
        <p:txBody>
          <a:bodyPr wrap="square">
            <a:spAutoFit/>
          </a:bodyPr>
          <a:lstStyle/>
          <a:p>
            <a:pPr algn="ctr"/>
            <a:r>
              <a:rPr sz="900" b="1" i="0">
                <a:solidFill>
                  <a:srgbClr val="8899AA"/>
                </a:solidFill>
              </a:rPr>
              <a:t>Permanent
Timestamp</a:t>
            </a:r>
          </a:p>
        </p:txBody>
      </p:sp>
      <p:sp>
        <p:nvSpPr>
          <p:cNvPr id="9" name="TextBox 8"/>
          <p:cNvSpPr txBox="1"/>
          <p:nvPr/>
        </p:nvSpPr>
        <p:spPr>
          <a:xfrm>
            <a:off x="3977639" y="1828800"/>
            <a:ext cx="1463040" cy="457200"/>
          </a:xfrm>
          <a:prstGeom prst="rect">
            <a:avLst/>
          </a:prstGeom>
          <a:noFill/>
        </p:spPr>
        <p:txBody>
          <a:bodyPr wrap="square">
            <a:spAutoFit/>
          </a:bodyPr>
          <a:lstStyle/>
          <a:p>
            <a:pPr algn="ctr"/>
            <a:r>
              <a:rPr sz="900" b="1" i="0">
                <a:solidFill>
                  <a:srgbClr val="8899AA"/>
                </a:solidFill>
              </a:rPr>
              <a:t>Machine
Verifiable</a:t>
            </a:r>
          </a:p>
        </p:txBody>
      </p:sp>
      <p:sp>
        <p:nvSpPr>
          <p:cNvPr id="10" name="TextBox 9"/>
          <p:cNvSpPr txBox="1"/>
          <p:nvPr/>
        </p:nvSpPr>
        <p:spPr>
          <a:xfrm>
            <a:off x="5532120" y="1828800"/>
            <a:ext cx="1463040" cy="457200"/>
          </a:xfrm>
          <a:prstGeom prst="rect">
            <a:avLst/>
          </a:prstGeom>
          <a:noFill/>
        </p:spPr>
        <p:txBody>
          <a:bodyPr wrap="square">
            <a:spAutoFit/>
          </a:bodyPr>
          <a:lstStyle/>
          <a:p>
            <a:pPr algn="ctr"/>
            <a:r>
              <a:rPr sz="900" b="1" i="0">
                <a:solidFill>
                  <a:srgbClr val="8899AA"/>
                </a:solidFill>
              </a:rPr>
              <a:t>Bitcoin
Anchor</a:t>
            </a:r>
          </a:p>
        </p:txBody>
      </p:sp>
      <p:sp>
        <p:nvSpPr>
          <p:cNvPr id="11" name="TextBox 10"/>
          <p:cNvSpPr txBox="1"/>
          <p:nvPr/>
        </p:nvSpPr>
        <p:spPr>
          <a:xfrm>
            <a:off x="7086600" y="1828800"/>
            <a:ext cx="1463040" cy="457200"/>
          </a:xfrm>
          <a:prstGeom prst="rect">
            <a:avLst/>
          </a:prstGeom>
          <a:noFill/>
        </p:spPr>
        <p:txBody>
          <a:bodyPr wrap="square">
            <a:spAutoFit/>
          </a:bodyPr>
          <a:lstStyle/>
          <a:p>
            <a:pPr algn="ctr"/>
            <a:r>
              <a:rPr sz="900" b="1" i="0">
                <a:solidFill>
                  <a:srgbClr val="8899AA"/>
                </a:solidFill>
              </a:rPr>
              <a:t>Agent
Surface</a:t>
            </a:r>
          </a:p>
        </p:txBody>
      </p:sp>
      <p:sp>
        <p:nvSpPr>
          <p:cNvPr id="12" name="TextBox 11"/>
          <p:cNvSpPr txBox="1"/>
          <p:nvPr/>
        </p:nvSpPr>
        <p:spPr>
          <a:xfrm>
            <a:off x="8641080" y="1828800"/>
            <a:ext cx="1463040" cy="457200"/>
          </a:xfrm>
          <a:prstGeom prst="rect">
            <a:avLst/>
          </a:prstGeom>
          <a:noFill/>
        </p:spPr>
        <p:txBody>
          <a:bodyPr wrap="square">
            <a:spAutoFit/>
          </a:bodyPr>
          <a:lstStyle/>
          <a:p>
            <a:pPr algn="ctr"/>
            <a:r>
              <a:rPr sz="900" b="1" i="0">
                <a:solidFill>
                  <a:srgbClr val="8899AA"/>
                </a:solidFill>
              </a:rPr>
              <a:t>Institutional
Sales</a:t>
            </a:r>
          </a:p>
        </p:txBody>
      </p:sp>
      <p:sp>
        <p:nvSpPr>
          <p:cNvPr id="13" name="TextBox 12"/>
          <p:cNvSpPr txBox="1"/>
          <p:nvPr/>
        </p:nvSpPr>
        <p:spPr>
          <a:xfrm>
            <a:off x="10241280" y="1828800"/>
            <a:ext cx="1737360" cy="457200"/>
          </a:xfrm>
          <a:prstGeom prst="rect">
            <a:avLst/>
          </a:prstGeom>
          <a:noFill/>
        </p:spPr>
        <p:txBody>
          <a:bodyPr wrap="square">
            <a:spAutoFit/>
          </a:bodyPr>
          <a:lstStyle/>
          <a:p>
            <a:pPr algn="ctr"/>
            <a:r>
              <a:rPr sz="900" b="1" i="0">
                <a:solidFill>
                  <a:srgbClr val="8899AA"/>
                </a:solidFill>
              </a:rPr>
              <a:t>Standards
Body</a:t>
            </a:r>
          </a:p>
        </p:txBody>
      </p:sp>
      <p:sp>
        <p:nvSpPr>
          <p:cNvPr id="14" name="Rectangle 13"/>
          <p:cNvSpPr/>
          <p:nvPr/>
        </p:nvSpPr>
        <p:spPr>
          <a:xfrm>
            <a:off x="320040" y="2377440"/>
            <a:ext cx="11548872" cy="484632"/>
          </a:xfrm>
          <a:prstGeom prst="rect">
            <a:avLst/>
          </a:prstGeom>
          <a:solidFill>
            <a:srgbClr val="08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377440"/>
            <a:ext cx="54864" cy="48463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468880"/>
            <a:ext cx="1920240" cy="320040"/>
          </a:xfrm>
          <a:prstGeom prst="rect">
            <a:avLst/>
          </a:prstGeom>
          <a:noFill/>
        </p:spPr>
        <p:txBody>
          <a:bodyPr wrap="square">
            <a:spAutoFit/>
          </a:bodyPr>
          <a:lstStyle/>
          <a:p>
            <a:pPr algn="l"/>
            <a:r>
              <a:rPr sz="1200" b="1" i="0">
                <a:solidFill>
                  <a:srgbClr val="20E898"/>
                </a:solidFill>
              </a:rPr>
              <a:t>LedgerProof</a:t>
            </a:r>
          </a:p>
        </p:txBody>
      </p:sp>
      <p:sp>
        <p:nvSpPr>
          <p:cNvPr id="17" name="TextBox 16"/>
          <p:cNvSpPr txBox="1"/>
          <p:nvPr/>
        </p:nvSpPr>
        <p:spPr>
          <a:xfrm>
            <a:off x="2423160" y="2450592"/>
            <a:ext cx="1463040" cy="347472"/>
          </a:xfrm>
          <a:prstGeom prst="rect">
            <a:avLst/>
          </a:prstGeom>
          <a:noFill/>
        </p:spPr>
        <p:txBody>
          <a:bodyPr wrap="square">
            <a:spAutoFit/>
          </a:bodyPr>
          <a:lstStyle/>
          <a:p>
            <a:pPr algn="ctr"/>
            <a:r>
              <a:rPr sz="1300" b="1" i="0">
                <a:solidFill>
                  <a:srgbClr val="20E898"/>
                </a:solidFill>
              </a:rPr>
              <a:t>✓</a:t>
            </a:r>
          </a:p>
        </p:txBody>
      </p:sp>
      <p:sp>
        <p:nvSpPr>
          <p:cNvPr id="18" name="TextBox 17"/>
          <p:cNvSpPr txBox="1"/>
          <p:nvPr/>
        </p:nvSpPr>
        <p:spPr>
          <a:xfrm>
            <a:off x="3977639" y="2450592"/>
            <a:ext cx="1463040" cy="347472"/>
          </a:xfrm>
          <a:prstGeom prst="rect">
            <a:avLst/>
          </a:prstGeom>
          <a:noFill/>
        </p:spPr>
        <p:txBody>
          <a:bodyPr wrap="square">
            <a:spAutoFit/>
          </a:bodyPr>
          <a:lstStyle/>
          <a:p>
            <a:pPr algn="ctr"/>
            <a:r>
              <a:rPr sz="1300" b="1" i="0">
                <a:solidFill>
                  <a:srgbClr val="20E898"/>
                </a:solidFill>
              </a:rPr>
              <a:t>✓</a:t>
            </a:r>
          </a:p>
        </p:txBody>
      </p:sp>
      <p:sp>
        <p:nvSpPr>
          <p:cNvPr id="19" name="TextBox 18"/>
          <p:cNvSpPr txBox="1"/>
          <p:nvPr/>
        </p:nvSpPr>
        <p:spPr>
          <a:xfrm>
            <a:off x="5532120" y="2450592"/>
            <a:ext cx="1463040" cy="347472"/>
          </a:xfrm>
          <a:prstGeom prst="rect">
            <a:avLst/>
          </a:prstGeom>
          <a:noFill/>
        </p:spPr>
        <p:txBody>
          <a:bodyPr wrap="square">
            <a:spAutoFit/>
          </a:bodyPr>
          <a:lstStyle/>
          <a:p>
            <a:pPr algn="ctr"/>
            <a:r>
              <a:rPr sz="1300" b="1" i="0">
                <a:solidFill>
                  <a:srgbClr val="20E898"/>
                </a:solidFill>
              </a:rPr>
              <a:t>✓</a:t>
            </a:r>
          </a:p>
        </p:txBody>
      </p:sp>
      <p:sp>
        <p:nvSpPr>
          <p:cNvPr id="20" name="TextBox 19"/>
          <p:cNvSpPr txBox="1"/>
          <p:nvPr/>
        </p:nvSpPr>
        <p:spPr>
          <a:xfrm>
            <a:off x="7086600" y="2450592"/>
            <a:ext cx="1463040" cy="347472"/>
          </a:xfrm>
          <a:prstGeom prst="rect">
            <a:avLst/>
          </a:prstGeom>
          <a:noFill/>
        </p:spPr>
        <p:txBody>
          <a:bodyPr wrap="square">
            <a:spAutoFit/>
          </a:bodyPr>
          <a:lstStyle/>
          <a:p>
            <a:pPr algn="ctr"/>
            <a:r>
              <a:rPr sz="1300" b="1" i="0">
                <a:solidFill>
                  <a:srgbClr val="20E898"/>
                </a:solidFill>
              </a:rPr>
              <a:t>✓</a:t>
            </a:r>
          </a:p>
        </p:txBody>
      </p:sp>
      <p:sp>
        <p:nvSpPr>
          <p:cNvPr id="21" name="TextBox 20"/>
          <p:cNvSpPr txBox="1"/>
          <p:nvPr/>
        </p:nvSpPr>
        <p:spPr>
          <a:xfrm>
            <a:off x="8641080" y="2450592"/>
            <a:ext cx="1463040" cy="347472"/>
          </a:xfrm>
          <a:prstGeom prst="rect">
            <a:avLst/>
          </a:prstGeom>
          <a:noFill/>
        </p:spPr>
        <p:txBody>
          <a:bodyPr wrap="square">
            <a:spAutoFit/>
          </a:bodyPr>
          <a:lstStyle/>
          <a:p>
            <a:pPr algn="ctr"/>
            <a:r>
              <a:rPr sz="1300" b="1" i="0">
                <a:solidFill>
                  <a:srgbClr val="20E898"/>
                </a:solidFill>
              </a:rPr>
              <a:t>✓</a:t>
            </a:r>
          </a:p>
        </p:txBody>
      </p:sp>
      <p:sp>
        <p:nvSpPr>
          <p:cNvPr id="22" name="TextBox 21"/>
          <p:cNvSpPr txBox="1"/>
          <p:nvPr/>
        </p:nvSpPr>
        <p:spPr>
          <a:xfrm>
            <a:off x="10241280" y="2450592"/>
            <a:ext cx="1737360" cy="347472"/>
          </a:xfrm>
          <a:prstGeom prst="rect">
            <a:avLst/>
          </a:prstGeom>
          <a:noFill/>
        </p:spPr>
        <p:txBody>
          <a:bodyPr wrap="square">
            <a:spAutoFit/>
          </a:bodyPr>
          <a:lstStyle/>
          <a:p>
            <a:pPr algn="ctr"/>
            <a:r>
              <a:rPr sz="1300" b="1" i="0">
                <a:solidFill>
                  <a:srgbClr val="20E898"/>
                </a:solidFill>
              </a:rPr>
              <a:t>✓</a:t>
            </a:r>
          </a:p>
        </p:txBody>
      </p:sp>
      <p:sp>
        <p:nvSpPr>
          <p:cNvPr id="23" name="Rectangle 22"/>
          <p:cNvSpPr/>
          <p:nvPr/>
        </p:nvSpPr>
        <p:spPr>
          <a:xfrm>
            <a:off x="320040" y="2898648"/>
            <a:ext cx="11548872" cy="48463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990088"/>
            <a:ext cx="1920240" cy="320040"/>
          </a:xfrm>
          <a:prstGeom prst="rect">
            <a:avLst/>
          </a:prstGeom>
          <a:noFill/>
        </p:spPr>
        <p:txBody>
          <a:bodyPr wrap="square">
            <a:spAutoFit/>
          </a:bodyPr>
          <a:lstStyle/>
          <a:p>
            <a:pPr algn="l"/>
            <a:r>
              <a:rPr sz="1100" b="0" i="0">
                <a:solidFill>
                  <a:srgbClr val="FAF7F0"/>
                </a:solidFill>
              </a:rPr>
              <a:t>OpenTimestamps / OriginStamp</a:t>
            </a:r>
          </a:p>
        </p:txBody>
      </p:sp>
      <p:sp>
        <p:nvSpPr>
          <p:cNvPr id="25" name="TextBox 24"/>
          <p:cNvSpPr txBox="1"/>
          <p:nvPr/>
        </p:nvSpPr>
        <p:spPr>
          <a:xfrm>
            <a:off x="2423160" y="2971800"/>
            <a:ext cx="1463040" cy="347472"/>
          </a:xfrm>
          <a:prstGeom prst="rect">
            <a:avLst/>
          </a:prstGeom>
          <a:noFill/>
        </p:spPr>
        <p:txBody>
          <a:bodyPr wrap="square">
            <a:spAutoFit/>
          </a:bodyPr>
          <a:lstStyle/>
          <a:p>
            <a:pPr algn="ctr"/>
            <a:r>
              <a:rPr sz="1300" b="1" i="0">
                <a:solidFill>
                  <a:srgbClr val="20E898"/>
                </a:solidFill>
              </a:rPr>
              <a:t>✓</a:t>
            </a:r>
          </a:p>
        </p:txBody>
      </p:sp>
      <p:sp>
        <p:nvSpPr>
          <p:cNvPr id="26" name="TextBox 25"/>
          <p:cNvSpPr txBox="1"/>
          <p:nvPr/>
        </p:nvSpPr>
        <p:spPr>
          <a:xfrm>
            <a:off x="3977639" y="2971800"/>
            <a:ext cx="1463040" cy="347472"/>
          </a:xfrm>
          <a:prstGeom prst="rect">
            <a:avLst/>
          </a:prstGeom>
          <a:noFill/>
        </p:spPr>
        <p:txBody>
          <a:bodyPr wrap="square">
            <a:spAutoFit/>
          </a:bodyPr>
          <a:lstStyle/>
          <a:p>
            <a:pPr algn="ctr"/>
            <a:r>
              <a:rPr sz="1300" b="1" i="0">
                <a:solidFill>
                  <a:srgbClr val="8899AA"/>
                </a:solidFill>
              </a:rPr>
              <a:t>~</a:t>
            </a:r>
          </a:p>
        </p:txBody>
      </p:sp>
      <p:sp>
        <p:nvSpPr>
          <p:cNvPr id="27" name="TextBox 26"/>
          <p:cNvSpPr txBox="1"/>
          <p:nvPr/>
        </p:nvSpPr>
        <p:spPr>
          <a:xfrm>
            <a:off x="5532120" y="2971800"/>
            <a:ext cx="1463040" cy="347472"/>
          </a:xfrm>
          <a:prstGeom prst="rect">
            <a:avLst/>
          </a:prstGeom>
          <a:noFill/>
        </p:spPr>
        <p:txBody>
          <a:bodyPr wrap="square">
            <a:spAutoFit/>
          </a:bodyPr>
          <a:lstStyle/>
          <a:p>
            <a:pPr algn="ctr"/>
            <a:r>
              <a:rPr sz="1300" b="1" i="0">
                <a:solidFill>
                  <a:srgbClr val="20E898"/>
                </a:solidFill>
              </a:rPr>
              <a:t>✓</a:t>
            </a:r>
          </a:p>
        </p:txBody>
      </p:sp>
      <p:sp>
        <p:nvSpPr>
          <p:cNvPr id="28" name="TextBox 27"/>
          <p:cNvSpPr txBox="1"/>
          <p:nvPr/>
        </p:nvSpPr>
        <p:spPr>
          <a:xfrm>
            <a:off x="7086600" y="2971800"/>
            <a:ext cx="1463040" cy="347472"/>
          </a:xfrm>
          <a:prstGeom prst="rect">
            <a:avLst/>
          </a:prstGeom>
          <a:noFill/>
        </p:spPr>
        <p:txBody>
          <a:bodyPr wrap="square">
            <a:spAutoFit/>
          </a:bodyPr>
          <a:lstStyle/>
          <a:p>
            <a:pPr algn="ctr"/>
            <a:r>
              <a:rPr sz="1300" b="1" i="0">
                <a:solidFill>
                  <a:srgbClr val="F7931A"/>
                </a:solidFill>
              </a:rPr>
              <a:t>✗</a:t>
            </a:r>
          </a:p>
        </p:txBody>
      </p:sp>
      <p:sp>
        <p:nvSpPr>
          <p:cNvPr id="29" name="TextBox 28"/>
          <p:cNvSpPr txBox="1"/>
          <p:nvPr/>
        </p:nvSpPr>
        <p:spPr>
          <a:xfrm>
            <a:off x="8641080" y="2971800"/>
            <a:ext cx="1463040" cy="347472"/>
          </a:xfrm>
          <a:prstGeom prst="rect">
            <a:avLst/>
          </a:prstGeom>
          <a:noFill/>
        </p:spPr>
        <p:txBody>
          <a:bodyPr wrap="square">
            <a:spAutoFit/>
          </a:bodyPr>
          <a:lstStyle/>
          <a:p>
            <a:pPr algn="ctr"/>
            <a:r>
              <a:rPr sz="1300" b="1" i="0">
                <a:solidFill>
                  <a:srgbClr val="F7931A"/>
                </a:solidFill>
              </a:rPr>
              <a:t>✗</a:t>
            </a:r>
          </a:p>
        </p:txBody>
      </p:sp>
      <p:sp>
        <p:nvSpPr>
          <p:cNvPr id="30" name="TextBox 29"/>
          <p:cNvSpPr txBox="1"/>
          <p:nvPr/>
        </p:nvSpPr>
        <p:spPr>
          <a:xfrm>
            <a:off x="10241280" y="2971800"/>
            <a:ext cx="1737360" cy="347472"/>
          </a:xfrm>
          <a:prstGeom prst="rect">
            <a:avLst/>
          </a:prstGeom>
          <a:noFill/>
        </p:spPr>
        <p:txBody>
          <a:bodyPr wrap="square">
            <a:spAutoFit/>
          </a:bodyPr>
          <a:lstStyle/>
          <a:p>
            <a:pPr algn="ctr"/>
            <a:r>
              <a:rPr sz="1300" b="1" i="0">
                <a:solidFill>
                  <a:srgbClr val="F7931A"/>
                </a:solidFill>
              </a:rPr>
              <a:t>✗</a:t>
            </a:r>
          </a:p>
        </p:txBody>
      </p:sp>
      <p:sp>
        <p:nvSpPr>
          <p:cNvPr id="31" name="Rectangle 30"/>
          <p:cNvSpPr/>
          <p:nvPr/>
        </p:nvSpPr>
        <p:spPr>
          <a:xfrm>
            <a:off x="320040" y="3419856"/>
            <a:ext cx="11548872" cy="484632"/>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511296"/>
            <a:ext cx="1920240" cy="320040"/>
          </a:xfrm>
          <a:prstGeom prst="rect">
            <a:avLst/>
          </a:prstGeom>
          <a:noFill/>
        </p:spPr>
        <p:txBody>
          <a:bodyPr wrap="square">
            <a:spAutoFit/>
          </a:bodyPr>
          <a:lstStyle/>
          <a:p>
            <a:pPr algn="l"/>
            <a:r>
              <a:rPr sz="1100" b="0" i="0">
                <a:solidFill>
                  <a:srgbClr val="FAF7F0"/>
                </a:solidFill>
              </a:rPr>
              <a:t>C2PA / Content Credentials</a:t>
            </a:r>
          </a:p>
        </p:txBody>
      </p:sp>
      <p:sp>
        <p:nvSpPr>
          <p:cNvPr id="33" name="TextBox 32"/>
          <p:cNvSpPr txBox="1"/>
          <p:nvPr/>
        </p:nvSpPr>
        <p:spPr>
          <a:xfrm>
            <a:off x="2423160" y="3493008"/>
            <a:ext cx="1463040" cy="347472"/>
          </a:xfrm>
          <a:prstGeom prst="rect">
            <a:avLst/>
          </a:prstGeom>
          <a:noFill/>
        </p:spPr>
        <p:txBody>
          <a:bodyPr wrap="square">
            <a:spAutoFit/>
          </a:bodyPr>
          <a:lstStyle/>
          <a:p>
            <a:pPr algn="ctr"/>
            <a:r>
              <a:rPr sz="1300" b="1" i="0">
                <a:solidFill>
                  <a:srgbClr val="F7931A"/>
                </a:solidFill>
              </a:rPr>
              <a:t>✗</a:t>
            </a:r>
          </a:p>
        </p:txBody>
      </p:sp>
      <p:sp>
        <p:nvSpPr>
          <p:cNvPr id="34" name="TextBox 33"/>
          <p:cNvSpPr txBox="1"/>
          <p:nvPr/>
        </p:nvSpPr>
        <p:spPr>
          <a:xfrm>
            <a:off x="3977639" y="3493008"/>
            <a:ext cx="1463040" cy="347472"/>
          </a:xfrm>
          <a:prstGeom prst="rect">
            <a:avLst/>
          </a:prstGeom>
          <a:noFill/>
        </p:spPr>
        <p:txBody>
          <a:bodyPr wrap="square">
            <a:spAutoFit/>
          </a:bodyPr>
          <a:lstStyle/>
          <a:p>
            <a:pPr algn="ctr"/>
            <a:r>
              <a:rPr sz="1300" b="1" i="0">
                <a:solidFill>
                  <a:srgbClr val="20E898"/>
                </a:solidFill>
              </a:rPr>
              <a:t>✓</a:t>
            </a:r>
          </a:p>
        </p:txBody>
      </p:sp>
      <p:sp>
        <p:nvSpPr>
          <p:cNvPr id="35" name="TextBox 34"/>
          <p:cNvSpPr txBox="1"/>
          <p:nvPr/>
        </p:nvSpPr>
        <p:spPr>
          <a:xfrm>
            <a:off x="5532120" y="3493008"/>
            <a:ext cx="1463040" cy="347472"/>
          </a:xfrm>
          <a:prstGeom prst="rect">
            <a:avLst/>
          </a:prstGeom>
          <a:noFill/>
        </p:spPr>
        <p:txBody>
          <a:bodyPr wrap="square">
            <a:spAutoFit/>
          </a:bodyPr>
          <a:lstStyle/>
          <a:p>
            <a:pPr algn="ctr"/>
            <a:r>
              <a:rPr sz="1300" b="1" i="0">
                <a:solidFill>
                  <a:srgbClr val="F7931A"/>
                </a:solidFill>
              </a:rPr>
              <a:t>✗</a:t>
            </a:r>
          </a:p>
        </p:txBody>
      </p:sp>
      <p:sp>
        <p:nvSpPr>
          <p:cNvPr id="36" name="TextBox 35"/>
          <p:cNvSpPr txBox="1"/>
          <p:nvPr/>
        </p:nvSpPr>
        <p:spPr>
          <a:xfrm>
            <a:off x="7086600" y="3493008"/>
            <a:ext cx="1463040" cy="347472"/>
          </a:xfrm>
          <a:prstGeom prst="rect">
            <a:avLst/>
          </a:prstGeom>
          <a:noFill/>
        </p:spPr>
        <p:txBody>
          <a:bodyPr wrap="square">
            <a:spAutoFit/>
          </a:bodyPr>
          <a:lstStyle/>
          <a:p>
            <a:pPr algn="ctr"/>
            <a:r>
              <a:rPr sz="1300" b="1" i="0">
                <a:solidFill>
                  <a:srgbClr val="F7931A"/>
                </a:solidFill>
              </a:rPr>
              <a:t>✗</a:t>
            </a:r>
          </a:p>
        </p:txBody>
      </p:sp>
      <p:sp>
        <p:nvSpPr>
          <p:cNvPr id="37" name="TextBox 36"/>
          <p:cNvSpPr txBox="1"/>
          <p:nvPr/>
        </p:nvSpPr>
        <p:spPr>
          <a:xfrm>
            <a:off x="8641080" y="3493008"/>
            <a:ext cx="1463040" cy="347472"/>
          </a:xfrm>
          <a:prstGeom prst="rect">
            <a:avLst/>
          </a:prstGeom>
          <a:noFill/>
        </p:spPr>
        <p:txBody>
          <a:bodyPr wrap="square">
            <a:spAutoFit/>
          </a:bodyPr>
          <a:lstStyle/>
          <a:p>
            <a:pPr algn="ctr"/>
            <a:r>
              <a:rPr sz="1300" b="1" i="0">
                <a:solidFill>
                  <a:srgbClr val="8899AA"/>
                </a:solidFill>
              </a:rPr>
              <a:t>~</a:t>
            </a:r>
          </a:p>
        </p:txBody>
      </p:sp>
      <p:sp>
        <p:nvSpPr>
          <p:cNvPr id="38" name="TextBox 37"/>
          <p:cNvSpPr txBox="1"/>
          <p:nvPr/>
        </p:nvSpPr>
        <p:spPr>
          <a:xfrm>
            <a:off x="10241280" y="3493008"/>
            <a:ext cx="1737360" cy="347472"/>
          </a:xfrm>
          <a:prstGeom prst="rect">
            <a:avLst/>
          </a:prstGeom>
          <a:noFill/>
        </p:spPr>
        <p:txBody>
          <a:bodyPr wrap="square">
            <a:spAutoFit/>
          </a:bodyPr>
          <a:lstStyle/>
          <a:p>
            <a:pPr algn="ctr"/>
            <a:r>
              <a:rPr sz="1300" b="1" i="0">
                <a:solidFill>
                  <a:srgbClr val="8899AA"/>
                </a:solidFill>
              </a:rPr>
              <a:t>~</a:t>
            </a:r>
          </a:p>
        </p:txBody>
      </p:sp>
      <p:sp>
        <p:nvSpPr>
          <p:cNvPr id="39" name="Rectangle 38"/>
          <p:cNvSpPr/>
          <p:nvPr/>
        </p:nvSpPr>
        <p:spPr>
          <a:xfrm>
            <a:off x="320040" y="3941064"/>
            <a:ext cx="11548872" cy="48463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4032504"/>
            <a:ext cx="1920240" cy="320040"/>
          </a:xfrm>
          <a:prstGeom prst="rect">
            <a:avLst/>
          </a:prstGeom>
          <a:noFill/>
        </p:spPr>
        <p:txBody>
          <a:bodyPr wrap="square">
            <a:spAutoFit/>
          </a:bodyPr>
          <a:lstStyle/>
          <a:p>
            <a:pPr algn="l"/>
            <a:r>
              <a:rPr sz="1100" b="0" i="0">
                <a:solidFill>
                  <a:srgbClr val="FAF7F0"/>
                </a:solidFill>
              </a:rPr>
              <a:t>Microsoft Agent Gov. Toolkit</a:t>
            </a:r>
          </a:p>
        </p:txBody>
      </p:sp>
      <p:sp>
        <p:nvSpPr>
          <p:cNvPr id="41" name="TextBox 40"/>
          <p:cNvSpPr txBox="1"/>
          <p:nvPr/>
        </p:nvSpPr>
        <p:spPr>
          <a:xfrm>
            <a:off x="2423160" y="4014216"/>
            <a:ext cx="1463040" cy="347472"/>
          </a:xfrm>
          <a:prstGeom prst="rect">
            <a:avLst/>
          </a:prstGeom>
          <a:noFill/>
        </p:spPr>
        <p:txBody>
          <a:bodyPr wrap="square">
            <a:spAutoFit/>
          </a:bodyPr>
          <a:lstStyle/>
          <a:p>
            <a:pPr algn="ctr"/>
            <a:r>
              <a:rPr sz="1300" b="1" i="0">
                <a:solidFill>
                  <a:srgbClr val="F7931A"/>
                </a:solidFill>
              </a:rPr>
              <a:t>✗</a:t>
            </a:r>
          </a:p>
        </p:txBody>
      </p:sp>
      <p:sp>
        <p:nvSpPr>
          <p:cNvPr id="42" name="TextBox 41"/>
          <p:cNvSpPr txBox="1"/>
          <p:nvPr/>
        </p:nvSpPr>
        <p:spPr>
          <a:xfrm>
            <a:off x="3977639" y="4014216"/>
            <a:ext cx="1463040" cy="347472"/>
          </a:xfrm>
          <a:prstGeom prst="rect">
            <a:avLst/>
          </a:prstGeom>
          <a:noFill/>
        </p:spPr>
        <p:txBody>
          <a:bodyPr wrap="square">
            <a:spAutoFit/>
          </a:bodyPr>
          <a:lstStyle/>
          <a:p>
            <a:pPr algn="ctr"/>
            <a:r>
              <a:rPr sz="1300" b="1" i="0">
                <a:solidFill>
                  <a:srgbClr val="20E898"/>
                </a:solidFill>
              </a:rPr>
              <a:t>✓</a:t>
            </a:r>
          </a:p>
        </p:txBody>
      </p:sp>
      <p:sp>
        <p:nvSpPr>
          <p:cNvPr id="43" name="TextBox 42"/>
          <p:cNvSpPr txBox="1"/>
          <p:nvPr/>
        </p:nvSpPr>
        <p:spPr>
          <a:xfrm>
            <a:off x="5532120" y="4014216"/>
            <a:ext cx="1463040" cy="347472"/>
          </a:xfrm>
          <a:prstGeom prst="rect">
            <a:avLst/>
          </a:prstGeom>
          <a:noFill/>
        </p:spPr>
        <p:txBody>
          <a:bodyPr wrap="square">
            <a:spAutoFit/>
          </a:bodyPr>
          <a:lstStyle/>
          <a:p>
            <a:pPr algn="ctr"/>
            <a:r>
              <a:rPr sz="1300" b="1" i="0">
                <a:solidFill>
                  <a:srgbClr val="F7931A"/>
                </a:solidFill>
              </a:rPr>
              <a:t>✗</a:t>
            </a:r>
          </a:p>
        </p:txBody>
      </p:sp>
      <p:sp>
        <p:nvSpPr>
          <p:cNvPr id="44" name="TextBox 43"/>
          <p:cNvSpPr txBox="1"/>
          <p:nvPr/>
        </p:nvSpPr>
        <p:spPr>
          <a:xfrm>
            <a:off x="7086600" y="4014216"/>
            <a:ext cx="1463040" cy="347472"/>
          </a:xfrm>
          <a:prstGeom prst="rect">
            <a:avLst/>
          </a:prstGeom>
          <a:noFill/>
        </p:spPr>
        <p:txBody>
          <a:bodyPr wrap="square">
            <a:spAutoFit/>
          </a:bodyPr>
          <a:lstStyle/>
          <a:p>
            <a:pPr algn="ctr"/>
            <a:r>
              <a:rPr sz="1300" b="1" i="0">
                <a:solidFill>
                  <a:srgbClr val="20E898"/>
                </a:solidFill>
              </a:rPr>
              <a:t>✓</a:t>
            </a:r>
          </a:p>
        </p:txBody>
      </p:sp>
      <p:sp>
        <p:nvSpPr>
          <p:cNvPr id="45" name="TextBox 44"/>
          <p:cNvSpPr txBox="1"/>
          <p:nvPr/>
        </p:nvSpPr>
        <p:spPr>
          <a:xfrm>
            <a:off x="8641080" y="4014216"/>
            <a:ext cx="1463040" cy="347472"/>
          </a:xfrm>
          <a:prstGeom prst="rect">
            <a:avLst/>
          </a:prstGeom>
          <a:noFill/>
        </p:spPr>
        <p:txBody>
          <a:bodyPr wrap="square">
            <a:spAutoFit/>
          </a:bodyPr>
          <a:lstStyle/>
          <a:p>
            <a:pPr algn="ctr"/>
            <a:r>
              <a:rPr sz="1300" b="1" i="0">
                <a:solidFill>
                  <a:srgbClr val="20E898"/>
                </a:solidFill>
              </a:rPr>
              <a:t>✓</a:t>
            </a:r>
          </a:p>
        </p:txBody>
      </p:sp>
      <p:sp>
        <p:nvSpPr>
          <p:cNvPr id="46" name="TextBox 45"/>
          <p:cNvSpPr txBox="1"/>
          <p:nvPr/>
        </p:nvSpPr>
        <p:spPr>
          <a:xfrm>
            <a:off x="10241280" y="4014216"/>
            <a:ext cx="1737360" cy="347472"/>
          </a:xfrm>
          <a:prstGeom prst="rect">
            <a:avLst/>
          </a:prstGeom>
          <a:noFill/>
        </p:spPr>
        <p:txBody>
          <a:bodyPr wrap="square">
            <a:spAutoFit/>
          </a:bodyPr>
          <a:lstStyle/>
          <a:p>
            <a:pPr algn="ctr"/>
            <a:r>
              <a:rPr sz="1300" b="1" i="0">
                <a:solidFill>
                  <a:srgbClr val="8899AA"/>
                </a:solidFill>
              </a:rPr>
              <a:t>~</a:t>
            </a:r>
          </a:p>
        </p:txBody>
      </p:sp>
      <p:sp>
        <p:nvSpPr>
          <p:cNvPr id="47" name="Rectangle 46"/>
          <p:cNvSpPr/>
          <p:nvPr/>
        </p:nvSpPr>
        <p:spPr>
          <a:xfrm>
            <a:off x="320040" y="4462272"/>
            <a:ext cx="11548872" cy="484632"/>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553712"/>
            <a:ext cx="1920240" cy="320040"/>
          </a:xfrm>
          <a:prstGeom prst="rect">
            <a:avLst/>
          </a:prstGeom>
          <a:noFill/>
        </p:spPr>
        <p:txBody>
          <a:bodyPr wrap="square">
            <a:spAutoFit/>
          </a:bodyPr>
          <a:lstStyle/>
          <a:p>
            <a:pPr algn="l"/>
            <a:r>
              <a:rPr sz="1100" b="0" i="0">
                <a:solidFill>
                  <a:srgbClr val="FAF7F0"/>
                </a:solidFill>
              </a:rPr>
              <a:t>VeritasChain VAP</a:t>
            </a:r>
          </a:p>
        </p:txBody>
      </p:sp>
      <p:sp>
        <p:nvSpPr>
          <p:cNvPr id="49" name="TextBox 48"/>
          <p:cNvSpPr txBox="1"/>
          <p:nvPr/>
        </p:nvSpPr>
        <p:spPr>
          <a:xfrm>
            <a:off x="2423160" y="4535424"/>
            <a:ext cx="1463040" cy="347472"/>
          </a:xfrm>
          <a:prstGeom prst="rect">
            <a:avLst/>
          </a:prstGeom>
          <a:noFill/>
        </p:spPr>
        <p:txBody>
          <a:bodyPr wrap="square">
            <a:spAutoFit/>
          </a:bodyPr>
          <a:lstStyle/>
          <a:p>
            <a:pPr algn="ctr"/>
            <a:r>
              <a:rPr sz="1300" b="1" i="0">
                <a:solidFill>
                  <a:srgbClr val="8899AA"/>
                </a:solidFill>
              </a:rPr>
              <a:t>~</a:t>
            </a:r>
          </a:p>
        </p:txBody>
      </p:sp>
      <p:sp>
        <p:nvSpPr>
          <p:cNvPr id="50" name="TextBox 49"/>
          <p:cNvSpPr txBox="1"/>
          <p:nvPr/>
        </p:nvSpPr>
        <p:spPr>
          <a:xfrm>
            <a:off x="3977639" y="4535424"/>
            <a:ext cx="1463040" cy="347472"/>
          </a:xfrm>
          <a:prstGeom prst="rect">
            <a:avLst/>
          </a:prstGeom>
          <a:noFill/>
        </p:spPr>
        <p:txBody>
          <a:bodyPr wrap="square">
            <a:spAutoFit/>
          </a:bodyPr>
          <a:lstStyle/>
          <a:p>
            <a:pPr algn="ctr"/>
            <a:r>
              <a:rPr sz="1300" b="1" i="0">
                <a:solidFill>
                  <a:srgbClr val="20E898"/>
                </a:solidFill>
              </a:rPr>
              <a:t>✓</a:t>
            </a:r>
          </a:p>
        </p:txBody>
      </p:sp>
      <p:sp>
        <p:nvSpPr>
          <p:cNvPr id="51" name="TextBox 50"/>
          <p:cNvSpPr txBox="1"/>
          <p:nvPr/>
        </p:nvSpPr>
        <p:spPr>
          <a:xfrm>
            <a:off x="5532120" y="4535424"/>
            <a:ext cx="1463040" cy="347472"/>
          </a:xfrm>
          <a:prstGeom prst="rect">
            <a:avLst/>
          </a:prstGeom>
          <a:noFill/>
        </p:spPr>
        <p:txBody>
          <a:bodyPr wrap="square">
            <a:spAutoFit/>
          </a:bodyPr>
          <a:lstStyle/>
          <a:p>
            <a:pPr algn="ctr"/>
            <a:r>
              <a:rPr sz="1300" b="1" i="0">
                <a:solidFill>
                  <a:srgbClr val="F7931A"/>
                </a:solidFill>
              </a:rPr>
              <a:t>✗</a:t>
            </a:r>
          </a:p>
        </p:txBody>
      </p:sp>
      <p:sp>
        <p:nvSpPr>
          <p:cNvPr id="52" name="TextBox 51"/>
          <p:cNvSpPr txBox="1"/>
          <p:nvPr/>
        </p:nvSpPr>
        <p:spPr>
          <a:xfrm>
            <a:off x="7086600" y="4535424"/>
            <a:ext cx="1463040" cy="347472"/>
          </a:xfrm>
          <a:prstGeom prst="rect">
            <a:avLst/>
          </a:prstGeom>
          <a:noFill/>
        </p:spPr>
        <p:txBody>
          <a:bodyPr wrap="square">
            <a:spAutoFit/>
          </a:bodyPr>
          <a:lstStyle/>
          <a:p>
            <a:pPr algn="ctr"/>
            <a:r>
              <a:rPr sz="1300" b="1" i="0">
                <a:solidFill>
                  <a:srgbClr val="20E898"/>
                </a:solidFill>
              </a:rPr>
              <a:t>✓</a:t>
            </a:r>
          </a:p>
        </p:txBody>
      </p:sp>
      <p:sp>
        <p:nvSpPr>
          <p:cNvPr id="53" name="TextBox 52"/>
          <p:cNvSpPr txBox="1"/>
          <p:nvPr/>
        </p:nvSpPr>
        <p:spPr>
          <a:xfrm>
            <a:off x="8641080" y="4535424"/>
            <a:ext cx="1463040" cy="347472"/>
          </a:xfrm>
          <a:prstGeom prst="rect">
            <a:avLst/>
          </a:prstGeom>
          <a:noFill/>
        </p:spPr>
        <p:txBody>
          <a:bodyPr wrap="square">
            <a:spAutoFit/>
          </a:bodyPr>
          <a:lstStyle/>
          <a:p>
            <a:pPr algn="ctr"/>
            <a:r>
              <a:rPr sz="1300" b="1" i="0">
                <a:solidFill>
                  <a:srgbClr val="F7931A"/>
                </a:solidFill>
              </a:rPr>
              <a:t>✗</a:t>
            </a:r>
          </a:p>
        </p:txBody>
      </p:sp>
      <p:sp>
        <p:nvSpPr>
          <p:cNvPr id="54" name="TextBox 53"/>
          <p:cNvSpPr txBox="1"/>
          <p:nvPr/>
        </p:nvSpPr>
        <p:spPr>
          <a:xfrm>
            <a:off x="10241280" y="4535424"/>
            <a:ext cx="1737360" cy="347472"/>
          </a:xfrm>
          <a:prstGeom prst="rect">
            <a:avLst/>
          </a:prstGeom>
          <a:noFill/>
        </p:spPr>
        <p:txBody>
          <a:bodyPr wrap="square">
            <a:spAutoFit/>
          </a:bodyPr>
          <a:lstStyle/>
          <a:p>
            <a:pPr algn="ctr"/>
            <a:r>
              <a:rPr sz="1300" b="1" i="0">
                <a:solidFill>
                  <a:srgbClr val="F7931A"/>
                </a:solidFill>
              </a:rPr>
              <a:t>✗</a:t>
            </a:r>
          </a:p>
        </p:txBody>
      </p:sp>
      <p:sp>
        <p:nvSpPr>
          <p:cNvPr id="55" name="Rectangle 54"/>
          <p:cNvSpPr/>
          <p:nvPr/>
        </p:nvSpPr>
        <p:spPr>
          <a:xfrm>
            <a:off x="320040" y="4983479"/>
            <a:ext cx="11548872" cy="48463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 y="5074919"/>
            <a:ext cx="1920240" cy="320040"/>
          </a:xfrm>
          <a:prstGeom prst="rect">
            <a:avLst/>
          </a:prstGeom>
          <a:noFill/>
        </p:spPr>
        <p:txBody>
          <a:bodyPr wrap="square">
            <a:spAutoFit/>
          </a:bodyPr>
          <a:lstStyle/>
          <a:p>
            <a:pPr algn="l"/>
            <a:r>
              <a:rPr sz="1100" b="0" i="0">
                <a:solidFill>
                  <a:srgbClr val="FAF7F0"/>
                </a:solidFill>
              </a:rPr>
              <a:t>Simple Proof</a:t>
            </a:r>
          </a:p>
        </p:txBody>
      </p:sp>
      <p:sp>
        <p:nvSpPr>
          <p:cNvPr id="57" name="TextBox 56"/>
          <p:cNvSpPr txBox="1"/>
          <p:nvPr/>
        </p:nvSpPr>
        <p:spPr>
          <a:xfrm>
            <a:off x="2423160" y="5056631"/>
            <a:ext cx="1463040" cy="347472"/>
          </a:xfrm>
          <a:prstGeom prst="rect">
            <a:avLst/>
          </a:prstGeom>
          <a:noFill/>
        </p:spPr>
        <p:txBody>
          <a:bodyPr wrap="square">
            <a:spAutoFit/>
          </a:bodyPr>
          <a:lstStyle/>
          <a:p>
            <a:pPr algn="ctr"/>
            <a:r>
              <a:rPr sz="1300" b="1" i="0">
                <a:solidFill>
                  <a:srgbClr val="20E898"/>
                </a:solidFill>
              </a:rPr>
              <a:t>✓</a:t>
            </a:r>
          </a:p>
        </p:txBody>
      </p:sp>
      <p:sp>
        <p:nvSpPr>
          <p:cNvPr id="58" name="TextBox 57"/>
          <p:cNvSpPr txBox="1"/>
          <p:nvPr/>
        </p:nvSpPr>
        <p:spPr>
          <a:xfrm>
            <a:off x="3977639" y="5056631"/>
            <a:ext cx="1463040" cy="347472"/>
          </a:xfrm>
          <a:prstGeom prst="rect">
            <a:avLst/>
          </a:prstGeom>
          <a:noFill/>
        </p:spPr>
        <p:txBody>
          <a:bodyPr wrap="square">
            <a:spAutoFit/>
          </a:bodyPr>
          <a:lstStyle/>
          <a:p>
            <a:pPr algn="ctr"/>
            <a:r>
              <a:rPr sz="1300" b="1" i="0">
                <a:solidFill>
                  <a:srgbClr val="8899AA"/>
                </a:solidFill>
              </a:rPr>
              <a:t>~</a:t>
            </a:r>
          </a:p>
        </p:txBody>
      </p:sp>
      <p:sp>
        <p:nvSpPr>
          <p:cNvPr id="59" name="TextBox 58"/>
          <p:cNvSpPr txBox="1"/>
          <p:nvPr/>
        </p:nvSpPr>
        <p:spPr>
          <a:xfrm>
            <a:off x="5532120" y="5056631"/>
            <a:ext cx="1463040" cy="347472"/>
          </a:xfrm>
          <a:prstGeom prst="rect">
            <a:avLst/>
          </a:prstGeom>
          <a:noFill/>
        </p:spPr>
        <p:txBody>
          <a:bodyPr wrap="square">
            <a:spAutoFit/>
          </a:bodyPr>
          <a:lstStyle/>
          <a:p>
            <a:pPr algn="ctr"/>
            <a:r>
              <a:rPr sz="1300" b="1" i="0">
                <a:solidFill>
                  <a:srgbClr val="20E898"/>
                </a:solidFill>
              </a:rPr>
              <a:t>✓</a:t>
            </a:r>
          </a:p>
        </p:txBody>
      </p:sp>
      <p:sp>
        <p:nvSpPr>
          <p:cNvPr id="60" name="TextBox 59"/>
          <p:cNvSpPr txBox="1"/>
          <p:nvPr/>
        </p:nvSpPr>
        <p:spPr>
          <a:xfrm>
            <a:off x="7086600" y="5056631"/>
            <a:ext cx="1463040" cy="347472"/>
          </a:xfrm>
          <a:prstGeom prst="rect">
            <a:avLst/>
          </a:prstGeom>
          <a:noFill/>
        </p:spPr>
        <p:txBody>
          <a:bodyPr wrap="square">
            <a:spAutoFit/>
          </a:bodyPr>
          <a:lstStyle/>
          <a:p>
            <a:pPr algn="ctr"/>
            <a:r>
              <a:rPr sz="1300" b="1" i="0">
                <a:solidFill>
                  <a:srgbClr val="F7931A"/>
                </a:solidFill>
              </a:rPr>
              <a:t>✗</a:t>
            </a:r>
          </a:p>
        </p:txBody>
      </p:sp>
      <p:sp>
        <p:nvSpPr>
          <p:cNvPr id="61" name="TextBox 60"/>
          <p:cNvSpPr txBox="1"/>
          <p:nvPr/>
        </p:nvSpPr>
        <p:spPr>
          <a:xfrm>
            <a:off x="8641080" y="5056631"/>
            <a:ext cx="1463040" cy="347472"/>
          </a:xfrm>
          <a:prstGeom prst="rect">
            <a:avLst/>
          </a:prstGeom>
          <a:noFill/>
        </p:spPr>
        <p:txBody>
          <a:bodyPr wrap="square">
            <a:spAutoFit/>
          </a:bodyPr>
          <a:lstStyle/>
          <a:p>
            <a:pPr algn="ctr"/>
            <a:r>
              <a:rPr sz="1300" b="1" i="0">
                <a:solidFill>
                  <a:srgbClr val="F7931A"/>
                </a:solidFill>
              </a:rPr>
              <a:t>✗</a:t>
            </a:r>
          </a:p>
        </p:txBody>
      </p:sp>
      <p:sp>
        <p:nvSpPr>
          <p:cNvPr id="62" name="TextBox 61"/>
          <p:cNvSpPr txBox="1"/>
          <p:nvPr/>
        </p:nvSpPr>
        <p:spPr>
          <a:xfrm>
            <a:off x="10241280" y="5056631"/>
            <a:ext cx="1737360" cy="347472"/>
          </a:xfrm>
          <a:prstGeom prst="rect">
            <a:avLst/>
          </a:prstGeom>
          <a:noFill/>
        </p:spPr>
        <p:txBody>
          <a:bodyPr wrap="square">
            <a:spAutoFit/>
          </a:bodyPr>
          <a:lstStyle/>
          <a:p>
            <a:pPr algn="ctr"/>
            <a:r>
              <a:rPr sz="1300" b="1" i="0">
                <a:solidFill>
                  <a:srgbClr val="F7931A"/>
                </a:solidFill>
              </a:rPr>
              <a:t>✗</a:t>
            </a:r>
          </a:p>
        </p:txBody>
      </p:sp>
      <p:sp>
        <p:nvSpPr>
          <p:cNvPr id="63" name="Rectangle 62"/>
          <p:cNvSpPr/>
          <p:nvPr/>
        </p:nvSpPr>
        <p:spPr>
          <a:xfrm>
            <a:off x="320040" y="5504688"/>
            <a:ext cx="11548872" cy="484632"/>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5596128"/>
            <a:ext cx="1920240" cy="320040"/>
          </a:xfrm>
          <a:prstGeom prst="rect">
            <a:avLst/>
          </a:prstGeom>
          <a:noFill/>
        </p:spPr>
        <p:txBody>
          <a:bodyPr wrap="square">
            <a:spAutoFit/>
          </a:bodyPr>
          <a:lstStyle/>
          <a:p>
            <a:pPr algn="l"/>
            <a:r>
              <a:rPr sz="1100" b="0" i="0">
                <a:solidFill>
                  <a:srgbClr val="FAF7F0"/>
                </a:solidFill>
              </a:rPr>
              <a:t>ERC-8004 (Ethereum)</a:t>
            </a:r>
          </a:p>
        </p:txBody>
      </p:sp>
      <p:sp>
        <p:nvSpPr>
          <p:cNvPr id="65" name="TextBox 64"/>
          <p:cNvSpPr txBox="1"/>
          <p:nvPr/>
        </p:nvSpPr>
        <p:spPr>
          <a:xfrm>
            <a:off x="2423160" y="5577840"/>
            <a:ext cx="1463040" cy="347472"/>
          </a:xfrm>
          <a:prstGeom prst="rect">
            <a:avLst/>
          </a:prstGeom>
          <a:noFill/>
        </p:spPr>
        <p:txBody>
          <a:bodyPr wrap="square">
            <a:spAutoFit/>
          </a:bodyPr>
          <a:lstStyle/>
          <a:p>
            <a:pPr algn="ctr"/>
            <a:r>
              <a:rPr sz="1300" b="1" i="0">
                <a:solidFill>
                  <a:srgbClr val="20E898"/>
                </a:solidFill>
              </a:rPr>
              <a:t>✓</a:t>
            </a:r>
          </a:p>
        </p:txBody>
      </p:sp>
      <p:sp>
        <p:nvSpPr>
          <p:cNvPr id="66" name="TextBox 65"/>
          <p:cNvSpPr txBox="1"/>
          <p:nvPr/>
        </p:nvSpPr>
        <p:spPr>
          <a:xfrm>
            <a:off x="3977639" y="5577840"/>
            <a:ext cx="1463040" cy="347472"/>
          </a:xfrm>
          <a:prstGeom prst="rect">
            <a:avLst/>
          </a:prstGeom>
          <a:noFill/>
        </p:spPr>
        <p:txBody>
          <a:bodyPr wrap="square">
            <a:spAutoFit/>
          </a:bodyPr>
          <a:lstStyle/>
          <a:p>
            <a:pPr algn="ctr"/>
            <a:r>
              <a:rPr sz="1300" b="1" i="0">
                <a:solidFill>
                  <a:srgbClr val="20E898"/>
                </a:solidFill>
              </a:rPr>
              <a:t>✓</a:t>
            </a:r>
          </a:p>
        </p:txBody>
      </p:sp>
      <p:sp>
        <p:nvSpPr>
          <p:cNvPr id="67" name="TextBox 66"/>
          <p:cNvSpPr txBox="1"/>
          <p:nvPr/>
        </p:nvSpPr>
        <p:spPr>
          <a:xfrm>
            <a:off x="5532120" y="5577840"/>
            <a:ext cx="1463040" cy="347472"/>
          </a:xfrm>
          <a:prstGeom prst="rect">
            <a:avLst/>
          </a:prstGeom>
          <a:noFill/>
        </p:spPr>
        <p:txBody>
          <a:bodyPr wrap="square">
            <a:spAutoFit/>
          </a:bodyPr>
          <a:lstStyle/>
          <a:p>
            <a:pPr algn="ctr"/>
            <a:r>
              <a:rPr sz="1300" b="1" i="0">
                <a:solidFill>
                  <a:srgbClr val="F7931A"/>
                </a:solidFill>
              </a:rPr>
              <a:t>✗</a:t>
            </a:r>
          </a:p>
        </p:txBody>
      </p:sp>
      <p:sp>
        <p:nvSpPr>
          <p:cNvPr id="68" name="TextBox 67"/>
          <p:cNvSpPr txBox="1"/>
          <p:nvPr/>
        </p:nvSpPr>
        <p:spPr>
          <a:xfrm>
            <a:off x="7086600" y="5577840"/>
            <a:ext cx="1463040" cy="347472"/>
          </a:xfrm>
          <a:prstGeom prst="rect">
            <a:avLst/>
          </a:prstGeom>
          <a:noFill/>
        </p:spPr>
        <p:txBody>
          <a:bodyPr wrap="square">
            <a:spAutoFit/>
          </a:bodyPr>
          <a:lstStyle/>
          <a:p>
            <a:pPr algn="ctr"/>
            <a:r>
              <a:rPr sz="1300" b="1" i="0">
                <a:solidFill>
                  <a:srgbClr val="8899AA"/>
                </a:solidFill>
              </a:rPr>
              <a:t>~</a:t>
            </a:r>
          </a:p>
        </p:txBody>
      </p:sp>
      <p:sp>
        <p:nvSpPr>
          <p:cNvPr id="69" name="TextBox 68"/>
          <p:cNvSpPr txBox="1"/>
          <p:nvPr/>
        </p:nvSpPr>
        <p:spPr>
          <a:xfrm>
            <a:off x="8641080" y="5577840"/>
            <a:ext cx="1463040" cy="347472"/>
          </a:xfrm>
          <a:prstGeom prst="rect">
            <a:avLst/>
          </a:prstGeom>
          <a:noFill/>
        </p:spPr>
        <p:txBody>
          <a:bodyPr wrap="square">
            <a:spAutoFit/>
          </a:bodyPr>
          <a:lstStyle/>
          <a:p>
            <a:pPr algn="ctr"/>
            <a:r>
              <a:rPr sz="1300" b="1" i="0">
                <a:solidFill>
                  <a:srgbClr val="F7931A"/>
                </a:solidFill>
              </a:rPr>
              <a:t>✗</a:t>
            </a:r>
          </a:p>
        </p:txBody>
      </p:sp>
      <p:sp>
        <p:nvSpPr>
          <p:cNvPr id="70" name="TextBox 69"/>
          <p:cNvSpPr txBox="1"/>
          <p:nvPr/>
        </p:nvSpPr>
        <p:spPr>
          <a:xfrm>
            <a:off x="10241280" y="5577840"/>
            <a:ext cx="1737360" cy="347472"/>
          </a:xfrm>
          <a:prstGeom prst="rect">
            <a:avLst/>
          </a:prstGeom>
          <a:noFill/>
        </p:spPr>
        <p:txBody>
          <a:bodyPr wrap="square">
            <a:spAutoFit/>
          </a:bodyPr>
          <a:lstStyle/>
          <a:p>
            <a:pPr algn="ctr"/>
            <a:r>
              <a:rPr sz="1300" b="1" i="0">
                <a:solidFill>
                  <a:srgbClr val="F7931A"/>
                </a:solidFill>
              </a:rPr>
              <a:t>✗</a:t>
            </a:r>
          </a:p>
        </p:txBody>
      </p:sp>
      <p:sp>
        <p:nvSpPr>
          <p:cNvPr id="71" name="Rectangle 70"/>
          <p:cNvSpPr/>
          <p:nvPr/>
        </p:nvSpPr>
        <p:spPr>
          <a:xfrm>
            <a:off x="320040" y="6025896"/>
            <a:ext cx="11548872" cy="48463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80" y="6117336"/>
            <a:ext cx="1920240" cy="320040"/>
          </a:xfrm>
          <a:prstGeom prst="rect">
            <a:avLst/>
          </a:prstGeom>
          <a:noFill/>
        </p:spPr>
        <p:txBody>
          <a:bodyPr wrap="square">
            <a:spAutoFit/>
          </a:bodyPr>
          <a:lstStyle/>
          <a:p>
            <a:pPr algn="l"/>
            <a:r>
              <a:rPr sz="1100" b="0" i="0">
                <a:solidFill>
                  <a:srgbClr val="FAF7F0"/>
                </a:solidFill>
              </a:rPr>
              <a:t>Traditional Notarization</a:t>
            </a:r>
          </a:p>
        </p:txBody>
      </p:sp>
      <p:sp>
        <p:nvSpPr>
          <p:cNvPr id="73" name="TextBox 72"/>
          <p:cNvSpPr txBox="1"/>
          <p:nvPr/>
        </p:nvSpPr>
        <p:spPr>
          <a:xfrm>
            <a:off x="2423160" y="6099048"/>
            <a:ext cx="1463040" cy="347472"/>
          </a:xfrm>
          <a:prstGeom prst="rect">
            <a:avLst/>
          </a:prstGeom>
          <a:noFill/>
        </p:spPr>
        <p:txBody>
          <a:bodyPr wrap="square">
            <a:spAutoFit/>
          </a:bodyPr>
          <a:lstStyle/>
          <a:p>
            <a:pPr algn="ctr"/>
            <a:r>
              <a:rPr sz="1300" b="1" i="0">
                <a:solidFill>
                  <a:srgbClr val="F7931A"/>
                </a:solidFill>
              </a:rPr>
              <a:t>✗</a:t>
            </a:r>
          </a:p>
        </p:txBody>
      </p:sp>
      <p:sp>
        <p:nvSpPr>
          <p:cNvPr id="74" name="TextBox 73"/>
          <p:cNvSpPr txBox="1"/>
          <p:nvPr/>
        </p:nvSpPr>
        <p:spPr>
          <a:xfrm>
            <a:off x="3977639" y="6099048"/>
            <a:ext cx="1463040" cy="347472"/>
          </a:xfrm>
          <a:prstGeom prst="rect">
            <a:avLst/>
          </a:prstGeom>
          <a:noFill/>
        </p:spPr>
        <p:txBody>
          <a:bodyPr wrap="square">
            <a:spAutoFit/>
          </a:bodyPr>
          <a:lstStyle/>
          <a:p>
            <a:pPr algn="ctr"/>
            <a:r>
              <a:rPr sz="1300" b="1" i="0">
                <a:solidFill>
                  <a:srgbClr val="F7931A"/>
                </a:solidFill>
              </a:rPr>
              <a:t>✗</a:t>
            </a:r>
          </a:p>
        </p:txBody>
      </p:sp>
      <p:sp>
        <p:nvSpPr>
          <p:cNvPr id="75" name="TextBox 74"/>
          <p:cNvSpPr txBox="1"/>
          <p:nvPr/>
        </p:nvSpPr>
        <p:spPr>
          <a:xfrm>
            <a:off x="5532120" y="6099048"/>
            <a:ext cx="1463040" cy="347472"/>
          </a:xfrm>
          <a:prstGeom prst="rect">
            <a:avLst/>
          </a:prstGeom>
          <a:noFill/>
        </p:spPr>
        <p:txBody>
          <a:bodyPr wrap="square">
            <a:spAutoFit/>
          </a:bodyPr>
          <a:lstStyle/>
          <a:p>
            <a:pPr algn="ctr"/>
            <a:r>
              <a:rPr sz="1300" b="1" i="0">
                <a:solidFill>
                  <a:srgbClr val="F7931A"/>
                </a:solidFill>
              </a:rPr>
              <a:t>✗</a:t>
            </a:r>
          </a:p>
        </p:txBody>
      </p:sp>
      <p:sp>
        <p:nvSpPr>
          <p:cNvPr id="76" name="TextBox 75"/>
          <p:cNvSpPr txBox="1"/>
          <p:nvPr/>
        </p:nvSpPr>
        <p:spPr>
          <a:xfrm>
            <a:off x="7086600" y="6099048"/>
            <a:ext cx="1463040" cy="347472"/>
          </a:xfrm>
          <a:prstGeom prst="rect">
            <a:avLst/>
          </a:prstGeom>
          <a:noFill/>
        </p:spPr>
        <p:txBody>
          <a:bodyPr wrap="square">
            <a:spAutoFit/>
          </a:bodyPr>
          <a:lstStyle/>
          <a:p>
            <a:pPr algn="ctr"/>
            <a:r>
              <a:rPr sz="1300" b="1" i="0">
                <a:solidFill>
                  <a:srgbClr val="F7931A"/>
                </a:solidFill>
              </a:rPr>
              <a:t>✗</a:t>
            </a:r>
          </a:p>
        </p:txBody>
      </p:sp>
      <p:sp>
        <p:nvSpPr>
          <p:cNvPr id="77" name="TextBox 76"/>
          <p:cNvSpPr txBox="1"/>
          <p:nvPr/>
        </p:nvSpPr>
        <p:spPr>
          <a:xfrm>
            <a:off x="8641080" y="6099048"/>
            <a:ext cx="1463040" cy="347472"/>
          </a:xfrm>
          <a:prstGeom prst="rect">
            <a:avLst/>
          </a:prstGeom>
          <a:noFill/>
        </p:spPr>
        <p:txBody>
          <a:bodyPr wrap="square">
            <a:spAutoFit/>
          </a:bodyPr>
          <a:lstStyle/>
          <a:p>
            <a:pPr algn="ctr"/>
            <a:r>
              <a:rPr sz="1300" b="1" i="0">
                <a:solidFill>
                  <a:srgbClr val="20E898"/>
                </a:solidFill>
              </a:rPr>
              <a:t>✓</a:t>
            </a:r>
          </a:p>
        </p:txBody>
      </p:sp>
      <p:sp>
        <p:nvSpPr>
          <p:cNvPr id="78" name="TextBox 77"/>
          <p:cNvSpPr txBox="1"/>
          <p:nvPr/>
        </p:nvSpPr>
        <p:spPr>
          <a:xfrm>
            <a:off x="10241280" y="6099048"/>
            <a:ext cx="1737360" cy="347472"/>
          </a:xfrm>
          <a:prstGeom prst="rect">
            <a:avLst/>
          </a:prstGeom>
          <a:noFill/>
        </p:spPr>
        <p:txBody>
          <a:bodyPr wrap="square">
            <a:spAutoFit/>
          </a:bodyPr>
          <a:lstStyle/>
          <a:p>
            <a:pPr algn="ctr"/>
            <a:r>
              <a:rPr sz="1300" b="1" i="0">
                <a:solidFill>
                  <a:srgbClr val="F7931A"/>
                </a:solidFill>
              </a:rPr>
              <a:t>✗</a:t>
            </a:r>
          </a:p>
        </p:txBody>
      </p:sp>
      <p:sp>
        <p:nvSpPr>
          <p:cNvPr id="79" name="Rectangle 78"/>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MARKET VALIDATION</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600" b="1" i="0">
                <a:solidFill>
                  <a:srgbClr val="FFFFFF"/>
                </a:solidFill>
              </a:rPr>
              <a:t>The market is being validated by capital and acquisition.</a:t>
            </a:r>
          </a:p>
        </p:txBody>
      </p:sp>
      <p:sp>
        <p:nvSpPr>
          <p:cNvPr id="7" name="Rectangle 6"/>
          <p:cNvSpPr/>
          <p:nvPr/>
        </p:nvSpPr>
        <p:spPr>
          <a:xfrm>
            <a:off x="320040" y="1920240"/>
            <a:ext cx="11548872" cy="84124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75104"/>
            <a:ext cx="2286000" cy="347472"/>
          </a:xfrm>
          <a:prstGeom prst="rect">
            <a:avLst/>
          </a:prstGeom>
          <a:noFill/>
        </p:spPr>
        <p:txBody>
          <a:bodyPr wrap="square">
            <a:spAutoFit/>
          </a:bodyPr>
          <a:lstStyle/>
          <a:p>
            <a:pPr algn="l"/>
            <a:r>
              <a:rPr sz="1300" b="1" i="0">
                <a:solidFill>
                  <a:srgbClr val="FFFFFF"/>
                </a:solidFill>
              </a:rPr>
              <a:t>DataTrails</a:t>
            </a:r>
          </a:p>
        </p:txBody>
      </p:sp>
      <p:sp>
        <p:nvSpPr>
          <p:cNvPr id="9" name="TextBox 8"/>
          <p:cNvSpPr txBox="1"/>
          <p:nvPr/>
        </p:nvSpPr>
        <p:spPr>
          <a:xfrm>
            <a:off x="2834640" y="1975104"/>
            <a:ext cx="1097280" cy="320040"/>
          </a:xfrm>
          <a:prstGeom prst="rect">
            <a:avLst/>
          </a:prstGeom>
          <a:noFill/>
        </p:spPr>
        <p:txBody>
          <a:bodyPr wrap="square">
            <a:spAutoFit/>
          </a:bodyPr>
          <a:lstStyle/>
          <a:p>
            <a:pPr algn="ctr"/>
            <a:r>
              <a:rPr sz="1100" b="0" i="0">
                <a:solidFill>
                  <a:srgbClr val="8899AA"/>
                </a:solidFill>
              </a:rPr>
              <a:t>Aug 2025</a:t>
            </a:r>
          </a:p>
        </p:txBody>
      </p:sp>
      <p:sp>
        <p:nvSpPr>
          <p:cNvPr id="10" name="TextBox 9"/>
          <p:cNvSpPr txBox="1"/>
          <p:nvPr/>
        </p:nvSpPr>
        <p:spPr>
          <a:xfrm>
            <a:off x="4023360" y="1975104"/>
            <a:ext cx="2011680" cy="320040"/>
          </a:xfrm>
          <a:prstGeom prst="rect">
            <a:avLst/>
          </a:prstGeom>
          <a:noFill/>
        </p:spPr>
        <p:txBody>
          <a:bodyPr wrap="square">
            <a:spAutoFit/>
          </a:bodyPr>
          <a:lstStyle/>
          <a:p>
            <a:pPr algn="l"/>
            <a:r>
              <a:rPr sz="1200" b="1" i="0">
                <a:solidFill>
                  <a:srgbClr val="20E898"/>
                </a:solidFill>
              </a:rPr>
              <a:t>Acquired</a:t>
            </a:r>
          </a:p>
        </p:txBody>
      </p:sp>
      <p:sp>
        <p:nvSpPr>
          <p:cNvPr id="11" name="TextBox 10"/>
          <p:cNvSpPr txBox="1"/>
          <p:nvPr/>
        </p:nvSpPr>
        <p:spPr>
          <a:xfrm>
            <a:off x="6217920" y="1975104"/>
            <a:ext cx="2560320" cy="320040"/>
          </a:xfrm>
          <a:prstGeom prst="rect">
            <a:avLst/>
          </a:prstGeom>
          <a:noFill/>
        </p:spPr>
        <p:txBody>
          <a:bodyPr wrap="square">
            <a:spAutoFit/>
          </a:bodyPr>
          <a:lstStyle/>
          <a:p>
            <a:pPr algn="l"/>
            <a:r>
              <a:rPr sz="1100" b="0" i="0">
                <a:solidFill>
                  <a:srgbClr val="FAF7F0"/>
                </a:solidFill>
              </a:rPr>
              <a:t>Undisclosed</a:t>
            </a:r>
          </a:p>
        </p:txBody>
      </p:sp>
      <p:sp>
        <p:nvSpPr>
          <p:cNvPr id="12" name="TextBox 11"/>
          <p:cNvSpPr txBox="1"/>
          <p:nvPr/>
        </p:nvSpPr>
        <p:spPr>
          <a:xfrm>
            <a:off x="457200" y="2359152"/>
            <a:ext cx="11155680" cy="347472"/>
          </a:xfrm>
          <a:prstGeom prst="rect">
            <a:avLst/>
          </a:prstGeom>
          <a:noFill/>
        </p:spPr>
        <p:txBody>
          <a:bodyPr wrap="square">
            <a:spAutoFit/>
          </a:bodyPr>
          <a:lstStyle/>
          <a:p>
            <a:pPr algn="l"/>
            <a:r>
              <a:rPr sz="1000" b="0" i="1">
                <a:solidFill>
                  <a:srgbClr val="8899AA"/>
                </a:solidFill>
              </a:rPr>
              <a:t>SCITT-based provenance for supply chains. Acquisition validates enterprise demand for cryptographic provenance at exit.</a:t>
            </a:r>
          </a:p>
        </p:txBody>
      </p:sp>
      <p:sp>
        <p:nvSpPr>
          <p:cNvPr id="13" name="Rectangle 12"/>
          <p:cNvSpPr/>
          <p:nvPr/>
        </p:nvSpPr>
        <p:spPr>
          <a:xfrm>
            <a:off x="320040" y="2852928"/>
            <a:ext cx="11548872" cy="84124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907792"/>
            <a:ext cx="2286000" cy="347472"/>
          </a:xfrm>
          <a:prstGeom prst="rect">
            <a:avLst/>
          </a:prstGeom>
          <a:noFill/>
        </p:spPr>
        <p:txBody>
          <a:bodyPr wrap="square">
            <a:spAutoFit/>
          </a:bodyPr>
          <a:lstStyle/>
          <a:p>
            <a:pPr algn="l"/>
            <a:r>
              <a:rPr sz="1300" b="1" i="0">
                <a:solidFill>
                  <a:srgbClr val="FFFFFF"/>
                </a:solidFill>
              </a:rPr>
              <a:t>Truepic</a:t>
            </a:r>
          </a:p>
        </p:txBody>
      </p:sp>
      <p:sp>
        <p:nvSpPr>
          <p:cNvPr id="15" name="TextBox 14"/>
          <p:cNvSpPr txBox="1"/>
          <p:nvPr/>
        </p:nvSpPr>
        <p:spPr>
          <a:xfrm>
            <a:off x="2834640" y="2907792"/>
            <a:ext cx="1097280" cy="320040"/>
          </a:xfrm>
          <a:prstGeom prst="rect">
            <a:avLst/>
          </a:prstGeom>
          <a:noFill/>
        </p:spPr>
        <p:txBody>
          <a:bodyPr wrap="square">
            <a:spAutoFit/>
          </a:bodyPr>
          <a:lstStyle/>
          <a:p>
            <a:pPr algn="ctr"/>
            <a:r>
              <a:rPr sz="1100" b="0" i="0">
                <a:solidFill>
                  <a:srgbClr val="8899AA"/>
                </a:solidFill>
              </a:rPr>
              <a:t>2024</a:t>
            </a:r>
          </a:p>
        </p:txBody>
      </p:sp>
      <p:sp>
        <p:nvSpPr>
          <p:cNvPr id="16" name="TextBox 15"/>
          <p:cNvSpPr txBox="1"/>
          <p:nvPr/>
        </p:nvSpPr>
        <p:spPr>
          <a:xfrm>
            <a:off x="4023360" y="2907792"/>
            <a:ext cx="2011680" cy="320040"/>
          </a:xfrm>
          <a:prstGeom prst="rect">
            <a:avLst/>
          </a:prstGeom>
          <a:noFill/>
        </p:spPr>
        <p:txBody>
          <a:bodyPr wrap="square">
            <a:spAutoFit/>
          </a:bodyPr>
          <a:lstStyle/>
          <a:p>
            <a:pPr algn="l"/>
            <a:r>
              <a:rPr sz="1200" b="1" i="0">
                <a:solidFill>
                  <a:srgbClr val="20E898"/>
                </a:solidFill>
              </a:rPr>
              <a:t>$26M Series B</a:t>
            </a:r>
          </a:p>
        </p:txBody>
      </p:sp>
      <p:sp>
        <p:nvSpPr>
          <p:cNvPr id="17" name="TextBox 16"/>
          <p:cNvSpPr txBox="1"/>
          <p:nvPr/>
        </p:nvSpPr>
        <p:spPr>
          <a:xfrm>
            <a:off x="6217920" y="2907792"/>
            <a:ext cx="2560320" cy="320040"/>
          </a:xfrm>
          <a:prstGeom prst="rect">
            <a:avLst/>
          </a:prstGeom>
          <a:noFill/>
        </p:spPr>
        <p:txBody>
          <a:bodyPr wrap="square">
            <a:spAutoFit/>
          </a:bodyPr>
          <a:lstStyle/>
          <a:p>
            <a:pPr algn="l"/>
            <a:r>
              <a:rPr sz="1100" b="0" i="0">
                <a:solidFill>
                  <a:srgbClr val="FAF7F0"/>
                </a:solidFill>
              </a:rPr>
              <a:t>M12 (Microsoft)</a:t>
            </a:r>
          </a:p>
        </p:txBody>
      </p:sp>
      <p:sp>
        <p:nvSpPr>
          <p:cNvPr id="18" name="TextBox 17"/>
          <p:cNvSpPr txBox="1"/>
          <p:nvPr/>
        </p:nvSpPr>
        <p:spPr>
          <a:xfrm>
            <a:off x="457200" y="3291840"/>
            <a:ext cx="11155680" cy="347472"/>
          </a:xfrm>
          <a:prstGeom prst="rect">
            <a:avLst/>
          </a:prstGeom>
          <a:noFill/>
        </p:spPr>
        <p:txBody>
          <a:bodyPr wrap="square">
            <a:spAutoFit/>
          </a:bodyPr>
          <a:lstStyle/>
          <a:p>
            <a:pPr algn="l"/>
            <a:r>
              <a:rPr sz="1000" b="0" i="1">
                <a:solidFill>
                  <a:srgbClr val="8899AA"/>
                </a:solidFill>
              </a:rPr>
              <a:t>Photo/video authenticity for insurance and legal. Microsoft committed capital to this exact problem.</a:t>
            </a:r>
          </a:p>
        </p:txBody>
      </p:sp>
      <p:sp>
        <p:nvSpPr>
          <p:cNvPr id="19" name="Rectangle 18"/>
          <p:cNvSpPr/>
          <p:nvPr/>
        </p:nvSpPr>
        <p:spPr>
          <a:xfrm>
            <a:off x="320040" y="3785616"/>
            <a:ext cx="11548872" cy="84124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40480"/>
            <a:ext cx="2286000" cy="347472"/>
          </a:xfrm>
          <a:prstGeom prst="rect">
            <a:avLst/>
          </a:prstGeom>
          <a:noFill/>
        </p:spPr>
        <p:txBody>
          <a:bodyPr wrap="square">
            <a:spAutoFit/>
          </a:bodyPr>
          <a:lstStyle/>
          <a:p>
            <a:pPr algn="l"/>
            <a:r>
              <a:rPr sz="1300" b="1" i="0">
                <a:solidFill>
                  <a:srgbClr val="FFFFFF"/>
                </a:solidFill>
              </a:rPr>
              <a:t>Reality Defender</a:t>
            </a:r>
          </a:p>
        </p:txBody>
      </p:sp>
      <p:sp>
        <p:nvSpPr>
          <p:cNvPr id="21" name="TextBox 20"/>
          <p:cNvSpPr txBox="1"/>
          <p:nvPr/>
        </p:nvSpPr>
        <p:spPr>
          <a:xfrm>
            <a:off x="2834640" y="3840480"/>
            <a:ext cx="1097280" cy="320040"/>
          </a:xfrm>
          <a:prstGeom prst="rect">
            <a:avLst/>
          </a:prstGeom>
          <a:noFill/>
        </p:spPr>
        <p:txBody>
          <a:bodyPr wrap="square">
            <a:spAutoFit/>
          </a:bodyPr>
          <a:lstStyle/>
          <a:p>
            <a:pPr algn="ctr"/>
            <a:r>
              <a:rPr sz="1100" b="0" i="0">
                <a:solidFill>
                  <a:srgbClr val="8899AA"/>
                </a:solidFill>
              </a:rPr>
              <a:t>2025</a:t>
            </a:r>
          </a:p>
        </p:txBody>
      </p:sp>
      <p:sp>
        <p:nvSpPr>
          <p:cNvPr id="22" name="TextBox 21"/>
          <p:cNvSpPr txBox="1"/>
          <p:nvPr/>
        </p:nvSpPr>
        <p:spPr>
          <a:xfrm>
            <a:off x="4023360" y="3840480"/>
            <a:ext cx="2011680" cy="320040"/>
          </a:xfrm>
          <a:prstGeom prst="rect">
            <a:avLst/>
          </a:prstGeom>
          <a:noFill/>
        </p:spPr>
        <p:txBody>
          <a:bodyPr wrap="square">
            <a:spAutoFit/>
          </a:bodyPr>
          <a:lstStyle/>
          <a:p>
            <a:pPr algn="l"/>
            <a:r>
              <a:rPr sz="1200" b="1" i="0">
                <a:solidFill>
                  <a:srgbClr val="20E898"/>
                </a:solidFill>
              </a:rPr>
              <a:t>$33M Series A</a:t>
            </a:r>
          </a:p>
        </p:txBody>
      </p:sp>
      <p:sp>
        <p:nvSpPr>
          <p:cNvPr id="23" name="TextBox 22"/>
          <p:cNvSpPr txBox="1"/>
          <p:nvPr/>
        </p:nvSpPr>
        <p:spPr>
          <a:xfrm>
            <a:off x="6217920" y="3840480"/>
            <a:ext cx="2560320" cy="320040"/>
          </a:xfrm>
          <a:prstGeom prst="rect">
            <a:avLst/>
          </a:prstGeom>
          <a:noFill/>
        </p:spPr>
        <p:txBody>
          <a:bodyPr wrap="square">
            <a:spAutoFit/>
          </a:bodyPr>
          <a:lstStyle/>
          <a:p>
            <a:pPr algn="l"/>
            <a:r>
              <a:rPr sz="1100" b="0" i="0">
                <a:solidFill>
                  <a:srgbClr val="FAF7F0"/>
                </a:solidFill>
              </a:rPr>
              <a:t>Goldman Sachs</a:t>
            </a:r>
          </a:p>
        </p:txBody>
      </p:sp>
      <p:sp>
        <p:nvSpPr>
          <p:cNvPr id="24" name="TextBox 23"/>
          <p:cNvSpPr txBox="1"/>
          <p:nvPr/>
        </p:nvSpPr>
        <p:spPr>
          <a:xfrm>
            <a:off x="457200" y="4224528"/>
            <a:ext cx="11155680" cy="347472"/>
          </a:xfrm>
          <a:prstGeom prst="rect">
            <a:avLst/>
          </a:prstGeom>
          <a:noFill/>
        </p:spPr>
        <p:txBody>
          <a:bodyPr wrap="square">
            <a:spAutoFit/>
          </a:bodyPr>
          <a:lstStyle/>
          <a:p>
            <a:pPr algn="l"/>
            <a:r>
              <a:rPr sz="1000" b="0" i="1">
                <a:solidFill>
                  <a:srgbClr val="8899AA"/>
                </a:solidFill>
              </a:rPr>
              <a:t>AI-generated content detection for enterprises. Goldman validating the deepfake defense market.</a:t>
            </a:r>
          </a:p>
        </p:txBody>
      </p:sp>
      <p:sp>
        <p:nvSpPr>
          <p:cNvPr id="25" name="Rectangle 24"/>
          <p:cNvSpPr/>
          <p:nvPr/>
        </p:nvSpPr>
        <p:spPr>
          <a:xfrm>
            <a:off x="320040" y="4718304"/>
            <a:ext cx="11548872" cy="84124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773168"/>
            <a:ext cx="2286000" cy="347472"/>
          </a:xfrm>
          <a:prstGeom prst="rect">
            <a:avLst/>
          </a:prstGeom>
          <a:noFill/>
        </p:spPr>
        <p:txBody>
          <a:bodyPr wrap="square">
            <a:spAutoFit/>
          </a:bodyPr>
          <a:lstStyle/>
          <a:p>
            <a:pPr algn="l"/>
            <a:r>
              <a:rPr sz="1300" b="1" i="0">
                <a:solidFill>
                  <a:srgbClr val="FFFFFF"/>
                </a:solidFill>
              </a:rPr>
              <a:t>Numbers Protocol</a:t>
            </a:r>
          </a:p>
        </p:txBody>
      </p:sp>
      <p:sp>
        <p:nvSpPr>
          <p:cNvPr id="27" name="TextBox 26"/>
          <p:cNvSpPr txBox="1"/>
          <p:nvPr/>
        </p:nvSpPr>
        <p:spPr>
          <a:xfrm>
            <a:off x="2834640" y="4773168"/>
            <a:ext cx="1097280" cy="320040"/>
          </a:xfrm>
          <a:prstGeom prst="rect">
            <a:avLst/>
          </a:prstGeom>
          <a:noFill/>
        </p:spPr>
        <p:txBody>
          <a:bodyPr wrap="square">
            <a:spAutoFit/>
          </a:bodyPr>
          <a:lstStyle/>
          <a:p>
            <a:pPr algn="ctr"/>
            <a:r>
              <a:rPr sz="1100" b="0" i="0">
                <a:solidFill>
                  <a:srgbClr val="8899AA"/>
                </a:solidFill>
              </a:rPr>
              <a:t>2024</a:t>
            </a:r>
          </a:p>
        </p:txBody>
      </p:sp>
      <p:sp>
        <p:nvSpPr>
          <p:cNvPr id="28" name="TextBox 27"/>
          <p:cNvSpPr txBox="1"/>
          <p:nvPr/>
        </p:nvSpPr>
        <p:spPr>
          <a:xfrm>
            <a:off x="4023360" y="4773168"/>
            <a:ext cx="2011680" cy="320040"/>
          </a:xfrm>
          <a:prstGeom prst="rect">
            <a:avLst/>
          </a:prstGeom>
          <a:noFill/>
        </p:spPr>
        <p:txBody>
          <a:bodyPr wrap="square">
            <a:spAutoFit/>
          </a:bodyPr>
          <a:lstStyle/>
          <a:p>
            <a:pPr algn="l"/>
            <a:r>
              <a:rPr sz="1200" b="1" i="0">
                <a:solidFill>
                  <a:srgbClr val="20E898"/>
                </a:solidFill>
              </a:rPr>
              <a:t>Strategic round</a:t>
            </a:r>
          </a:p>
        </p:txBody>
      </p:sp>
      <p:sp>
        <p:nvSpPr>
          <p:cNvPr id="29" name="TextBox 28"/>
          <p:cNvSpPr txBox="1"/>
          <p:nvPr/>
        </p:nvSpPr>
        <p:spPr>
          <a:xfrm>
            <a:off x="6217920" y="4773168"/>
            <a:ext cx="2560320" cy="320040"/>
          </a:xfrm>
          <a:prstGeom prst="rect">
            <a:avLst/>
          </a:prstGeom>
          <a:noFill/>
        </p:spPr>
        <p:txBody>
          <a:bodyPr wrap="square">
            <a:spAutoFit/>
          </a:bodyPr>
          <a:lstStyle/>
          <a:p>
            <a:pPr algn="l"/>
            <a:r>
              <a:rPr sz="1100" b="0" i="0">
                <a:solidFill>
                  <a:srgbClr val="FAF7F0"/>
                </a:solidFill>
              </a:rPr>
              <a:t>Multiple</a:t>
            </a:r>
          </a:p>
        </p:txBody>
      </p:sp>
      <p:sp>
        <p:nvSpPr>
          <p:cNvPr id="30" name="TextBox 29"/>
          <p:cNvSpPr txBox="1"/>
          <p:nvPr/>
        </p:nvSpPr>
        <p:spPr>
          <a:xfrm>
            <a:off x="457200" y="5157216"/>
            <a:ext cx="11155680" cy="347472"/>
          </a:xfrm>
          <a:prstGeom prst="rect">
            <a:avLst/>
          </a:prstGeom>
          <a:noFill/>
        </p:spPr>
        <p:txBody>
          <a:bodyPr wrap="square">
            <a:spAutoFit/>
          </a:bodyPr>
          <a:lstStyle/>
          <a:p>
            <a:pPr algn="l"/>
            <a:r>
              <a:rPr sz="1000" b="0" i="1">
                <a:solidFill>
                  <a:srgbClr val="8899AA"/>
                </a:solidFill>
              </a:rPr>
              <a:t>Blockchain-anchored media provenance. Consumer-focused; LedgerProof owns the institutional layer.</a:t>
            </a:r>
          </a:p>
        </p:txBody>
      </p:sp>
      <p:sp>
        <p:nvSpPr>
          <p:cNvPr id="31" name="Rectangle 30"/>
          <p:cNvSpPr/>
          <p:nvPr/>
        </p:nvSpPr>
        <p:spPr>
          <a:xfrm>
            <a:off x="320040" y="5650992"/>
            <a:ext cx="11548872" cy="84124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705856"/>
            <a:ext cx="2286000" cy="347472"/>
          </a:xfrm>
          <a:prstGeom prst="rect">
            <a:avLst/>
          </a:prstGeom>
          <a:noFill/>
        </p:spPr>
        <p:txBody>
          <a:bodyPr wrap="square">
            <a:spAutoFit/>
          </a:bodyPr>
          <a:lstStyle/>
          <a:p>
            <a:pPr algn="l"/>
            <a:r>
              <a:rPr sz="1300" b="1" i="0">
                <a:solidFill>
                  <a:srgbClr val="FFFFFF"/>
                </a:solidFill>
              </a:rPr>
              <a:t>Hyland (Content Services)</a:t>
            </a:r>
          </a:p>
        </p:txBody>
      </p:sp>
      <p:sp>
        <p:nvSpPr>
          <p:cNvPr id="33" name="TextBox 32"/>
          <p:cNvSpPr txBox="1"/>
          <p:nvPr/>
        </p:nvSpPr>
        <p:spPr>
          <a:xfrm>
            <a:off x="2834640" y="5705856"/>
            <a:ext cx="1097280" cy="320040"/>
          </a:xfrm>
          <a:prstGeom prst="rect">
            <a:avLst/>
          </a:prstGeom>
          <a:noFill/>
        </p:spPr>
        <p:txBody>
          <a:bodyPr wrap="square">
            <a:spAutoFit/>
          </a:bodyPr>
          <a:lstStyle/>
          <a:p>
            <a:pPr algn="ctr"/>
            <a:r>
              <a:rPr sz="1100" b="0" i="0">
                <a:solidFill>
                  <a:srgbClr val="8899AA"/>
                </a:solidFill>
              </a:rPr>
              <a:t>2025</a:t>
            </a:r>
          </a:p>
        </p:txBody>
      </p:sp>
      <p:sp>
        <p:nvSpPr>
          <p:cNvPr id="34" name="TextBox 33"/>
          <p:cNvSpPr txBox="1"/>
          <p:nvPr/>
        </p:nvSpPr>
        <p:spPr>
          <a:xfrm>
            <a:off x="4023360" y="5705856"/>
            <a:ext cx="2011680" cy="320040"/>
          </a:xfrm>
          <a:prstGeom prst="rect">
            <a:avLst/>
          </a:prstGeom>
          <a:noFill/>
        </p:spPr>
        <p:txBody>
          <a:bodyPr wrap="square">
            <a:spAutoFit/>
          </a:bodyPr>
          <a:lstStyle/>
          <a:p>
            <a:pPr algn="l"/>
            <a:r>
              <a:rPr sz="1200" b="1" i="0">
                <a:solidFill>
                  <a:srgbClr val="20E898"/>
                </a:solidFill>
              </a:rPr>
              <a:t>Acqui-hire</a:t>
            </a:r>
          </a:p>
        </p:txBody>
      </p:sp>
      <p:sp>
        <p:nvSpPr>
          <p:cNvPr id="35" name="TextBox 34"/>
          <p:cNvSpPr txBox="1"/>
          <p:nvPr/>
        </p:nvSpPr>
        <p:spPr>
          <a:xfrm>
            <a:off x="6217920" y="5705856"/>
            <a:ext cx="2560320" cy="320040"/>
          </a:xfrm>
          <a:prstGeom prst="rect">
            <a:avLst/>
          </a:prstGeom>
          <a:noFill/>
        </p:spPr>
        <p:txBody>
          <a:bodyPr wrap="square">
            <a:spAutoFit/>
          </a:bodyPr>
          <a:lstStyle/>
          <a:p>
            <a:pPr algn="l"/>
            <a:r>
              <a:rPr sz="1100" b="0" i="0">
                <a:solidFill>
                  <a:srgbClr val="FAF7F0"/>
                </a:solidFill>
              </a:rPr>
              <a:t>Bain Capital</a:t>
            </a:r>
          </a:p>
        </p:txBody>
      </p:sp>
      <p:sp>
        <p:nvSpPr>
          <p:cNvPr id="36" name="TextBox 35"/>
          <p:cNvSpPr txBox="1"/>
          <p:nvPr/>
        </p:nvSpPr>
        <p:spPr>
          <a:xfrm>
            <a:off x="457200" y="6089904"/>
            <a:ext cx="11155680" cy="347472"/>
          </a:xfrm>
          <a:prstGeom prst="rect">
            <a:avLst/>
          </a:prstGeom>
          <a:noFill/>
        </p:spPr>
        <p:txBody>
          <a:bodyPr wrap="square">
            <a:spAutoFit/>
          </a:bodyPr>
          <a:lstStyle/>
          <a:p>
            <a:pPr algn="l"/>
            <a:r>
              <a:rPr sz="1000" b="0" i="1">
                <a:solidFill>
                  <a:srgbClr val="8899AA"/>
                </a:solidFill>
              </a:rPr>
              <a:t>$6.5B acquisition. Document infrastructure commanded premium multiples in 2025.</a:t>
            </a:r>
          </a:p>
        </p:txBody>
      </p:sp>
      <p:sp>
        <p:nvSpPr>
          <p:cNvPr id="37" name="TextBox 36"/>
          <p:cNvSpPr txBox="1"/>
          <p:nvPr/>
        </p:nvSpPr>
        <p:spPr>
          <a:xfrm>
            <a:off x="320040" y="6473952"/>
            <a:ext cx="11548872" cy="292608"/>
          </a:xfrm>
          <a:prstGeom prst="rect">
            <a:avLst/>
          </a:prstGeom>
          <a:noFill/>
        </p:spPr>
        <p:txBody>
          <a:bodyPr wrap="square">
            <a:spAutoFit/>
          </a:bodyPr>
          <a:lstStyle/>
          <a:p>
            <a:pPr algn="l"/>
            <a:r>
              <a:rPr sz="1100" b="1" i="0">
                <a:solidFill>
                  <a:srgbClr val="20E898"/>
                </a:solidFill>
              </a:rPr>
              <a:t>Common thread: investors are writing large checks for cryptographic provenance. LedgerProof is the only Bitcoin-native, institutional-grade, standards-tracked entrant.</a:t>
            </a:r>
          </a:p>
        </p:txBody>
      </p:sp>
      <p:sp>
        <p:nvSpPr>
          <p:cNvPr id="38" name="Rectangle 37"/>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RISKS &amp; MITIGATIONS</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We name the risks. Founders who don't are not credible.</a:t>
            </a:r>
          </a:p>
        </p:txBody>
      </p:sp>
      <p:sp>
        <p:nvSpPr>
          <p:cNvPr id="7" name="Rectangle 6"/>
          <p:cNvSpPr/>
          <p:nvPr/>
        </p:nvSpPr>
        <p:spPr>
          <a:xfrm>
            <a:off x="320040" y="1920240"/>
            <a:ext cx="11548872" cy="109728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920240"/>
            <a:ext cx="54864" cy="1097280"/>
          </a:xfrm>
          <a:prstGeom prst="rect">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75104"/>
            <a:ext cx="11155680" cy="292608"/>
          </a:xfrm>
          <a:prstGeom prst="rect">
            <a:avLst/>
          </a:prstGeom>
          <a:noFill/>
        </p:spPr>
        <p:txBody>
          <a:bodyPr wrap="square">
            <a:spAutoFit/>
          </a:bodyPr>
          <a:lstStyle/>
          <a:p>
            <a:pPr algn="l"/>
            <a:r>
              <a:rPr sz="1200" b="1" i="0">
                <a:solidFill>
                  <a:srgbClr val="FFFFFF"/>
                </a:solidFill>
              </a:rPr>
              <a:t>Microsoft MAGT adoption</a:t>
            </a:r>
          </a:p>
        </p:txBody>
      </p:sp>
      <p:sp>
        <p:nvSpPr>
          <p:cNvPr id="10" name="TextBox 9"/>
          <p:cNvSpPr txBox="1"/>
          <p:nvPr/>
        </p:nvSpPr>
        <p:spPr>
          <a:xfrm>
            <a:off x="502920" y="2267712"/>
            <a:ext cx="11155680" cy="292608"/>
          </a:xfrm>
          <a:prstGeom prst="rect">
            <a:avLst/>
          </a:prstGeom>
          <a:noFill/>
        </p:spPr>
        <p:txBody>
          <a:bodyPr wrap="square">
            <a:spAutoFit/>
          </a:bodyPr>
          <a:lstStyle/>
          <a:p>
            <a:pPr algn="l"/>
            <a:r>
              <a:rPr sz="1000" b="0" i="1">
                <a:solidFill>
                  <a:srgbClr val="8899AA"/>
                </a:solidFill>
              </a:rPr>
              <a:t>Risk: Microsoft's Agent Governance Toolkit (MIT, April 2026) is the best-resourced adjacent entrant.</a:t>
            </a:r>
          </a:p>
        </p:txBody>
      </p:sp>
      <p:sp>
        <p:nvSpPr>
          <p:cNvPr id="11" name="TextBox 10"/>
          <p:cNvSpPr txBox="1"/>
          <p:nvPr/>
        </p:nvSpPr>
        <p:spPr>
          <a:xfrm>
            <a:off x="502920" y="2560320"/>
            <a:ext cx="11155680" cy="411480"/>
          </a:xfrm>
          <a:prstGeom prst="rect">
            <a:avLst/>
          </a:prstGeom>
          <a:noFill/>
        </p:spPr>
        <p:txBody>
          <a:bodyPr wrap="square">
            <a:spAutoFit/>
          </a:bodyPr>
          <a:lstStyle/>
          <a:p>
            <a:pPr algn="l"/>
            <a:r>
              <a:rPr sz="1000" b="0" i="0">
                <a:solidFill>
                  <a:srgbClr val="FAF7F0"/>
                </a:solidFill>
              </a:rPr>
              <a:t>Mitigation: MAGT has no Bitcoin anchor, no permanent timestamp, no institutional-grade verifier. Operates only within Azure ecosystem. Our moat is neutrality and permanence, not features.</a:t>
            </a:r>
          </a:p>
        </p:txBody>
      </p:sp>
      <p:sp>
        <p:nvSpPr>
          <p:cNvPr id="12" name="Rectangle 11"/>
          <p:cNvSpPr/>
          <p:nvPr/>
        </p:nvSpPr>
        <p:spPr>
          <a:xfrm>
            <a:off x="320040" y="3108960"/>
            <a:ext cx="11548872" cy="109728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3108960"/>
            <a:ext cx="54864" cy="1097280"/>
          </a:xfrm>
          <a:prstGeom prst="rect">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163824"/>
            <a:ext cx="11155680" cy="292608"/>
          </a:xfrm>
          <a:prstGeom prst="rect">
            <a:avLst/>
          </a:prstGeom>
          <a:noFill/>
        </p:spPr>
        <p:txBody>
          <a:bodyPr wrap="square">
            <a:spAutoFit/>
          </a:bodyPr>
          <a:lstStyle/>
          <a:p>
            <a:pPr algn="l"/>
            <a:r>
              <a:rPr sz="1200" b="1" i="0">
                <a:solidFill>
                  <a:srgbClr val="FFFFFF"/>
                </a:solidFill>
              </a:rPr>
              <a:t>Post-quantum cryptography</a:t>
            </a:r>
          </a:p>
        </p:txBody>
      </p:sp>
      <p:sp>
        <p:nvSpPr>
          <p:cNvPr id="15" name="TextBox 14"/>
          <p:cNvSpPr txBox="1"/>
          <p:nvPr/>
        </p:nvSpPr>
        <p:spPr>
          <a:xfrm>
            <a:off x="502920" y="3456432"/>
            <a:ext cx="11155680" cy="292608"/>
          </a:xfrm>
          <a:prstGeom prst="rect">
            <a:avLst/>
          </a:prstGeom>
          <a:noFill/>
        </p:spPr>
        <p:txBody>
          <a:bodyPr wrap="square">
            <a:spAutoFit/>
          </a:bodyPr>
          <a:lstStyle/>
          <a:p>
            <a:pPr algn="l"/>
            <a:r>
              <a:rPr sz="1000" b="0" i="1">
                <a:solidFill>
                  <a:srgbClr val="8899AA"/>
                </a:solidFill>
              </a:rPr>
              <a:t>Risk: NIST FIPS 204 (Dilithium) and upcoming mandates mean Ed25519 will need to be supplemented by ~2030–2033.</a:t>
            </a:r>
          </a:p>
        </p:txBody>
      </p:sp>
      <p:sp>
        <p:nvSpPr>
          <p:cNvPr id="16" name="TextBox 15"/>
          <p:cNvSpPr txBox="1"/>
          <p:nvPr/>
        </p:nvSpPr>
        <p:spPr>
          <a:xfrm>
            <a:off x="502920" y="3749040"/>
            <a:ext cx="11155680" cy="411480"/>
          </a:xfrm>
          <a:prstGeom prst="rect">
            <a:avLst/>
          </a:prstGeom>
          <a:noFill/>
        </p:spPr>
        <p:txBody>
          <a:bodyPr wrap="square">
            <a:spAutoFit/>
          </a:bodyPr>
          <a:lstStyle/>
          <a:p>
            <a:pPr algn="l"/>
            <a:r>
              <a:rPr sz="1000" b="0" i="0">
                <a:solidFill>
                  <a:srgbClr val="FAF7F0"/>
                </a:solidFill>
              </a:rPr>
              <a:t>Mitigation: LPR spec includes explicit PQC upgrade path in v1.0. Hybrid Ed25519+Dilithium profile ships in Year 2. Bitcoin's SHA-256 hashing is Grover-resistant at 128-bit effective security through 2036+.</a:t>
            </a:r>
          </a:p>
        </p:txBody>
      </p:sp>
      <p:sp>
        <p:nvSpPr>
          <p:cNvPr id="17" name="Rectangle 16"/>
          <p:cNvSpPr/>
          <p:nvPr/>
        </p:nvSpPr>
        <p:spPr>
          <a:xfrm>
            <a:off x="320040" y="4297680"/>
            <a:ext cx="11548872" cy="109728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4297680"/>
            <a:ext cx="54864" cy="1097280"/>
          </a:xfrm>
          <a:prstGeom prst="rect">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352544"/>
            <a:ext cx="11155680" cy="292608"/>
          </a:xfrm>
          <a:prstGeom prst="rect">
            <a:avLst/>
          </a:prstGeom>
          <a:noFill/>
        </p:spPr>
        <p:txBody>
          <a:bodyPr wrap="square">
            <a:spAutoFit/>
          </a:bodyPr>
          <a:lstStyle/>
          <a:p>
            <a:pPr algn="l"/>
            <a:r>
              <a:rPr sz="1200" b="1" i="0">
                <a:solidFill>
                  <a:srgbClr val="FFFFFF"/>
                </a:solidFill>
              </a:rPr>
              <a:t>Regulatory uncertainty (US)</a:t>
            </a:r>
          </a:p>
        </p:txBody>
      </p:sp>
      <p:sp>
        <p:nvSpPr>
          <p:cNvPr id="20" name="TextBox 19"/>
          <p:cNvSpPr txBox="1"/>
          <p:nvPr/>
        </p:nvSpPr>
        <p:spPr>
          <a:xfrm>
            <a:off x="502920" y="4645152"/>
            <a:ext cx="11155680" cy="292608"/>
          </a:xfrm>
          <a:prstGeom prst="rect">
            <a:avLst/>
          </a:prstGeom>
          <a:noFill/>
        </p:spPr>
        <p:txBody>
          <a:bodyPr wrap="square">
            <a:spAutoFit/>
          </a:bodyPr>
          <a:lstStyle/>
          <a:p>
            <a:pPr algn="l"/>
            <a:r>
              <a:rPr sz="1000" b="0" i="1">
                <a:solidFill>
                  <a:srgbClr val="8899AA"/>
                </a:solidFill>
              </a:rPr>
              <a:t>Risk: EU AI Act is law. US federal AI provenance regulation is not yet law.</a:t>
            </a:r>
          </a:p>
        </p:txBody>
      </p:sp>
      <p:sp>
        <p:nvSpPr>
          <p:cNvPr id="21" name="TextBox 20"/>
          <p:cNvSpPr txBox="1"/>
          <p:nvPr/>
        </p:nvSpPr>
        <p:spPr>
          <a:xfrm>
            <a:off x="502920" y="4937760"/>
            <a:ext cx="11155680" cy="411480"/>
          </a:xfrm>
          <a:prstGeom prst="rect">
            <a:avLst/>
          </a:prstGeom>
          <a:noFill/>
        </p:spPr>
        <p:txBody>
          <a:bodyPr wrap="square">
            <a:spAutoFit/>
          </a:bodyPr>
          <a:lstStyle/>
          <a:p>
            <a:pPr algn="l"/>
            <a:r>
              <a:rPr sz="1000" b="0" i="0">
                <a:solidFill>
                  <a:srgbClr val="FAF7F0"/>
                </a:solidFill>
              </a:rPr>
              <a:t>Mitigation: US state-level regulation (California, New York) is moving. SEC AI guidance, FINRA, and court admissibility standards are independent forcing functions with shorter cycles.</a:t>
            </a:r>
          </a:p>
        </p:txBody>
      </p:sp>
      <p:sp>
        <p:nvSpPr>
          <p:cNvPr id="22" name="Rectangle 21"/>
          <p:cNvSpPr/>
          <p:nvPr/>
        </p:nvSpPr>
        <p:spPr>
          <a:xfrm>
            <a:off x="320040" y="5486400"/>
            <a:ext cx="11548872" cy="109728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5486400"/>
            <a:ext cx="54864" cy="1097280"/>
          </a:xfrm>
          <a:prstGeom prst="rect">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541264"/>
            <a:ext cx="11155680" cy="292608"/>
          </a:xfrm>
          <a:prstGeom prst="rect">
            <a:avLst/>
          </a:prstGeom>
          <a:noFill/>
        </p:spPr>
        <p:txBody>
          <a:bodyPr wrap="square">
            <a:spAutoFit/>
          </a:bodyPr>
          <a:lstStyle/>
          <a:p>
            <a:pPr algn="l"/>
            <a:r>
              <a:rPr sz="1200" b="1" i="0">
                <a:solidFill>
                  <a:srgbClr val="FFFFFF"/>
                </a:solidFill>
              </a:rPr>
              <a:t>Bitcoin block space / fee market</a:t>
            </a:r>
          </a:p>
        </p:txBody>
      </p:sp>
      <p:sp>
        <p:nvSpPr>
          <p:cNvPr id="25" name="TextBox 24"/>
          <p:cNvSpPr txBox="1"/>
          <p:nvPr/>
        </p:nvSpPr>
        <p:spPr>
          <a:xfrm>
            <a:off x="502920" y="5833872"/>
            <a:ext cx="11155680" cy="292608"/>
          </a:xfrm>
          <a:prstGeom prst="rect">
            <a:avLst/>
          </a:prstGeom>
          <a:noFill/>
        </p:spPr>
        <p:txBody>
          <a:bodyPr wrap="square">
            <a:spAutoFit/>
          </a:bodyPr>
          <a:lstStyle/>
          <a:p>
            <a:pPr algn="l"/>
            <a:r>
              <a:rPr sz="1000" b="0" i="1">
                <a:solidFill>
                  <a:srgbClr val="8899AA"/>
                </a:solidFill>
              </a:rPr>
              <a:t>Risk: High Bitcoin transaction fees could price out individual-document anchoring.</a:t>
            </a:r>
          </a:p>
        </p:txBody>
      </p:sp>
      <p:sp>
        <p:nvSpPr>
          <p:cNvPr id="26" name="TextBox 25"/>
          <p:cNvSpPr txBox="1"/>
          <p:nvPr/>
        </p:nvSpPr>
        <p:spPr>
          <a:xfrm>
            <a:off x="502920" y="6126480"/>
            <a:ext cx="11155680" cy="411480"/>
          </a:xfrm>
          <a:prstGeom prst="rect">
            <a:avLst/>
          </a:prstGeom>
          <a:noFill/>
        </p:spPr>
        <p:txBody>
          <a:bodyPr wrap="square">
            <a:spAutoFit/>
          </a:bodyPr>
          <a:lstStyle/>
          <a:p>
            <a:pPr algn="l"/>
            <a:r>
              <a:rPr sz="1000" b="0" i="0">
                <a:solidFill>
                  <a:srgbClr val="FAF7F0"/>
                </a:solidFill>
              </a:rPr>
              <a:t>Mitigation: Merkle aggregation (RFC 6962-based) batches thousands of receipts into one OP_RETURN per block. At 1M receipts/day, marginal fee cost per receipt is negligible even at $500/tx.</a:t>
            </a:r>
          </a:p>
        </p:txBody>
      </p:sp>
      <p:sp>
        <p:nvSpPr>
          <p:cNvPr id="27" name="Rectangle 26"/>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THE TEAM</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600" b="1" i="0">
                <a:solidFill>
                  <a:srgbClr val="FFFFFF"/>
                </a:solidFill>
              </a:rPr>
              <a:t>Masters of craft. Built to win a decade-long standards race.</a:t>
            </a:r>
          </a:p>
        </p:txBody>
      </p:sp>
      <p:sp>
        <p:nvSpPr>
          <p:cNvPr id="7" name="TextBox 6"/>
          <p:cNvSpPr txBox="1"/>
          <p:nvPr/>
        </p:nvSpPr>
        <p:spPr>
          <a:xfrm>
            <a:off x="320040" y="1920240"/>
            <a:ext cx="11548872" cy="411480"/>
          </a:xfrm>
          <a:prstGeom prst="rect">
            <a:avLst/>
          </a:prstGeom>
          <a:noFill/>
        </p:spPr>
        <p:txBody>
          <a:bodyPr wrap="square">
            <a:spAutoFit/>
          </a:bodyPr>
          <a:lstStyle/>
          <a:p>
            <a:pPr algn="l"/>
            <a:r>
              <a:rPr sz="1600" b="1" i="0">
                <a:solidFill>
                  <a:srgbClr val="20E898"/>
                </a:solidFill>
              </a:rPr>
              <a:t>Veronica S. Dawkins — Founder &amp; CEO</a:t>
            </a:r>
          </a:p>
        </p:txBody>
      </p:sp>
      <p:sp>
        <p:nvSpPr>
          <p:cNvPr id="8" name="TextBox 7"/>
          <p:cNvSpPr txBox="1"/>
          <p:nvPr/>
        </p:nvSpPr>
        <p:spPr>
          <a:xfrm>
            <a:off x="320040" y="2377440"/>
            <a:ext cx="11548872" cy="914400"/>
          </a:xfrm>
          <a:prstGeom prst="rect">
            <a:avLst/>
          </a:prstGeom>
          <a:noFill/>
        </p:spPr>
        <p:txBody>
          <a:bodyPr wrap="square">
            <a:spAutoFit/>
          </a:bodyPr>
          <a:lstStyle/>
          <a:p>
            <a:pPr algn="l"/>
            <a:r>
              <a:rPr sz="1200" b="0" i="0">
                <a:solidFill>
                  <a:srgbClr val="FAF7F0"/>
                </a:solidFill>
              </a:rPr>
              <a:t>Built LedgerProof from zero to Bitcoin mainnet, working protocol, three production SDK integrations, IETF-ready specification, and a 20-account institutional pipeline — in a single founding sprint. Anchored the Founding Declaration live on stage at the intouch|Live Cybersecurity Symposium, May 18, 2026, in front of 200 institutional attendees. The product sells itself by doing what it claims to do, in the meeting where it claims to do it.</a:t>
            </a:r>
          </a:p>
        </p:txBody>
      </p:sp>
      <p:sp>
        <p:nvSpPr>
          <p:cNvPr id="9" name="TextBox 8"/>
          <p:cNvSpPr txBox="1"/>
          <p:nvPr/>
        </p:nvSpPr>
        <p:spPr>
          <a:xfrm>
            <a:off x="320040" y="3429000"/>
            <a:ext cx="11548872" cy="347472"/>
          </a:xfrm>
          <a:prstGeom prst="rect">
            <a:avLst/>
          </a:prstGeom>
          <a:noFill/>
        </p:spPr>
        <p:txBody>
          <a:bodyPr wrap="square">
            <a:spAutoFit/>
          </a:bodyPr>
          <a:lstStyle/>
          <a:p>
            <a:pPr algn="l"/>
            <a:r>
              <a:rPr sz="1300" b="1" i="0">
                <a:solidFill>
                  <a:srgbClr val="8899AA"/>
                </a:solidFill>
              </a:rPr>
              <a:t>Advisory build-out (funded by this round):</a:t>
            </a:r>
          </a:p>
        </p:txBody>
      </p:sp>
      <p:sp>
        <p:nvSpPr>
          <p:cNvPr id="10" name="TextBox 9"/>
          <p:cNvSpPr txBox="1"/>
          <p:nvPr/>
        </p:nvSpPr>
        <p:spPr>
          <a:xfrm>
            <a:off x="320040" y="3794760"/>
            <a:ext cx="2651760" cy="384048"/>
          </a:xfrm>
          <a:prstGeom prst="rect">
            <a:avLst/>
          </a:prstGeom>
          <a:noFill/>
        </p:spPr>
        <p:txBody>
          <a:bodyPr wrap="square">
            <a:spAutoFit/>
          </a:bodyPr>
          <a:lstStyle/>
          <a:p>
            <a:pPr algn="l"/>
            <a:r>
              <a:rPr sz="1200" b="1" i="0">
                <a:solidFill>
                  <a:srgbClr val="FFFFFF"/>
                </a:solidFill>
              </a:rPr>
              <a:t>·  Cryptography / Protocol:</a:t>
            </a:r>
          </a:p>
        </p:txBody>
      </p:sp>
      <p:sp>
        <p:nvSpPr>
          <p:cNvPr id="11" name="TextBox 10"/>
          <p:cNvSpPr txBox="1"/>
          <p:nvPr/>
        </p:nvSpPr>
        <p:spPr>
          <a:xfrm>
            <a:off x="3017520" y="3794760"/>
            <a:ext cx="8823960" cy="384048"/>
          </a:xfrm>
          <a:prstGeom prst="rect">
            <a:avLst/>
          </a:prstGeom>
          <a:noFill/>
        </p:spPr>
        <p:txBody>
          <a:bodyPr wrap="square">
            <a:spAutoFit/>
          </a:bodyPr>
          <a:lstStyle/>
          <a:p>
            <a:pPr algn="l"/>
            <a:r>
              <a:rPr sz="1200" b="0" i="0">
                <a:solidFill>
                  <a:srgbClr val="FAF7F0"/>
                </a:solidFill>
              </a:rPr>
              <a:t>Trail-of-Bits-affiliated cryptographer (pre-launch audit). IETF working group champion.</a:t>
            </a:r>
          </a:p>
        </p:txBody>
      </p:sp>
      <p:sp>
        <p:nvSpPr>
          <p:cNvPr id="12" name="TextBox 11"/>
          <p:cNvSpPr txBox="1"/>
          <p:nvPr/>
        </p:nvSpPr>
        <p:spPr>
          <a:xfrm>
            <a:off x="320040" y="4297680"/>
            <a:ext cx="2651760" cy="384048"/>
          </a:xfrm>
          <a:prstGeom prst="rect">
            <a:avLst/>
          </a:prstGeom>
          <a:noFill/>
        </p:spPr>
        <p:txBody>
          <a:bodyPr wrap="square">
            <a:spAutoFit/>
          </a:bodyPr>
          <a:lstStyle/>
          <a:p>
            <a:pPr algn="l"/>
            <a:r>
              <a:rPr sz="1200" b="1" i="0">
                <a:solidFill>
                  <a:srgbClr val="FFFFFF"/>
                </a:solidFill>
              </a:rPr>
              <a:t>·  Legal / Regulatory:</a:t>
            </a:r>
          </a:p>
        </p:txBody>
      </p:sp>
      <p:sp>
        <p:nvSpPr>
          <p:cNvPr id="13" name="TextBox 12"/>
          <p:cNvSpPr txBox="1"/>
          <p:nvPr/>
        </p:nvSpPr>
        <p:spPr>
          <a:xfrm>
            <a:off x="3017520" y="4297680"/>
            <a:ext cx="8823960" cy="384048"/>
          </a:xfrm>
          <a:prstGeom prst="rect">
            <a:avLst/>
          </a:prstGeom>
          <a:noFill/>
        </p:spPr>
        <p:txBody>
          <a:bodyPr wrap="square">
            <a:spAutoFit/>
          </a:bodyPr>
          <a:lstStyle/>
          <a:p>
            <a:pPr algn="l"/>
            <a:r>
              <a:rPr sz="1200" b="0" i="0">
                <a:solidFill>
                  <a:srgbClr val="FAF7F0"/>
                </a:solidFill>
              </a:rPr>
              <a:t>Former FTC / SEC counsel. Article 50 compliance architect for EU market.</a:t>
            </a:r>
          </a:p>
        </p:txBody>
      </p:sp>
      <p:sp>
        <p:nvSpPr>
          <p:cNvPr id="14" name="TextBox 13"/>
          <p:cNvSpPr txBox="1"/>
          <p:nvPr/>
        </p:nvSpPr>
        <p:spPr>
          <a:xfrm>
            <a:off x="320040" y="4800600"/>
            <a:ext cx="2651760" cy="384048"/>
          </a:xfrm>
          <a:prstGeom prst="rect">
            <a:avLst/>
          </a:prstGeom>
          <a:noFill/>
        </p:spPr>
        <p:txBody>
          <a:bodyPr wrap="square">
            <a:spAutoFit/>
          </a:bodyPr>
          <a:lstStyle/>
          <a:p>
            <a:pPr algn="l"/>
            <a:r>
              <a:rPr sz="1200" b="1" i="0">
                <a:solidFill>
                  <a:srgbClr val="FFFFFF"/>
                </a:solidFill>
              </a:rPr>
              <a:t>·  Enterprise Sales:</a:t>
            </a:r>
          </a:p>
        </p:txBody>
      </p:sp>
      <p:sp>
        <p:nvSpPr>
          <p:cNvPr id="15" name="TextBox 14"/>
          <p:cNvSpPr txBox="1"/>
          <p:nvPr/>
        </p:nvSpPr>
        <p:spPr>
          <a:xfrm>
            <a:off x="3017520" y="4800600"/>
            <a:ext cx="8823960" cy="384048"/>
          </a:xfrm>
          <a:prstGeom prst="rect">
            <a:avLst/>
          </a:prstGeom>
          <a:noFill/>
        </p:spPr>
        <p:txBody>
          <a:bodyPr wrap="square">
            <a:spAutoFit/>
          </a:bodyPr>
          <a:lstStyle/>
          <a:p>
            <a:pPr algn="l"/>
            <a:r>
              <a:rPr sz="1200" b="0" i="0">
                <a:solidFill>
                  <a:srgbClr val="FAF7F0"/>
                </a:solidFill>
              </a:rPr>
              <a:t>Former VP Sales at SWIFT or DTCC-tier infrastructure company.</a:t>
            </a:r>
          </a:p>
        </p:txBody>
      </p:sp>
      <p:sp>
        <p:nvSpPr>
          <p:cNvPr id="16" name="TextBox 15"/>
          <p:cNvSpPr txBox="1"/>
          <p:nvPr/>
        </p:nvSpPr>
        <p:spPr>
          <a:xfrm>
            <a:off x="320040" y="5303520"/>
            <a:ext cx="2651760" cy="384048"/>
          </a:xfrm>
          <a:prstGeom prst="rect">
            <a:avLst/>
          </a:prstGeom>
          <a:noFill/>
        </p:spPr>
        <p:txBody>
          <a:bodyPr wrap="square">
            <a:spAutoFit/>
          </a:bodyPr>
          <a:lstStyle/>
          <a:p>
            <a:pPr algn="l"/>
            <a:r>
              <a:rPr sz="1200" b="1" i="0">
                <a:solidFill>
                  <a:srgbClr val="FFFFFF"/>
                </a:solidFill>
              </a:rPr>
              <a:t>·  Bitcoin Core:</a:t>
            </a:r>
          </a:p>
        </p:txBody>
      </p:sp>
      <p:sp>
        <p:nvSpPr>
          <p:cNvPr id="17" name="TextBox 16"/>
          <p:cNvSpPr txBox="1"/>
          <p:nvPr/>
        </p:nvSpPr>
        <p:spPr>
          <a:xfrm>
            <a:off x="3017520" y="5303520"/>
            <a:ext cx="8823960" cy="384048"/>
          </a:xfrm>
          <a:prstGeom prst="rect">
            <a:avLst/>
          </a:prstGeom>
          <a:noFill/>
        </p:spPr>
        <p:txBody>
          <a:bodyPr wrap="square">
            <a:spAutoFit/>
          </a:bodyPr>
          <a:lstStyle/>
          <a:p>
            <a:pPr algn="l"/>
            <a:r>
              <a:rPr sz="1200" b="0" i="0">
                <a:solidFill>
                  <a:srgbClr val="FAF7F0"/>
                </a:solidFill>
              </a:rPr>
              <a:t>Bitcoin Core contributor with OP_RETURN / data-carrier expertise.</a:t>
            </a:r>
          </a:p>
        </p:txBody>
      </p:sp>
      <p:sp>
        <p:nvSpPr>
          <p:cNvPr id="18" name="TextBox 17"/>
          <p:cNvSpPr txBox="1"/>
          <p:nvPr/>
        </p:nvSpPr>
        <p:spPr>
          <a:xfrm>
            <a:off x="320040" y="5806440"/>
            <a:ext cx="2651760" cy="384048"/>
          </a:xfrm>
          <a:prstGeom prst="rect">
            <a:avLst/>
          </a:prstGeom>
          <a:noFill/>
        </p:spPr>
        <p:txBody>
          <a:bodyPr wrap="square">
            <a:spAutoFit/>
          </a:bodyPr>
          <a:lstStyle/>
          <a:p>
            <a:pPr algn="l"/>
            <a:r>
              <a:rPr sz="1200" b="1" i="0">
                <a:solidFill>
                  <a:srgbClr val="FFFFFF"/>
                </a:solidFill>
              </a:rPr>
              <a:t>·  Forensics / Law Enforcement:</a:t>
            </a:r>
          </a:p>
        </p:txBody>
      </p:sp>
      <p:sp>
        <p:nvSpPr>
          <p:cNvPr id="19" name="TextBox 18"/>
          <p:cNvSpPr txBox="1"/>
          <p:nvPr/>
        </p:nvSpPr>
        <p:spPr>
          <a:xfrm>
            <a:off x="3017520" y="5806440"/>
            <a:ext cx="8823960" cy="384048"/>
          </a:xfrm>
          <a:prstGeom prst="rect">
            <a:avLst/>
          </a:prstGeom>
          <a:noFill/>
        </p:spPr>
        <p:txBody>
          <a:bodyPr wrap="square">
            <a:spAutoFit/>
          </a:bodyPr>
          <a:lstStyle/>
          <a:p>
            <a:pPr algn="l"/>
            <a:r>
              <a:rPr sz="1200" b="0" i="0">
                <a:solidFill>
                  <a:srgbClr val="FAF7F0"/>
                </a:solidFill>
              </a:rPr>
              <a:t>ex-FBI or DOJ digital forensics — Perry Woo (Maryman) in pipeline.</a:t>
            </a:r>
          </a:p>
        </p:txBody>
      </p:sp>
      <p:sp>
        <p:nvSpPr>
          <p:cNvPr id="20" name="TextBox 19"/>
          <p:cNvSpPr txBox="1"/>
          <p:nvPr/>
        </p:nvSpPr>
        <p:spPr>
          <a:xfrm>
            <a:off x="320040" y="6446520"/>
            <a:ext cx="11548872" cy="320040"/>
          </a:xfrm>
          <a:prstGeom prst="rect">
            <a:avLst/>
          </a:prstGeom>
          <a:noFill/>
        </p:spPr>
        <p:txBody>
          <a:bodyPr wrap="square">
            <a:spAutoFit/>
          </a:bodyPr>
          <a:lstStyle/>
          <a:p>
            <a:pPr algn="l"/>
            <a:r>
              <a:rPr sz="1100" b="1" i="0">
                <a:solidFill>
                  <a:srgbClr val="20E898"/>
                </a:solidFill>
              </a:rPr>
              <a:t>What Ten31 adds: the credibility layer that opens institutional doors in the Bitcoin-native world — and the network that makes every sales call faster.</a:t>
            </a:r>
          </a:p>
        </p:txBody>
      </p:sp>
      <p:sp>
        <p:nvSpPr>
          <p:cNvPr id="21" name="Rectangle 20"/>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WHY TEN31</a:t>
            </a:r>
          </a:p>
        </p:txBody>
      </p:sp>
      <p:sp>
        <p:nvSpPr>
          <p:cNvPr id="6" name="TextBox 5"/>
          <p:cNvSpPr txBox="1"/>
          <p:nvPr/>
        </p:nvSpPr>
        <p:spPr>
          <a:xfrm>
            <a:off x="320040" y="1097280"/>
            <a:ext cx="11548872" cy="594360"/>
          </a:xfrm>
          <a:prstGeom prst="rect">
            <a:avLst/>
          </a:prstGeom>
          <a:noFill/>
        </p:spPr>
        <p:txBody>
          <a:bodyPr wrap="square">
            <a:spAutoFit/>
          </a:bodyPr>
          <a:lstStyle/>
          <a:p>
            <a:pPr algn="l"/>
            <a:r>
              <a:rPr sz="2400" b="1" i="0">
                <a:solidFill>
                  <a:srgbClr val="FFFFFF"/>
                </a:solidFill>
              </a:rPr>
              <a:t>You funded the infrastructure Bitcoin runs on. We built what runs above it.</a:t>
            </a:r>
          </a:p>
        </p:txBody>
      </p:sp>
      <p:sp>
        <p:nvSpPr>
          <p:cNvPr id="7" name="Rectangle 6"/>
          <p:cNvSpPr/>
          <p:nvPr/>
        </p:nvSpPr>
        <p:spPr>
          <a:xfrm>
            <a:off x="320040" y="1965960"/>
            <a:ext cx="64008" cy="132588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11680"/>
            <a:ext cx="11155680" cy="347472"/>
          </a:xfrm>
          <a:prstGeom prst="rect">
            <a:avLst/>
          </a:prstGeom>
          <a:noFill/>
        </p:spPr>
        <p:txBody>
          <a:bodyPr wrap="square">
            <a:spAutoFit/>
          </a:bodyPr>
          <a:lstStyle/>
          <a:p>
            <a:pPr algn="l"/>
            <a:r>
              <a:rPr sz="1400" b="1" i="0">
                <a:solidFill>
                  <a:srgbClr val="20E898"/>
                </a:solidFill>
              </a:rPr>
              <a:t>SATs flows.</a:t>
            </a:r>
          </a:p>
        </p:txBody>
      </p:sp>
      <p:sp>
        <p:nvSpPr>
          <p:cNvPr id="9" name="TextBox 8"/>
          <p:cNvSpPr txBox="1"/>
          <p:nvPr/>
        </p:nvSpPr>
        <p:spPr>
          <a:xfrm>
            <a:off x="502920" y="2377440"/>
            <a:ext cx="11155680" cy="822960"/>
          </a:xfrm>
          <a:prstGeom prst="rect">
            <a:avLst/>
          </a:prstGeom>
          <a:noFill/>
        </p:spPr>
        <p:txBody>
          <a:bodyPr wrap="square">
            <a:spAutoFit/>
          </a:bodyPr>
          <a:lstStyle/>
          <a:p>
            <a:pPr algn="l"/>
            <a:r>
              <a:rPr sz="1150" b="0" i="0">
                <a:solidFill>
                  <a:srgbClr val="FAF7F0"/>
                </a:solidFill>
              </a:rPr>
              <a:t>Every LedgerProof receipt is a Bitcoin transaction. Every institutional document that gets anchored is a new source of block demand — permanently, not speculatively. LedgerProof is the utility layer that turns institutional document volume into Bitcoin transaction volume. That is your thesis on Bitcoin as infrastructure, applied to the $138B documentary economy.</a:t>
            </a:r>
          </a:p>
        </p:txBody>
      </p:sp>
      <p:sp>
        <p:nvSpPr>
          <p:cNvPr id="10" name="Rectangle 9"/>
          <p:cNvSpPr/>
          <p:nvPr/>
        </p:nvSpPr>
        <p:spPr>
          <a:xfrm>
            <a:off x="320040" y="3502152"/>
            <a:ext cx="64008" cy="132588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547872"/>
            <a:ext cx="11155680" cy="347472"/>
          </a:xfrm>
          <a:prstGeom prst="rect">
            <a:avLst/>
          </a:prstGeom>
          <a:noFill/>
        </p:spPr>
        <p:txBody>
          <a:bodyPr wrap="square">
            <a:spAutoFit/>
          </a:bodyPr>
          <a:lstStyle/>
          <a:p>
            <a:pPr algn="l"/>
            <a:r>
              <a:rPr sz="1400" b="1" i="0">
                <a:solidFill>
                  <a:srgbClr val="20E898"/>
                </a:solidFill>
              </a:rPr>
              <a:t>Bitcoin on balance sheet.</a:t>
            </a:r>
          </a:p>
        </p:txBody>
      </p:sp>
      <p:sp>
        <p:nvSpPr>
          <p:cNvPr id="12" name="TextBox 11"/>
          <p:cNvSpPr txBox="1"/>
          <p:nvPr/>
        </p:nvSpPr>
        <p:spPr>
          <a:xfrm>
            <a:off x="502920" y="3913632"/>
            <a:ext cx="11155680" cy="822960"/>
          </a:xfrm>
          <a:prstGeom prst="rect">
            <a:avLst/>
          </a:prstGeom>
          <a:noFill/>
        </p:spPr>
        <p:txBody>
          <a:bodyPr wrap="square">
            <a:spAutoFit/>
          </a:bodyPr>
          <a:lstStyle/>
          <a:p>
            <a:pPr algn="l"/>
            <a:r>
              <a:rPr sz="1150" b="0" i="0">
                <a:solidFill>
                  <a:srgbClr val="FAF7F0"/>
                </a:solidFill>
              </a:rPr>
              <a:t>LedgerProof, Inc. will hold Bitcoin on its treasury from Day 1. Receipts are paid in USD; the company converts and holds BTC. The product anchors to Bitcoin mainnet — the treasury reflects that conviction operationally, not as a signal.</a:t>
            </a:r>
          </a:p>
        </p:txBody>
      </p:sp>
      <p:sp>
        <p:nvSpPr>
          <p:cNvPr id="13" name="Rectangle 12"/>
          <p:cNvSpPr/>
          <p:nvPr/>
        </p:nvSpPr>
        <p:spPr>
          <a:xfrm>
            <a:off x="320040" y="5038344"/>
            <a:ext cx="64008" cy="132588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084064"/>
            <a:ext cx="11155680" cy="347472"/>
          </a:xfrm>
          <a:prstGeom prst="rect">
            <a:avLst/>
          </a:prstGeom>
          <a:noFill/>
        </p:spPr>
        <p:txBody>
          <a:bodyPr wrap="square">
            <a:spAutoFit/>
          </a:bodyPr>
          <a:lstStyle/>
          <a:p>
            <a:pPr algn="l"/>
            <a:r>
              <a:rPr sz="1400" b="1" i="0">
                <a:solidFill>
                  <a:srgbClr val="20E898"/>
                </a:solidFill>
              </a:rPr>
              <a:t>The portfolio gap.</a:t>
            </a:r>
          </a:p>
        </p:txBody>
      </p:sp>
      <p:sp>
        <p:nvSpPr>
          <p:cNvPr id="15" name="TextBox 14"/>
          <p:cNvSpPr txBox="1"/>
          <p:nvPr/>
        </p:nvSpPr>
        <p:spPr>
          <a:xfrm>
            <a:off x="502920" y="5449824"/>
            <a:ext cx="11155680" cy="822960"/>
          </a:xfrm>
          <a:prstGeom prst="rect">
            <a:avLst/>
          </a:prstGeom>
          <a:noFill/>
        </p:spPr>
        <p:txBody>
          <a:bodyPr wrap="square">
            <a:spAutoFit/>
          </a:bodyPr>
          <a:lstStyle/>
          <a:p>
            <a:pPr algn="l"/>
            <a:r>
              <a:rPr sz="1150" b="0" i="0">
                <a:solidFill>
                  <a:srgbClr val="FAF7F0"/>
                </a:solidFill>
              </a:rPr>
              <a:t>Not one of your 31 portfolio companies does what LedgerProof does. Every law firm, every bank, every insurer, every AI platform in your network needs institutional document provenance. You own the distribution. We own the protocol.</a:t>
            </a:r>
          </a:p>
        </p:txBody>
      </p:sp>
      <p:sp>
        <p:nvSpPr>
          <p:cNvPr id="16" name="TextBox 15"/>
          <p:cNvSpPr txBox="1"/>
          <p:nvPr/>
        </p:nvSpPr>
        <p:spPr>
          <a:xfrm>
            <a:off x="320040" y="6492240"/>
            <a:ext cx="11548872" cy="274320"/>
          </a:xfrm>
          <a:prstGeom prst="rect">
            <a:avLst/>
          </a:prstGeom>
          <a:noFill/>
        </p:spPr>
        <p:txBody>
          <a:bodyPr wrap="square">
            <a:spAutoFit/>
          </a:bodyPr>
          <a:lstStyle/>
          <a:p>
            <a:pPr algn="l"/>
            <a:r>
              <a:rPr sz="1200" b="1" i="0">
                <a:solidFill>
                  <a:srgbClr val="20E898"/>
                </a:solidFill>
              </a:rPr>
              <a:t>Every company in your portfolio needs what LedgerProof does for their institutional customers. This is the gap. We are the close.</a:t>
            </a:r>
          </a:p>
        </p:txBody>
      </p:sp>
      <p:sp>
        <p:nvSpPr>
          <p:cNvPr id="17" name="Rectangle 16"/>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320040" y="164592"/>
            <a:ext cx="1737360" cy="937450"/>
          </a:xfrm>
          <a:prstGeom prst="rect">
            <a:avLst/>
          </a:prstGeom>
        </p:spPr>
      </p:pic>
      <p:sp>
        <p:nvSpPr>
          <p:cNvPr id="4" name="Rectangle 3"/>
          <p:cNvSpPr/>
          <p:nvPr/>
        </p:nvSpPr>
        <p:spPr>
          <a:xfrm>
            <a:off x="320040" y="987552"/>
            <a:ext cx="11548872"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0" y="201168"/>
            <a:ext cx="1828800" cy="365760"/>
          </a:xfrm>
          <a:prstGeom prst="rect">
            <a:avLst/>
          </a:prstGeom>
          <a:noFill/>
        </p:spPr>
        <p:txBody>
          <a:bodyPr wrap="square">
            <a:spAutoFit/>
          </a:bodyPr>
          <a:lstStyle/>
          <a:p>
            <a:pPr algn="r"/>
            <a:r>
              <a:rPr sz="900" b="0" i="0">
                <a:solidFill>
                  <a:srgbClr val="8899AA"/>
                </a:solidFill>
              </a:rPr>
              <a:t>THE ASK</a:t>
            </a:r>
          </a:p>
        </p:txBody>
      </p:sp>
      <p:sp>
        <p:nvSpPr>
          <p:cNvPr id="6" name="TextBox 5"/>
          <p:cNvSpPr txBox="1"/>
          <p:nvPr/>
        </p:nvSpPr>
        <p:spPr>
          <a:xfrm>
            <a:off x="320040" y="1097280"/>
            <a:ext cx="11548872" cy="548640"/>
          </a:xfrm>
          <a:prstGeom prst="rect">
            <a:avLst/>
          </a:prstGeom>
          <a:noFill/>
        </p:spPr>
        <p:txBody>
          <a:bodyPr wrap="square">
            <a:spAutoFit/>
          </a:bodyPr>
          <a:lstStyle/>
          <a:p>
            <a:pPr algn="l"/>
            <a:r>
              <a:rPr sz="2400" b="1" i="0">
                <a:solidFill>
                  <a:srgbClr val="FFFFFF"/>
                </a:solidFill>
              </a:rPr>
              <a:t>Lead this round. Help us build the protocol the world needs.</a:t>
            </a:r>
          </a:p>
        </p:txBody>
      </p:sp>
      <p:sp>
        <p:nvSpPr>
          <p:cNvPr id="7" name="Rectangle 6"/>
          <p:cNvSpPr/>
          <p:nvPr/>
        </p:nvSpPr>
        <p:spPr>
          <a:xfrm>
            <a:off x="320040" y="1920240"/>
            <a:ext cx="5394960" cy="320040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920240"/>
            <a:ext cx="5394960" cy="731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48256"/>
            <a:ext cx="5120640" cy="347472"/>
          </a:xfrm>
          <a:prstGeom prst="rect">
            <a:avLst/>
          </a:prstGeom>
          <a:noFill/>
        </p:spPr>
        <p:txBody>
          <a:bodyPr wrap="square">
            <a:spAutoFit/>
          </a:bodyPr>
          <a:lstStyle/>
          <a:p>
            <a:pPr algn="l"/>
            <a:r>
              <a:rPr sz="1300" b="1" i="0">
                <a:solidFill>
                  <a:srgbClr val="20E898"/>
                </a:solidFill>
              </a:rPr>
              <a:t>SAFE Terms</a:t>
            </a:r>
          </a:p>
        </p:txBody>
      </p:sp>
      <p:sp>
        <p:nvSpPr>
          <p:cNvPr id="10" name="TextBox 9"/>
          <p:cNvSpPr txBox="1"/>
          <p:nvPr/>
        </p:nvSpPr>
        <p:spPr>
          <a:xfrm>
            <a:off x="457200" y="2514600"/>
            <a:ext cx="2286000" cy="301752"/>
          </a:xfrm>
          <a:prstGeom prst="rect">
            <a:avLst/>
          </a:prstGeom>
          <a:noFill/>
        </p:spPr>
        <p:txBody>
          <a:bodyPr wrap="square">
            <a:spAutoFit/>
          </a:bodyPr>
          <a:lstStyle/>
          <a:p>
            <a:pPr algn="l"/>
            <a:r>
              <a:rPr sz="1100" b="0" i="0">
                <a:solidFill>
                  <a:srgbClr val="8899AA"/>
                </a:solidFill>
              </a:rPr>
              <a:t>Raise</a:t>
            </a:r>
          </a:p>
        </p:txBody>
      </p:sp>
      <p:sp>
        <p:nvSpPr>
          <p:cNvPr id="11" name="TextBox 10"/>
          <p:cNvSpPr txBox="1"/>
          <p:nvPr/>
        </p:nvSpPr>
        <p:spPr>
          <a:xfrm>
            <a:off x="2834640" y="2514600"/>
            <a:ext cx="2651760" cy="301752"/>
          </a:xfrm>
          <a:prstGeom prst="rect">
            <a:avLst/>
          </a:prstGeom>
          <a:noFill/>
        </p:spPr>
        <p:txBody>
          <a:bodyPr wrap="square">
            <a:spAutoFit/>
          </a:bodyPr>
          <a:lstStyle/>
          <a:p>
            <a:pPr algn="l"/>
            <a:r>
              <a:rPr sz="1100" b="1" i="0">
                <a:solidFill>
                  <a:srgbClr val="FFFFFF"/>
                </a:solidFill>
              </a:rPr>
              <a:t>$5,000,000</a:t>
            </a:r>
          </a:p>
        </p:txBody>
      </p:sp>
      <p:sp>
        <p:nvSpPr>
          <p:cNvPr id="12" name="TextBox 11"/>
          <p:cNvSpPr txBox="1"/>
          <p:nvPr/>
        </p:nvSpPr>
        <p:spPr>
          <a:xfrm>
            <a:off x="457200" y="2862072"/>
            <a:ext cx="2286000" cy="301752"/>
          </a:xfrm>
          <a:prstGeom prst="rect">
            <a:avLst/>
          </a:prstGeom>
          <a:noFill/>
        </p:spPr>
        <p:txBody>
          <a:bodyPr wrap="square">
            <a:spAutoFit/>
          </a:bodyPr>
          <a:lstStyle/>
          <a:p>
            <a:pPr algn="l"/>
            <a:r>
              <a:rPr sz="1100" b="0" i="0">
                <a:solidFill>
                  <a:srgbClr val="8899AA"/>
                </a:solidFill>
              </a:rPr>
              <a:t>Instrument</a:t>
            </a:r>
          </a:p>
        </p:txBody>
      </p:sp>
      <p:sp>
        <p:nvSpPr>
          <p:cNvPr id="13" name="TextBox 12"/>
          <p:cNvSpPr txBox="1"/>
          <p:nvPr/>
        </p:nvSpPr>
        <p:spPr>
          <a:xfrm>
            <a:off x="2834640" y="2862072"/>
            <a:ext cx="2651760" cy="301752"/>
          </a:xfrm>
          <a:prstGeom prst="rect">
            <a:avLst/>
          </a:prstGeom>
          <a:noFill/>
        </p:spPr>
        <p:txBody>
          <a:bodyPr wrap="square">
            <a:spAutoFit/>
          </a:bodyPr>
          <a:lstStyle/>
          <a:p>
            <a:pPr algn="l"/>
            <a:r>
              <a:rPr sz="1100" b="1" i="0">
                <a:solidFill>
                  <a:srgbClr val="FFFFFF"/>
                </a:solidFill>
              </a:rPr>
              <a:t>Post-Money SAFE</a:t>
            </a:r>
          </a:p>
        </p:txBody>
      </p:sp>
      <p:sp>
        <p:nvSpPr>
          <p:cNvPr id="14" name="TextBox 13"/>
          <p:cNvSpPr txBox="1"/>
          <p:nvPr/>
        </p:nvSpPr>
        <p:spPr>
          <a:xfrm>
            <a:off x="457200" y="3209544"/>
            <a:ext cx="2286000" cy="301752"/>
          </a:xfrm>
          <a:prstGeom prst="rect">
            <a:avLst/>
          </a:prstGeom>
          <a:noFill/>
        </p:spPr>
        <p:txBody>
          <a:bodyPr wrap="square">
            <a:spAutoFit/>
          </a:bodyPr>
          <a:lstStyle/>
          <a:p>
            <a:pPr algn="l"/>
            <a:r>
              <a:rPr sz="1100" b="0" i="0">
                <a:solidFill>
                  <a:srgbClr val="8899AA"/>
                </a:solidFill>
              </a:rPr>
              <a:t>Valuation cap</a:t>
            </a:r>
          </a:p>
        </p:txBody>
      </p:sp>
      <p:sp>
        <p:nvSpPr>
          <p:cNvPr id="15" name="TextBox 14"/>
          <p:cNvSpPr txBox="1"/>
          <p:nvPr/>
        </p:nvSpPr>
        <p:spPr>
          <a:xfrm>
            <a:off x="2834640" y="3209544"/>
            <a:ext cx="2651760" cy="301752"/>
          </a:xfrm>
          <a:prstGeom prst="rect">
            <a:avLst/>
          </a:prstGeom>
          <a:noFill/>
        </p:spPr>
        <p:txBody>
          <a:bodyPr wrap="square">
            <a:spAutoFit/>
          </a:bodyPr>
          <a:lstStyle/>
          <a:p>
            <a:pPr algn="l"/>
            <a:r>
              <a:rPr sz="1100" b="1" i="0">
                <a:solidFill>
                  <a:srgbClr val="FFFFFF"/>
                </a:solidFill>
              </a:rPr>
              <a:t>$30,000,000</a:t>
            </a:r>
          </a:p>
        </p:txBody>
      </p:sp>
      <p:sp>
        <p:nvSpPr>
          <p:cNvPr id="16" name="TextBox 15"/>
          <p:cNvSpPr txBox="1"/>
          <p:nvPr/>
        </p:nvSpPr>
        <p:spPr>
          <a:xfrm>
            <a:off x="457200" y="3557016"/>
            <a:ext cx="2286000" cy="301752"/>
          </a:xfrm>
          <a:prstGeom prst="rect">
            <a:avLst/>
          </a:prstGeom>
          <a:noFill/>
        </p:spPr>
        <p:txBody>
          <a:bodyPr wrap="square">
            <a:spAutoFit/>
          </a:bodyPr>
          <a:lstStyle/>
          <a:p>
            <a:pPr algn="l"/>
            <a:r>
              <a:rPr sz="1100" b="0" i="0">
                <a:solidFill>
                  <a:srgbClr val="8899AA"/>
                </a:solidFill>
              </a:rPr>
              <a:t>Discount</a:t>
            </a:r>
          </a:p>
        </p:txBody>
      </p:sp>
      <p:sp>
        <p:nvSpPr>
          <p:cNvPr id="17" name="TextBox 16"/>
          <p:cNvSpPr txBox="1"/>
          <p:nvPr/>
        </p:nvSpPr>
        <p:spPr>
          <a:xfrm>
            <a:off x="2834640" y="3557016"/>
            <a:ext cx="2651760" cy="301752"/>
          </a:xfrm>
          <a:prstGeom prst="rect">
            <a:avLst/>
          </a:prstGeom>
          <a:noFill/>
        </p:spPr>
        <p:txBody>
          <a:bodyPr wrap="square">
            <a:spAutoFit/>
          </a:bodyPr>
          <a:lstStyle/>
          <a:p>
            <a:pPr algn="l"/>
            <a:r>
              <a:rPr sz="1100" b="1" i="0">
                <a:solidFill>
                  <a:srgbClr val="FFFFFF"/>
                </a:solidFill>
              </a:rPr>
              <a:t>20% on next priced round</a:t>
            </a:r>
          </a:p>
        </p:txBody>
      </p:sp>
      <p:sp>
        <p:nvSpPr>
          <p:cNvPr id="18" name="TextBox 17"/>
          <p:cNvSpPr txBox="1"/>
          <p:nvPr/>
        </p:nvSpPr>
        <p:spPr>
          <a:xfrm>
            <a:off x="457200" y="3904487"/>
            <a:ext cx="2286000" cy="301752"/>
          </a:xfrm>
          <a:prstGeom prst="rect">
            <a:avLst/>
          </a:prstGeom>
          <a:noFill/>
        </p:spPr>
        <p:txBody>
          <a:bodyPr wrap="square">
            <a:spAutoFit/>
          </a:bodyPr>
          <a:lstStyle/>
          <a:p>
            <a:pPr algn="l"/>
            <a:r>
              <a:rPr sz="1100" b="0" i="0">
                <a:solidFill>
                  <a:srgbClr val="8899AA"/>
                </a:solidFill>
              </a:rPr>
              <a:t>Pro-rata rights</a:t>
            </a:r>
          </a:p>
        </p:txBody>
      </p:sp>
      <p:sp>
        <p:nvSpPr>
          <p:cNvPr id="19" name="TextBox 18"/>
          <p:cNvSpPr txBox="1"/>
          <p:nvPr/>
        </p:nvSpPr>
        <p:spPr>
          <a:xfrm>
            <a:off x="2834640" y="3904487"/>
            <a:ext cx="2651760" cy="301752"/>
          </a:xfrm>
          <a:prstGeom prst="rect">
            <a:avLst/>
          </a:prstGeom>
          <a:noFill/>
        </p:spPr>
        <p:txBody>
          <a:bodyPr wrap="square">
            <a:spAutoFit/>
          </a:bodyPr>
          <a:lstStyle/>
          <a:p>
            <a:pPr algn="l"/>
            <a:r>
              <a:rPr sz="1100" b="1" i="0">
                <a:solidFill>
                  <a:srgbClr val="FFFFFF"/>
                </a:solidFill>
              </a:rPr>
              <a:t>All future rounds</a:t>
            </a:r>
          </a:p>
        </p:txBody>
      </p:sp>
      <p:sp>
        <p:nvSpPr>
          <p:cNvPr id="20" name="TextBox 19"/>
          <p:cNvSpPr txBox="1"/>
          <p:nvPr/>
        </p:nvSpPr>
        <p:spPr>
          <a:xfrm>
            <a:off x="457200" y="4251960"/>
            <a:ext cx="2286000" cy="301752"/>
          </a:xfrm>
          <a:prstGeom prst="rect">
            <a:avLst/>
          </a:prstGeom>
          <a:noFill/>
        </p:spPr>
        <p:txBody>
          <a:bodyPr wrap="square">
            <a:spAutoFit/>
          </a:bodyPr>
          <a:lstStyle/>
          <a:p>
            <a:pPr algn="l"/>
            <a:r>
              <a:rPr sz="1100" b="0" i="0">
                <a:solidFill>
                  <a:srgbClr val="8899AA"/>
                </a:solidFill>
              </a:rPr>
              <a:t>Board observer</a:t>
            </a:r>
          </a:p>
        </p:txBody>
      </p:sp>
      <p:sp>
        <p:nvSpPr>
          <p:cNvPr id="21" name="TextBox 20"/>
          <p:cNvSpPr txBox="1"/>
          <p:nvPr/>
        </p:nvSpPr>
        <p:spPr>
          <a:xfrm>
            <a:off x="2834640" y="4251960"/>
            <a:ext cx="2651760" cy="301752"/>
          </a:xfrm>
          <a:prstGeom prst="rect">
            <a:avLst/>
          </a:prstGeom>
          <a:noFill/>
        </p:spPr>
        <p:txBody>
          <a:bodyPr wrap="square">
            <a:spAutoFit/>
          </a:bodyPr>
          <a:lstStyle/>
          <a:p>
            <a:pPr algn="l"/>
            <a:r>
              <a:rPr sz="1100" b="1" i="0">
                <a:solidFill>
                  <a:srgbClr val="FFFFFF"/>
                </a:solidFill>
              </a:rPr>
              <a:t>One seat — Ten31 designee</a:t>
            </a:r>
          </a:p>
        </p:txBody>
      </p:sp>
      <p:sp>
        <p:nvSpPr>
          <p:cNvPr id="22" name="TextBox 21"/>
          <p:cNvSpPr txBox="1"/>
          <p:nvPr/>
        </p:nvSpPr>
        <p:spPr>
          <a:xfrm>
            <a:off x="457200" y="4599432"/>
            <a:ext cx="2286000" cy="301752"/>
          </a:xfrm>
          <a:prstGeom prst="rect">
            <a:avLst/>
          </a:prstGeom>
          <a:noFill/>
        </p:spPr>
        <p:txBody>
          <a:bodyPr wrap="square">
            <a:spAutoFit/>
          </a:bodyPr>
          <a:lstStyle/>
          <a:p>
            <a:pPr algn="l"/>
            <a:r>
              <a:rPr sz="1100" b="0" i="0">
                <a:solidFill>
                  <a:srgbClr val="8899AA"/>
                </a:solidFill>
              </a:rPr>
              <a:t>Target close</a:t>
            </a:r>
          </a:p>
        </p:txBody>
      </p:sp>
      <p:sp>
        <p:nvSpPr>
          <p:cNvPr id="23" name="TextBox 22"/>
          <p:cNvSpPr txBox="1"/>
          <p:nvPr/>
        </p:nvSpPr>
        <p:spPr>
          <a:xfrm>
            <a:off x="2834640" y="4599432"/>
            <a:ext cx="2651760" cy="301752"/>
          </a:xfrm>
          <a:prstGeom prst="rect">
            <a:avLst/>
          </a:prstGeom>
          <a:noFill/>
        </p:spPr>
        <p:txBody>
          <a:bodyPr wrap="square">
            <a:spAutoFit/>
          </a:bodyPr>
          <a:lstStyle/>
          <a:p>
            <a:pPr algn="l"/>
            <a:r>
              <a:rPr sz="1100" b="1" i="0">
                <a:solidFill>
                  <a:srgbClr val="20E898"/>
                </a:solidFill>
              </a:rPr>
              <a:t>July 25, 2026</a:t>
            </a:r>
          </a:p>
        </p:txBody>
      </p:sp>
      <p:sp>
        <p:nvSpPr>
          <p:cNvPr id="24" name="TextBox 23"/>
          <p:cNvSpPr txBox="1"/>
          <p:nvPr/>
        </p:nvSpPr>
        <p:spPr>
          <a:xfrm>
            <a:off x="457200" y="4946904"/>
            <a:ext cx="2286000" cy="301752"/>
          </a:xfrm>
          <a:prstGeom prst="rect">
            <a:avLst/>
          </a:prstGeom>
          <a:noFill/>
        </p:spPr>
        <p:txBody>
          <a:bodyPr wrap="square">
            <a:spAutoFit/>
          </a:bodyPr>
          <a:lstStyle/>
          <a:p>
            <a:pPr algn="l"/>
            <a:r>
              <a:rPr sz="1100" b="0" i="0">
                <a:solidFill>
                  <a:srgbClr val="8899AA"/>
                </a:solidFill>
              </a:rPr>
              <a:t>Close deadline</a:t>
            </a:r>
          </a:p>
        </p:txBody>
      </p:sp>
      <p:sp>
        <p:nvSpPr>
          <p:cNvPr id="25" name="TextBox 24"/>
          <p:cNvSpPr txBox="1"/>
          <p:nvPr/>
        </p:nvSpPr>
        <p:spPr>
          <a:xfrm>
            <a:off x="2834640" y="4946904"/>
            <a:ext cx="2651760" cy="301752"/>
          </a:xfrm>
          <a:prstGeom prst="rect">
            <a:avLst/>
          </a:prstGeom>
          <a:noFill/>
        </p:spPr>
        <p:txBody>
          <a:bodyPr wrap="square">
            <a:spAutoFit/>
          </a:bodyPr>
          <a:lstStyle/>
          <a:p>
            <a:pPr algn="l"/>
            <a:r>
              <a:rPr sz="1100" b="1" i="0">
                <a:solidFill>
                  <a:srgbClr val="20E898"/>
                </a:solidFill>
              </a:rPr>
              <a:t>19 days before EU enforcement</a:t>
            </a:r>
          </a:p>
        </p:txBody>
      </p:sp>
      <p:sp>
        <p:nvSpPr>
          <p:cNvPr id="26" name="Rectangle 25"/>
          <p:cNvSpPr/>
          <p:nvPr/>
        </p:nvSpPr>
        <p:spPr>
          <a:xfrm>
            <a:off x="6172200" y="1920240"/>
            <a:ext cx="5715000" cy="320040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1920240"/>
            <a:ext cx="5715000" cy="73152"/>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048256"/>
            <a:ext cx="5486400" cy="347472"/>
          </a:xfrm>
          <a:prstGeom prst="rect">
            <a:avLst/>
          </a:prstGeom>
          <a:noFill/>
        </p:spPr>
        <p:txBody>
          <a:bodyPr wrap="square">
            <a:spAutoFit/>
          </a:bodyPr>
          <a:lstStyle/>
          <a:p>
            <a:pPr algn="l"/>
            <a:r>
              <a:rPr sz="1300" b="1" i="0">
                <a:solidFill>
                  <a:srgbClr val="4DEFAB"/>
                </a:solidFill>
              </a:rPr>
              <a:t>Use of $5M — Milestone-Tied</a:t>
            </a:r>
          </a:p>
        </p:txBody>
      </p:sp>
      <p:sp>
        <p:nvSpPr>
          <p:cNvPr id="29" name="TextBox 28"/>
          <p:cNvSpPr txBox="1"/>
          <p:nvPr/>
        </p:nvSpPr>
        <p:spPr>
          <a:xfrm>
            <a:off x="6309360" y="2487168"/>
            <a:ext cx="4114800" cy="475488"/>
          </a:xfrm>
          <a:prstGeom prst="rect">
            <a:avLst/>
          </a:prstGeom>
          <a:noFill/>
        </p:spPr>
        <p:txBody>
          <a:bodyPr wrap="square">
            <a:spAutoFit/>
          </a:bodyPr>
          <a:lstStyle/>
          <a:p>
            <a:pPr algn="l"/>
            <a:r>
              <a:rPr sz="1000" b="0" i="0">
                <a:solidFill>
                  <a:srgbClr val="FAF7F0"/>
                </a:solidFill>
              </a:rPr>
              <a:t>Protocol &amp; security (Trail-of-Bits audit,
IETF working group, PQC R&amp;D)</a:t>
            </a:r>
          </a:p>
        </p:txBody>
      </p:sp>
      <p:sp>
        <p:nvSpPr>
          <p:cNvPr id="30" name="TextBox 29"/>
          <p:cNvSpPr txBox="1"/>
          <p:nvPr/>
        </p:nvSpPr>
        <p:spPr>
          <a:xfrm>
            <a:off x="10515600" y="2487168"/>
            <a:ext cx="1234440" cy="347472"/>
          </a:xfrm>
          <a:prstGeom prst="rect">
            <a:avLst/>
          </a:prstGeom>
          <a:noFill/>
        </p:spPr>
        <p:txBody>
          <a:bodyPr wrap="square">
            <a:spAutoFit/>
          </a:bodyPr>
          <a:lstStyle/>
          <a:p>
            <a:pPr algn="r"/>
            <a:r>
              <a:rPr sz="1100" b="1" i="0">
                <a:solidFill>
                  <a:srgbClr val="4DEFAB"/>
                </a:solidFill>
              </a:rPr>
              <a:t>25%   $1.25M</a:t>
            </a:r>
          </a:p>
        </p:txBody>
      </p:sp>
      <p:sp>
        <p:nvSpPr>
          <p:cNvPr id="31" name="TextBox 30"/>
          <p:cNvSpPr txBox="1"/>
          <p:nvPr/>
        </p:nvSpPr>
        <p:spPr>
          <a:xfrm>
            <a:off x="6309360" y="3054096"/>
            <a:ext cx="4114800" cy="475488"/>
          </a:xfrm>
          <a:prstGeom prst="rect">
            <a:avLst/>
          </a:prstGeom>
          <a:noFill/>
        </p:spPr>
        <p:txBody>
          <a:bodyPr wrap="square">
            <a:spAutoFit/>
          </a:bodyPr>
          <a:lstStyle/>
          <a:p>
            <a:pPr algn="l"/>
            <a:r>
              <a:rPr sz="1000" b="0" i="0">
                <a:solidFill>
                  <a:srgbClr val="FAF7F0"/>
                </a:solidFill>
              </a:rPr>
              <a:t>Enterprise sales (VP Sales hire,
2 SE hires, legal vertical)</a:t>
            </a:r>
          </a:p>
        </p:txBody>
      </p:sp>
      <p:sp>
        <p:nvSpPr>
          <p:cNvPr id="32" name="TextBox 31"/>
          <p:cNvSpPr txBox="1"/>
          <p:nvPr/>
        </p:nvSpPr>
        <p:spPr>
          <a:xfrm>
            <a:off x="10515600" y="3054096"/>
            <a:ext cx="1234440" cy="347472"/>
          </a:xfrm>
          <a:prstGeom prst="rect">
            <a:avLst/>
          </a:prstGeom>
          <a:noFill/>
        </p:spPr>
        <p:txBody>
          <a:bodyPr wrap="square">
            <a:spAutoFit/>
          </a:bodyPr>
          <a:lstStyle/>
          <a:p>
            <a:pPr algn="r"/>
            <a:r>
              <a:rPr sz="1100" b="1" i="0">
                <a:solidFill>
                  <a:srgbClr val="4DEFAB"/>
                </a:solidFill>
              </a:rPr>
              <a:t>30%   $1.50M</a:t>
            </a:r>
          </a:p>
        </p:txBody>
      </p:sp>
      <p:sp>
        <p:nvSpPr>
          <p:cNvPr id="33" name="TextBox 32"/>
          <p:cNvSpPr txBox="1"/>
          <p:nvPr/>
        </p:nvSpPr>
        <p:spPr>
          <a:xfrm>
            <a:off x="6309360" y="3621024"/>
            <a:ext cx="4114800" cy="475488"/>
          </a:xfrm>
          <a:prstGeom prst="rect">
            <a:avLst/>
          </a:prstGeom>
          <a:noFill/>
        </p:spPr>
        <p:txBody>
          <a:bodyPr wrap="square">
            <a:spAutoFit/>
          </a:bodyPr>
          <a:lstStyle/>
          <a:p>
            <a:pPr algn="l"/>
            <a:r>
              <a:rPr sz="1000" b="0" i="0">
                <a:solidFill>
                  <a:srgbClr val="FAF7F0"/>
                </a:solidFill>
              </a:rPr>
              <a:t>Verifier &amp; infrastructure
(99.99% uptime, multi-region)</a:t>
            </a:r>
          </a:p>
        </p:txBody>
      </p:sp>
      <p:sp>
        <p:nvSpPr>
          <p:cNvPr id="34" name="TextBox 33"/>
          <p:cNvSpPr txBox="1"/>
          <p:nvPr/>
        </p:nvSpPr>
        <p:spPr>
          <a:xfrm>
            <a:off x="10515600" y="3621024"/>
            <a:ext cx="1234440" cy="347472"/>
          </a:xfrm>
          <a:prstGeom prst="rect">
            <a:avLst/>
          </a:prstGeom>
          <a:noFill/>
        </p:spPr>
        <p:txBody>
          <a:bodyPr wrap="square">
            <a:spAutoFit/>
          </a:bodyPr>
          <a:lstStyle/>
          <a:p>
            <a:pPr algn="r"/>
            <a:r>
              <a:rPr sz="1100" b="1" i="0">
                <a:solidFill>
                  <a:srgbClr val="4DEFAB"/>
                </a:solidFill>
              </a:rPr>
              <a:t>20%   $1.00M</a:t>
            </a:r>
          </a:p>
        </p:txBody>
      </p:sp>
      <p:sp>
        <p:nvSpPr>
          <p:cNvPr id="35" name="TextBox 34"/>
          <p:cNvSpPr txBox="1"/>
          <p:nvPr/>
        </p:nvSpPr>
        <p:spPr>
          <a:xfrm>
            <a:off x="6309360" y="4187952"/>
            <a:ext cx="4114800" cy="475488"/>
          </a:xfrm>
          <a:prstGeom prst="rect">
            <a:avLst/>
          </a:prstGeom>
          <a:noFill/>
        </p:spPr>
        <p:txBody>
          <a:bodyPr wrap="square">
            <a:spAutoFit/>
          </a:bodyPr>
          <a:lstStyle/>
          <a:p>
            <a:pPr algn="l"/>
            <a:r>
              <a:rPr sz="1000" b="0" i="0">
                <a:solidFill>
                  <a:srgbClr val="FAF7F0"/>
                </a:solidFill>
              </a:rPr>
              <a:t>Foundation formation
(501c3 legal, endowment seed)</a:t>
            </a:r>
          </a:p>
        </p:txBody>
      </p:sp>
      <p:sp>
        <p:nvSpPr>
          <p:cNvPr id="36" name="TextBox 35"/>
          <p:cNvSpPr txBox="1"/>
          <p:nvPr/>
        </p:nvSpPr>
        <p:spPr>
          <a:xfrm>
            <a:off x="10515600" y="4187952"/>
            <a:ext cx="1234440" cy="347472"/>
          </a:xfrm>
          <a:prstGeom prst="rect">
            <a:avLst/>
          </a:prstGeom>
          <a:noFill/>
        </p:spPr>
        <p:txBody>
          <a:bodyPr wrap="square">
            <a:spAutoFit/>
          </a:bodyPr>
          <a:lstStyle/>
          <a:p>
            <a:pPr algn="r"/>
            <a:r>
              <a:rPr sz="1100" b="1" i="0">
                <a:solidFill>
                  <a:srgbClr val="4DEFAB"/>
                </a:solidFill>
              </a:rPr>
              <a:t>15%   $0.75M</a:t>
            </a:r>
          </a:p>
        </p:txBody>
      </p:sp>
      <p:sp>
        <p:nvSpPr>
          <p:cNvPr id="37" name="TextBox 36"/>
          <p:cNvSpPr txBox="1"/>
          <p:nvPr/>
        </p:nvSpPr>
        <p:spPr>
          <a:xfrm>
            <a:off x="6309360" y="4754880"/>
            <a:ext cx="4114800" cy="475488"/>
          </a:xfrm>
          <a:prstGeom prst="rect">
            <a:avLst/>
          </a:prstGeom>
          <a:noFill/>
        </p:spPr>
        <p:txBody>
          <a:bodyPr wrap="square">
            <a:spAutoFit/>
          </a:bodyPr>
          <a:lstStyle/>
          <a:p>
            <a:pPr algn="l"/>
            <a:r>
              <a:rPr sz="1000" b="0" i="0">
                <a:solidFill>
                  <a:srgbClr val="FAF7F0"/>
                </a:solidFill>
              </a:rPr>
              <a:t>Working capital / 18-month runway</a:t>
            </a:r>
          </a:p>
        </p:txBody>
      </p:sp>
      <p:sp>
        <p:nvSpPr>
          <p:cNvPr id="38" name="TextBox 37"/>
          <p:cNvSpPr txBox="1"/>
          <p:nvPr/>
        </p:nvSpPr>
        <p:spPr>
          <a:xfrm>
            <a:off x="10515600" y="4754880"/>
            <a:ext cx="1234440" cy="347472"/>
          </a:xfrm>
          <a:prstGeom prst="rect">
            <a:avLst/>
          </a:prstGeom>
          <a:noFill/>
        </p:spPr>
        <p:txBody>
          <a:bodyPr wrap="square">
            <a:spAutoFit/>
          </a:bodyPr>
          <a:lstStyle/>
          <a:p>
            <a:pPr algn="r"/>
            <a:r>
              <a:rPr sz="1100" b="1" i="0">
                <a:solidFill>
                  <a:srgbClr val="4DEFAB"/>
                </a:solidFill>
              </a:rPr>
              <a:t>10%   $0.50M</a:t>
            </a:r>
          </a:p>
        </p:txBody>
      </p:sp>
      <p:sp>
        <p:nvSpPr>
          <p:cNvPr id="39" name="Rectangle 38"/>
          <p:cNvSpPr/>
          <p:nvPr/>
        </p:nvSpPr>
        <p:spPr>
          <a:xfrm>
            <a:off x="320040" y="5349240"/>
            <a:ext cx="11548872" cy="822960"/>
          </a:xfrm>
          <a:prstGeom prst="rect">
            <a:avLst/>
          </a:prstGeom>
          <a:solidFill>
            <a:srgbClr val="0A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413248"/>
            <a:ext cx="8229600" cy="320040"/>
          </a:xfrm>
          <a:prstGeom prst="rect">
            <a:avLst/>
          </a:prstGeom>
          <a:noFill/>
        </p:spPr>
        <p:txBody>
          <a:bodyPr wrap="square">
            <a:spAutoFit/>
          </a:bodyPr>
          <a:lstStyle/>
          <a:p>
            <a:pPr algn="l"/>
            <a:r>
              <a:rPr sz="1200" b="0" i="0">
                <a:solidFill>
                  <a:srgbClr val="FAF7F0"/>
                </a:solidFill>
              </a:rPr>
              <a:t>The product is live. Verify the Founding Declaration right now:</a:t>
            </a:r>
          </a:p>
        </p:txBody>
      </p:sp>
      <p:sp>
        <p:nvSpPr>
          <p:cNvPr id="41" name="TextBox 40"/>
          <p:cNvSpPr txBox="1"/>
          <p:nvPr/>
        </p:nvSpPr>
        <p:spPr>
          <a:xfrm>
            <a:off x="502920" y="5715000"/>
            <a:ext cx="11155680" cy="320040"/>
          </a:xfrm>
          <a:prstGeom prst="rect">
            <a:avLst/>
          </a:prstGeom>
          <a:noFill/>
        </p:spPr>
        <p:txBody>
          <a:bodyPr wrap="square">
            <a:spAutoFit/>
          </a:bodyPr>
          <a:lstStyle/>
          <a:p>
            <a:pPr algn="l"/>
            <a:r>
              <a:rPr sz="1300" b="1" i="0">
                <a:solidFill>
                  <a:srgbClr val="20E898"/>
                </a:solidFill>
              </a:rPr>
              <a:t>https://verify.ledgerproofhq.io/r/founding-declaration</a:t>
            </a:r>
          </a:p>
        </p:txBody>
      </p:sp>
      <p:sp>
        <p:nvSpPr>
          <p:cNvPr id="42" name="TextBox 41"/>
          <p:cNvSpPr txBox="1"/>
          <p:nvPr/>
        </p:nvSpPr>
        <p:spPr>
          <a:xfrm>
            <a:off x="320040" y="6355080"/>
            <a:ext cx="11548872" cy="347472"/>
          </a:xfrm>
          <a:prstGeom prst="rect">
            <a:avLst/>
          </a:prstGeom>
          <a:noFill/>
        </p:spPr>
        <p:txBody>
          <a:bodyPr wrap="square">
            <a:spAutoFit/>
          </a:bodyPr>
          <a:lstStyle/>
          <a:p>
            <a:pPr algn="ctr"/>
            <a:r>
              <a:rPr sz="1100" b="0" i="0">
                <a:solidFill>
                  <a:srgbClr val="8899AA"/>
                </a:solidFill>
              </a:rPr>
              <a:t>Veronica S. Dawkins  ·  Founder &amp; CEO  ·  veronica@ledgerproofhq.io  ·  ledgerproofhq.io</a:t>
            </a:r>
          </a:p>
        </p:txBody>
      </p:sp>
      <p:sp>
        <p:nvSpPr>
          <p:cNvPr id="43" name="Rectangle 42"/>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