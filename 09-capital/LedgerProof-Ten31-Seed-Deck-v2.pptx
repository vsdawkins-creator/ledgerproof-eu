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40C16"/>
        </a:solidFill>
        <a:effectLst/>
      </p:bgPr>
    </p:bg>
    <p:spTree>
      <p:nvGrpSpPr>
        <p:cNvPr id="1" name=""/>
        <p:cNvGrpSpPr/>
        <p:nvPr/>
      </p:nvGrpSpPr>
      <p:grpSpPr/>
      <p:sp>
        <p:nvSpPr>
          <p:cNvPr id="2" name="Rectangle 1"/>
          <p:cNvSpPr/>
          <p:nvPr/>
        </p:nvSpPr>
        <p:spPr>
          <a:xfrm>
            <a:off x="0" y="0"/>
            <a:ext cx="4617720" cy="6858000"/>
          </a:xfrm>
          <a:prstGeom prst="rect">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rot="210000">
            <a:off x="4416552" y="-457200"/>
            <a:ext cx="502920" cy="7772400"/>
          </a:xfrm>
          <a:prstGeom prst="rect">
            <a:avLst/>
          </a:prstGeom>
          <a:solidFill>
            <a:srgbClr val="040C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365760"/>
            <a:ext cx="54864" cy="54864"/>
          </a:xfrm>
          <a:prstGeom prst="ellipse">
            <a:avLst/>
          </a:prstGeom>
          <a:solidFill>
            <a:srgbClr val="1AC4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274320" y="1920240"/>
            <a:ext cx="54864" cy="54864"/>
          </a:xfrm>
          <a:prstGeom prst="ellipse">
            <a:avLst/>
          </a:prstGeom>
          <a:solidFill>
            <a:srgbClr val="16A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274320" y="3474720"/>
            <a:ext cx="54864" cy="54864"/>
          </a:xfrm>
          <a:prstGeom prst="ellipse">
            <a:avLst/>
          </a:prstGeom>
          <a:solidFill>
            <a:srgbClr val="1AC4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274320" y="5029200"/>
            <a:ext cx="54864" cy="54864"/>
          </a:xfrm>
          <a:prstGeom prst="ellipse">
            <a:avLst/>
          </a:prstGeom>
          <a:solidFill>
            <a:srgbClr val="16A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60120" y="365760"/>
            <a:ext cx="54864" cy="54864"/>
          </a:xfrm>
          <a:prstGeom prst="ellipse">
            <a:avLst/>
          </a:prstGeom>
          <a:solidFill>
            <a:srgbClr val="16A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1920240"/>
            <a:ext cx="54864" cy="54864"/>
          </a:xfrm>
          <a:prstGeom prst="ellipse">
            <a:avLst/>
          </a:prstGeom>
          <a:solidFill>
            <a:srgbClr val="1AC4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60120" y="3474720"/>
            <a:ext cx="54864" cy="54864"/>
          </a:xfrm>
          <a:prstGeom prst="ellipse">
            <a:avLst/>
          </a:prstGeom>
          <a:solidFill>
            <a:srgbClr val="16A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960120" y="5029200"/>
            <a:ext cx="54864" cy="54864"/>
          </a:xfrm>
          <a:prstGeom prst="ellipse">
            <a:avLst/>
          </a:prstGeom>
          <a:solidFill>
            <a:srgbClr val="1AC4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645920" y="365760"/>
            <a:ext cx="54864" cy="54864"/>
          </a:xfrm>
          <a:prstGeom prst="ellipse">
            <a:avLst/>
          </a:prstGeom>
          <a:solidFill>
            <a:srgbClr val="1AC4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645920" y="1920240"/>
            <a:ext cx="54864" cy="54864"/>
          </a:xfrm>
          <a:prstGeom prst="ellipse">
            <a:avLst/>
          </a:prstGeom>
          <a:solidFill>
            <a:srgbClr val="16A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645920" y="3474720"/>
            <a:ext cx="54864" cy="54864"/>
          </a:xfrm>
          <a:prstGeom prst="ellipse">
            <a:avLst/>
          </a:prstGeom>
          <a:solidFill>
            <a:srgbClr val="1AC4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645920" y="5029200"/>
            <a:ext cx="54864" cy="54864"/>
          </a:xfrm>
          <a:prstGeom prst="ellipse">
            <a:avLst/>
          </a:prstGeom>
          <a:solidFill>
            <a:srgbClr val="16A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2331720" y="365760"/>
            <a:ext cx="54864" cy="54864"/>
          </a:xfrm>
          <a:prstGeom prst="ellipse">
            <a:avLst/>
          </a:prstGeom>
          <a:solidFill>
            <a:srgbClr val="16A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2331720" y="1920240"/>
            <a:ext cx="54864" cy="54864"/>
          </a:xfrm>
          <a:prstGeom prst="ellipse">
            <a:avLst/>
          </a:prstGeom>
          <a:solidFill>
            <a:srgbClr val="1AC4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2331720" y="3474720"/>
            <a:ext cx="54864" cy="54864"/>
          </a:xfrm>
          <a:prstGeom prst="ellipse">
            <a:avLst/>
          </a:prstGeom>
          <a:solidFill>
            <a:srgbClr val="16A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2331720" y="5029200"/>
            <a:ext cx="54864" cy="54864"/>
          </a:xfrm>
          <a:prstGeom prst="ellipse">
            <a:avLst/>
          </a:prstGeom>
          <a:solidFill>
            <a:srgbClr val="1AC4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3017520" y="365760"/>
            <a:ext cx="54864" cy="54864"/>
          </a:xfrm>
          <a:prstGeom prst="ellipse">
            <a:avLst/>
          </a:prstGeom>
          <a:solidFill>
            <a:srgbClr val="1AC4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3017520" y="1920240"/>
            <a:ext cx="54864" cy="54864"/>
          </a:xfrm>
          <a:prstGeom prst="ellipse">
            <a:avLst/>
          </a:prstGeom>
          <a:solidFill>
            <a:srgbClr val="16A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017520" y="3474720"/>
            <a:ext cx="54864" cy="54864"/>
          </a:xfrm>
          <a:prstGeom prst="ellipse">
            <a:avLst/>
          </a:prstGeom>
          <a:solidFill>
            <a:srgbClr val="1AC4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3017520" y="5029200"/>
            <a:ext cx="54864" cy="54864"/>
          </a:xfrm>
          <a:prstGeom prst="ellipse">
            <a:avLst/>
          </a:prstGeom>
          <a:solidFill>
            <a:srgbClr val="16A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3703320" y="365760"/>
            <a:ext cx="54864" cy="54864"/>
          </a:xfrm>
          <a:prstGeom prst="ellipse">
            <a:avLst/>
          </a:prstGeom>
          <a:solidFill>
            <a:srgbClr val="16A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3703320" y="1920240"/>
            <a:ext cx="54864" cy="54864"/>
          </a:xfrm>
          <a:prstGeom prst="ellipse">
            <a:avLst/>
          </a:prstGeom>
          <a:solidFill>
            <a:srgbClr val="1AC4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3703320" y="3474720"/>
            <a:ext cx="54864" cy="54864"/>
          </a:xfrm>
          <a:prstGeom prst="ellipse">
            <a:avLst/>
          </a:prstGeom>
          <a:solidFill>
            <a:srgbClr val="16A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3703320" y="5029200"/>
            <a:ext cx="54864" cy="54864"/>
          </a:xfrm>
          <a:prstGeom prst="ellipse">
            <a:avLst/>
          </a:prstGeom>
          <a:solidFill>
            <a:srgbClr val="1AC4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ledgerproof-logo.png"/>
          <p:cNvPicPr>
            <a:picLocks noChangeAspect="1"/>
          </p:cNvPicPr>
          <p:nvPr/>
        </p:nvPicPr>
        <p:blipFill>
          <a:blip r:embed="rId2"/>
          <a:stretch>
            <a:fillRect/>
          </a:stretch>
        </p:blipFill>
        <p:spPr>
          <a:xfrm>
            <a:off x="274320" y="457200"/>
            <a:ext cx="3200400" cy="1726882"/>
          </a:xfrm>
          <a:prstGeom prst="rect">
            <a:avLst/>
          </a:prstGeom>
        </p:spPr>
      </p:pic>
      <p:sp>
        <p:nvSpPr>
          <p:cNvPr id="29" name="TextBox 28"/>
          <p:cNvSpPr txBox="1"/>
          <p:nvPr/>
        </p:nvSpPr>
        <p:spPr>
          <a:xfrm>
            <a:off x="256032" y="1828800"/>
            <a:ext cx="4114800" cy="2926080"/>
          </a:xfrm>
          <a:prstGeom prst="rect">
            <a:avLst/>
          </a:prstGeom>
          <a:noFill/>
        </p:spPr>
        <p:txBody>
          <a:bodyPr wrap="square">
            <a:spAutoFit/>
          </a:bodyPr>
          <a:lstStyle/>
          <a:p>
            <a:pPr algn="l"/>
            <a:r>
              <a:rPr sz="2200" b="1" i="0">
                <a:solidFill>
                  <a:srgbClr val="081424"/>
                </a:solidFill>
              </a:rPr>
              <a:t>Bitcoin-anchored
provenance
for institutional
documents.</a:t>
            </a:r>
          </a:p>
        </p:txBody>
      </p:sp>
      <p:sp>
        <p:nvSpPr>
          <p:cNvPr id="30" name="TextBox 29"/>
          <p:cNvSpPr txBox="1"/>
          <p:nvPr/>
        </p:nvSpPr>
        <p:spPr>
          <a:xfrm>
            <a:off x="256032" y="4572000"/>
            <a:ext cx="4206240" cy="457200"/>
          </a:xfrm>
          <a:prstGeom prst="rect">
            <a:avLst/>
          </a:prstGeom>
          <a:noFill/>
        </p:spPr>
        <p:txBody>
          <a:bodyPr wrap="square">
            <a:spAutoFit/>
          </a:bodyPr>
          <a:lstStyle/>
          <a:p>
            <a:pPr algn="l"/>
            <a:r>
              <a:rPr sz="1200" b="1" i="1">
                <a:solidFill>
                  <a:srgbClr val="040C16"/>
                </a:solidFill>
              </a:rPr>
              <a:t>Not a crypto company.</a:t>
            </a:r>
          </a:p>
        </p:txBody>
      </p:sp>
      <p:sp>
        <p:nvSpPr>
          <p:cNvPr id="31" name="TextBox 30"/>
          <p:cNvSpPr txBox="1"/>
          <p:nvPr/>
        </p:nvSpPr>
        <p:spPr>
          <a:xfrm>
            <a:off x="4983480" y="1005840"/>
            <a:ext cx="6949440" cy="594360"/>
          </a:xfrm>
          <a:prstGeom prst="rect">
            <a:avLst/>
          </a:prstGeom>
          <a:noFill/>
        </p:spPr>
        <p:txBody>
          <a:bodyPr wrap="square">
            <a:spAutoFit/>
          </a:bodyPr>
          <a:lstStyle/>
          <a:p>
            <a:pPr algn="l"/>
            <a:r>
              <a:rPr sz="1100" b="1" i="0">
                <a:solidFill>
                  <a:srgbClr val="667788"/>
                </a:solidFill>
              </a:rPr>
              <a:t>SEED ROUND</a:t>
            </a:r>
          </a:p>
        </p:txBody>
      </p:sp>
      <p:sp>
        <p:nvSpPr>
          <p:cNvPr id="32" name="TextBox 31"/>
          <p:cNvSpPr txBox="1"/>
          <p:nvPr/>
        </p:nvSpPr>
        <p:spPr>
          <a:xfrm>
            <a:off x="4983480" y="1508760"/>
            <a:ext cx="6949440" cy="1920240"/>
          </a:xfrm>
          <a:prstGeom prst="rect">
            <a:avLst/>
          </a:prstGeom>
          <a:noFill/>
        </p:spPr>
        <p:txBody>
          <a:bodyPr wrap="square">
            <a:spAutoFit/>
          </a:bodyPr>
          <a:lstStyle/>
          <a:p>
            <a:pPr algn="l"/>
            <a:r>
              <a:rPr sz="13000" b="1" i="0">
                <a:solidFill>
                  <a:srgbClr val="FFFFFF"/>
                </a:solidFill>
              </a:rPr>
              <a:t>$5M</a:t>
            </a:r>
          </a:p>
        </p:txBody>
      </p:sp>
      <p:sp>
        <p:nvSpPr>
          <p:cNvPr id="33" name="TextBox 32"/>
          <p:cNvSpPr txBox="1"/>
          <p:nvPr/>
        </p:nvSpPr>
        <p:spPr>
          <a:xfrm>
            <a:off x="4983480" y="3246120"/>
            <a:ext cx="6949440" cy="548640"/>
          </a:xfrm>
          <a:prstGeom prst="rect">
            <a:avLst/>
          </a:prstGeom>
          <a:noFill/>
        </p:spPr>
        <p:txBody>
          <a:bodyPr wrap="square">
            <a:spAutoFit/>
          </a:bodyPr>
          <a:lstStyle/>
          <a:p>
            <a:pPr algn="l"/>
            <a:r>
              <a:rPr sz="1800" b="0" i="0">
                <a:solidFill>
                  <a:srgbClr val="20E898"/>
                </a:solidFill>
              </a:rPr>
              <a:t>at a $30M post-money cap</a:t>
            </a:r>
          </a:p>
        </p:txBody>
      </p:sp>
      <p:sp>
        <p:nvSpPr>
          <p:cNvPr id="34" name="Rectangle 33"/>
          <p:cNvSpPr/>
          <p:nvPr/>
        </p:nvSpPr>
        <p:spPr>
          <a:xfrm>
            <a:off x="4983480" y="3886200"/>
            <a:ext cx="6858000" cy="25400"/>
          </a:xfrm>
          <a:prstGeom prst="rect">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983480" y="4023360"/>
            <a:ext cx="6949440" cy="411480"/>
          </a:xfrm>
          <a:prstGeom prst="rect">
            <a:avLst/>
          </a:prstGeom>
          <a:noFill/>
        </p:spPr>
        <p:txBody>
          <a:bodyPr wrap="square">
            <a:spAutoFit/>
          </a:bodyPr>
          <a:lstStyle/>
          <a:p>
            <a:pPr algn="l"/>
            <a:r>
              <a:rPr sz="1300" b="0" i="0">
                <a:solidFill>
                  <a:srgbClr val="FAF7F0"/>
                </a:solidFill>
              </a:rPr>
              <a:t>Ten31 to lead  ·  Target close July 25, 2026</a:t>
            </a:r>
          </a:p>
        </p:txBody>
      </p:sp>
      <p:sp>
        <p:nvSpPr>
          <p:cNvPr id="36" name="TextBox 35"/>
          <p:cNvSpPr txBox="1"/>
          <p:nvPr/>
        </p:nvSpPr>
        <p:spPr>
          <a:xfrm>
            <a:off x="4983480" y="4480560"/>
            <a:ext cx="6949440" cy="457200"/>
          </a:xfrm>
          <a:prstGeom prst="rect">
            <a:avLst/>
          </a:prstGeom>
          <a:noFill/>
        </p:spPr>
        <p:txBody>
          <a:bodyPr wrap="square">
            <a:spAutoFit/>
          </a:bodyPr>
          <a:lstStyle/>
          <a:p>
            <a:pPr algn="l"/>
            <a:r>
              <a:rPr sz="1150" b="0" i="1">
                <a:solidFill>
                  <a:srgbClr val="667788"/>
                </a:solidFill>
              </a:rPr>
              <a:t>EU AI Act Article 50 enforces August 2, 2026 — 27 days after launch.</a:t>
            </a:r>
          </a:p>
        </p:txBody>
      </p:sp>
      <p:sp>
        <p:nvSpPr>
          <p:cNvPr id="37" name="Rectangle 36"/>
          <p:cNvSpPr/>
          <p:nvPr/>
        </p:nvSpPr>
        <p:spPr>
          <a:xfrm>
            <a:off x="4983480" y="5166360"/>
            <a:ext cx="6858000" cy="777240"/>
          </a:xfrm>
          <a:prstGeom prst="rect">
            <a:avLst/>
          </a:prstGeom>
          <a:solidFill>
            <a:srgbClr val="0D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120640" y="5212080"/>
            <a:ext cx="6583680" cy="292608"/>
          </a:xfrm>
          <a:prstGeom prst="rect">
            <a:avLst/>
          </a:prstGeom>
          <a:noFill/>
        </p:spPr>
        <p:txBody>
          <a:bodyPr wrap="square">
            <a:spAutoFit/>
          </a:bodyPr>
          <a:lstStyle/>
          <a:p>
            <a:pPr algn="l"/>
            <a:r>
              <a:rPr sz="950" b="0" i="0">
                <a:solidFill>
                  <a:srgbClr val="667788"/>
                </a:solidFill>
              </a:rPr>
              <a:t>Product is live on Bitcoin mainnet. Verify:</a:t>
            </a:r>
          </a:p>
        </p:txBody>
      </p:sp>
      <p:sp>
        <p:nvSpPr>
          <p:cNvPr id="39" name="TextBox 38"/>
          <p:cNvSpPr txBox="1"/>
          <p:nvPr/>
        </p:nvSpPr>
        <p:spPr>
          <a:xfrm>
            <a:off x="5120640" y="5468112"/>
            <a:ext cx="6583680" cy="320040"/>
          </a:xfrm>
          <a:prstGeom prst="rect">
            <a:avLst/>
          </a:prstGeom>
          <a:noFill/>
        </p:spPr>
        <p:txBody>
          <a:bodyPr wrap="square">
            <a:spAutoFit/>
          </a:bodyPr>
          <a:lstStyle/>
          <a:p>
            <a:pPr algn="l"/>
            <a:r>
              <a:rPr sz="1100" b="1" i="0">
                <a:solidFill>
                  <a:srgbClr val="4DEFAB"/>
                </a:solidFill>
              </a:rPr>
              <a:t>verify.ledgerproofhq.io/r/founding-declaration</a:t>
            </a:r>
          </a:p>
        </p:txBody>
      </p:sp>
      <p:sp>
        <p:nvSpPr>
          <p:cNvPr id="40" name="TextBox 39"/>
          <p:cNvSpPr txBox="1"/>
          <p:nvPr/>
        </p:nvSpPr>
        <p:spPr>
          <a:xfrm>
            <a:off x="4983480" y="6473952"/>
            <a:ext cx="6858000" cy="274320"/>
          </a:xfrm>
          <a:prstGeom prst="rect">
            <a:avLst/>
          </a:prstGeom>
          <a:noFill/>
        </p:spPr>
        <p:txBody>
          <a:bodyPr wrap="square">
            <a:spAutoFit/>
          </a:bodyPr>
          <a:lstStyle/>
          <a:p>
            <a:pPr algn="l"/>
            <a:r>
              <a:rPr sz="900" b="0" i="0">
                <a:solidFill>
                  <a:srgbClr val="445566"/>
                </a:solidFill>
              </a:rPr>
              <a:t>Veronica S. Dawkins  ·  Founder &amp; CEO  ·  veronica@ledgerproofhq.io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40C16"/>
        </a:solidFill>
        <a:effectLst/>
      </p:bgPr>
    </p:bg>
    <p:spTree>
      <p:nvGrpSpPr>
        <p:cNvPr id="1" name=""/>
        <p:cNvGrpSpPr/>
        <p:nvPr/>
      </p:nvGrpSpPr>
      <p:grpSpPr/>
      <p:sp>
        <p:nvSpPr>
          <p:cNvPr id="2" name="TextBox 1"/>
          <p:cNvSpPr txBox="1"/>
          <p:nvPr/>
        </p:nvSpPr>
        <p:spPr>
          <a:xfrm>
            <a:off x="8686800" y="-731520"/>
            <a:ext cx="5486400" cy="7315200"/>
          </a:xfrm>
          <a:prstGeom prst="rect">
            <a:avLst/>
          </a:prstGeom>
          <a:noFill/>
        </p:spPr>
        <p:txBody>
          <a:bodyPr wrap="square">
            <a:spAutoFit/>
          </a:bodyPr>
          <a:lstStyle/>
          <a:p>
            <a:pPr algn="l"/>
            <a:r>
              <a:rPr sz="36000" b="1" i="0">
                <a:solidFill>
                  <a:srgbClr val="0B1A2C"/>
                </a:solidFill>
              </a:rPr>
              <a:t>?</a:t>
            </a:r>
          </a:p>
        </p:txBody>
      </p:sp>
      <p:pic>
        <p:nvPicPr>
          <p:cNvPr id="3" name="Picture 2" descr="ledgerproof-logo.png"/>
          <p:cNvPicPr>
            <a:picLocks noChangeAspect="1"/>
          </p:cNvPicPr>
          <p:nvPr/>
        </p:nvPicPr>
        <p:blipFill>
          <a:blip r:embed="rId2"/>
          <a:stretch>
            <a:fillRect/>
          </a:stretch>
        </p:blipFill>
        <p:spPr>
          <a:xfrm>
            <a:off x="347472" y="182880"/>
            <a:ext cx="1691640" cy="912781"/>
          </a:xfrm>
          <a:prstGeom prst="rect">
            <a:avLst/>
          </a:prstGeom>
        </p:spPr>
      </p:pic>
      <p:sp>
        <p:nvSpPr>
          <p:cNvPr id="4" name="TextBox 3"/>
          <p:cNvSpPr txBox="1"/>
          <p:nvPr/>
        </p:nvSpPr>
        <p:spPr>
          <a:xfrm>
            <a:off x="9784080" y="201168"/>
            <a:ext cx="2286000" cy="347472"/>
          </a:xfrm>
          <a:prstGeom prst="rect">
            <a:avLst/>
          </a:prstGeom>
          <a:noFill/>
        </p:spPr>
        <p:txBody>
          <a:bodyPr wrap="square">
            <a:spAutoFit/>
          </a:bodyPr>
          <a:lstStyle/>
          <a:p>
            <a:pPr algn="r"/>
            <a:r>
              <a:rPr sz="850" b="1" i="0">
                <a:solidFill>
                  <a:srgbClr val="335566"/>
                </a:solidFill>
              </a:rPr>
              <a:t>THE PROBLEM</a:t>
            </a:r>
          </a:p>
        </p:txBody>
      </p:sp>
      <p:sp>
        <p:nvSpPr>
          <p:cNvPr id="5" name="TextBox 4"/>
          <p:cNvSpPr txBox="1"/>
          <p:nvPr/>
        </p:nvSpPr>
        <p:spPr>
          <a:xfrm>
            <a:off x="347472" y="868680"/>
            <a:ext cx="8229600" cy="1005840"/>
          </a:xfrm>
          <a:prstGeom prst="rect">
            <a:avLst/>
          </a:prstGeom>
          <a:noFill/>
        </p:spPr>
        <p:txBody>
          <a:bodyPr wrap="square">
            <a:spAutoFit/>
          </a:bodyPr>
          <a:lstStyle/>
          <a:p>
            <a:pPr algn="l"/>
            <a:r>
              <a:rPr sz="2800" b="1" i="0">
                <a:solidFill>
                  <a:srgbClr val="FFFFFF"/>
                </a:solidFill>
              </a:rPr>
              <a:t>The world's most valuable documents
cannot be trusted.</a:t>
            </a:r>
          </a:p>
        </p:txBody>
      </p:sp>
      <p:sp>
        <p:nvSpPr>
          <p:cNvPr id="6" name="Rectangle 5"/>
          <p:cNvSpPr/>
          <p:nvPr/>
        </p:nvSpPr>
        <p:spPr>
          <a:xfrm>
            <a:off x="347472" y="1965960"/>
            <a:ext cx="3200400" cy="38100"/>
          </a:xfrm>
          <a:prstGeom prst="rect">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47472" y="2194560"/>
            <a:ext cx="3657600" cy="1691640"/>
          </a:xfrm>
          <a:prstGeom prst="rect">
            <a:avLst/>
          </a:prstGeom>
          <a:noFill/>
        </p:spPr>
        <p:txBody>
          <a:bodyPr wrap="square">
            <a:spAutoFit/>
          </a:bodyPr>
          <a:lstStyle/>
          <a:p>
            <a:pPr algn="l"/>
            <a:r>
              <a:rPr sz="6400" b="1" i="0">
                <a:solidFill>
                  <a:srgbClr val="20E898"/>
                </a:solidFill>
              </a:rPr>
              <a:t>$1.7B</a:t>
            </a:r>
          </a:p>
        </p:txBody>
      </p:sp>
      <p:sp>
        <p:nvSpPr>
          <p:cNvPr id="8" name="TextBox 7"/>
          <p:cNvSpPr txBox="1"/>
          <p:nvPr/>
        </p:nvSpPr>
        <p:spPr>
          <a:xfrm>
            <a:off x="347472" y="3840480"/>
            <a:ext cx="3566160" cy="1097280"/>
          </a:xfrm>
          <a:prstGeom prst="rect">
            <a:avLst/>
          </a:prstGeom>
          <a:noFill/>
        </p:spPr>
        <p:txBody>
          <a:bodyPr wrap="square">
            <a:spAutoFit/>
          </a:bodyPr>
          <a:lstStyle/>
          <a:p>
            <a:pPr algn="l"/>
            <a:r>
              <a:rPr sz="1300" b="0" i="0">
                <a:solidFill>
                  <a:srgbClr val="FAF7F0"/>
                </a:solidFill>
              </a:rPr>
              <a:t>wire fraud losses
from forged documents
2025  ·  FBI IC3</a:t>
            </a:r>
          </a:p>
        </p:txBody>
      </p:sp>
      <p:sp>
        <p:nvSpPr>
          <p:cNvPr id="9" name="Rectangle 8"/>
          <p:cNvSpPr/>
          <p:nvPr/>
        </p:nvSpPr>
        <p:spPr>
          <a:xfrm>
            <a:off x="3913632" y="2194560"/>
            <a:ext cx="19050" cy="2560320"/>
          </a:xfrm>
          <a:prstGeom prst="rect">
            <a:avLst/>
          </a:prstGeom>
          <a:solidFill>
            <a:srgbClr val="4455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79392" y="2194560"/>
            <a:ext cx="3657600" cy="1691640"/>
          </a:xfrm>
          <a:prstGeom prst="rect">
            <a:avLst/>
          </a:prstGeom>
          <a:noFill/>
        </p:spPr>
        <p:txBody>
          <a:bodyPr wrap="square">
            <a:spAutoFit/>
          </a:bodyPr>
          <a:lstStyle/>
          <a:p>
            <a:pPr algn="l"/>
            <a:r>
              <a:rPr sz="6400" b="1" i="0">
                <a:solidFill>
                  <a:srgbClr val="20E898"/>
                </a:solidFill>
              </a:rPr>
              <a:t>$308B</a:t>
            </a:r>
          </a:p>
        </p:txBody>
      </p:sp>
      <p:sp>
        <p:nvSpPr>
          <p:cNvPr id="11" name="TextBox 10"/>
          <p:cNvSpPr txBox="1"/>
          <p:nvPr/>
        </p:nvSpPr>
        <p:spPr>
          <a:xfrm>
            <a:off x="4279392" y="3840480"/>
            <a:ext cx="3566160" cy="1097280"/>
          </a:xfrm>
          <a:prstGeom prst="rect">
            <a:avLst/>
          </a:prstGeom>
          <a:noFill/>
        </p:spPr>
        <p:txBody>
          <a:bodyPr wrap="square">
            <a:spAutoFit/>
          </a:bodyPr>
          <a:lstStyle/>
          <a:p>
            <a:pPr algn="l"/>
            <a:r>
              <a:rPr sz="1300" b="0" i="0">
                <a:solidFill>
                  <a:srgbClr val="FAF7F0"/>
                </a:solidFill>
              </a:rPr>
              <a:t>annual insurance fraud
directly tied to
document tampering</a:t>
            </a:r>
          </a:p>
        </p:txBody>
      </p:sp>
      <p:sp>
        <p:nvSpPr>
          <p:cNvPr id="12" name="Rectangle 11"/>
          <p:cNvSpPr/>
          <p:nvPr/>
        </p:nvSpPr>
        <p:spPr>
          <a:xfrm>
            <a:off x="7845552" y="2194560"/>
            <a:ext cx="19050" cy="2560320"/>
          </a:xfrm>
          <a:prstGeom prst="rect">
            <a:avLst/>
          </a:prstGeom>
          <a:solidFill>
            <a:srgbClr val="4455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11312" y="2194560"/>
            <a:ext cx="3657600" cy="1691640"/>
          </a:xfrm>
          <a:prstGeom prst="rect">
            <a:avLst/>
          </a:prstGeom>
          <a:noFill/>
        </p:spPr>
        <p:txBody>
          <a:bodyPr wrap="square">
            <a:spAutoFit/>
          </a:bodyPr>
          <a:lstStyle/>
          <a:p>
            <a:pPr algn="l"/>
            <a:r>
              <a:rPr sz="6400" b="1" i="0">
                <a:solidFill>
                  <a:srgbClr val="F7931A"/>
                </a:solidFill>
              </a:rPr>
              <a:t>$25B</a:t>
            </a:r>
          </a:p>
        </p:txBody>
      </p:sp>
      <p:sp>
        <p:nvSpPr>
          <p:cNvPr id="14" name="TextBox 13"/>
          <p:cNvSpPr txBox="1"/>
          <p:nvPr/>
        </p:nvSpPr>
        <p:spPr>
          <a:xfrm>
            <a:off x="8211312" y="3840480"/>
            <a:ext cx="3566160" cy="1097280"/>
          </a:xfrm>
          <a:prstGeom prst="rect">
            <a:avLst/>
          </a:prstGeom>
          <a:noFill/>
        </p:spPr>
        <p:txBody>
          <a:bodyPr wrap="square">
            <a:spAutoFit/>
          </a:bodyPr>
          <a:lstStyle/>
          <a:p>
            <a:pPr algn="l"/>
            <a:r>
              <a:rPr sz="1300" b="0" i="0">
                <a:solidFill>
                  <a:srgbClr val="FAF7F0"/>
                </a:solidFill>
              </a:rPr>
              <a:t>projected deepfake
fraud losses by 2027
Deloitte</a:t>
            </a:r>
          </a:p>
        </p:txBody>
      </p:sp>
      <p:sp>
        <p:nvSpPr>
          <p:cNvPr id="15" name="Rectangle 14"/>
          <p:cNvSpPr/>
          <p:nvPr/>
        </p:nvSpPr>
        <p:spPr>
          <a:xfrm>
            <a:off x="347472" y="5166360"/>
            <a:ext cx="11494008" cy="12700"/>
          </a:xfrm>
          <a:prstGeom prst="rect">
            <a:avLst/>
          </a:prstGeom>
          <a:solidFill>
            <a:srgbClr val="4455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7472" y="5285232"/>
            <a:ext cx="2743200" cy="292608"/>
          </a:xfrm>
          <a:prstGeom prst="rect">
            <a:avLst/>
          </a:prstGeom>
          <a:noFill/>
        </p:spPr>
        <p:txBody>
          <a:bodyPr wrap="square">
            <a:spAutoFit/>
          </a:bodyPr>
          <a:lstStyle/>
          <a:p>
            <a:pPr algn="l"/>
            <a:r>
              <a:rPr sz="1000" b="1" i="0">
                <a:solidFill>
                  <a:srgbClr val="667788"/>
                </a:solidFill>
              </a:rPr>
              <a:t>Existing solutions fail:</a:t>
            </a:r>
          </a:p>
        </p:txBody>
      </p:sp>
      <p:sp>
        <p:nvSpPr>
          <p:cNvPr id="17" name="TextBox 16"/>
          <p:cNvSpPr txBox="1"/>
          <p:nvPr/>
        </p:nvSpPr>
        <p:spPr>
          <a:xfrm>
            <a:off x="347472" y="5623560"/>
            <a:ext cx="2834640" cy="548640"/>
          </a:xfrm>
          <a:prstGeom prst="rect">
            <a:avLst/>
          </a:prstGeom>
          <a:noFill/>
        </p:spPr>
        <p:txBody>
          <a:bodyPr wrap="square">
            <a:spAutoFit/>
          </a:bodyPr>
          <a:lstStyle/>
          <a:p>
            <a:pPr algn="l"/>
            <a:r>
              <a:rPr sz="1050" b="0" i="0">
                <a:solidFill>
                  <a:srgbClr val="FAF7F0"/>
                </a:solidFill>
              </a:rPr>
              <a:t>✗  PDF metadata → edited in 30 sec</a:t>
            </a:r>
          </a:p>
        </p:txBody>
      </p:sp>
      <p:sp>
        <p:nvSpPr>
          <p:cNvPr id="18" name="TextBox 17"/>
          <p:cNvSpPr txBox="1"/>
          <p:nvPr/>
        </p:nvSpPr>
        <p:spPr>
          <a:xfrm>
            <a:off x="3273552" y="5623560"/>
            <a:ext cx="2834640" cy="548640"/>
          </a:xfrm>
          <a:prstGeom prst="rect">
            <a:avLst/>
          </a:prstGeom>
          <a:noFill/>
        </p:spPr>
        <p:txBody>
          <a:bodyPr wrap="square">
            <a:spAutoFit/>
          </a:bodyPr>
          <a:lstStyle/>
          <a:p>
            <a:pPr algn="l"/>
            <a:r>
              <a:rPr sz="1050" b="0" i="0">
                <a:solidFill>
                  <a:srgbClr val="FAF7F0"/>
                </a:solidFill>
              </a:rPr>
              <a:t>✗  C2PA watermarks → stripped by every social platform</a:t>
            </a:r>
          </a:p>
        </p:txBody>
      </p:sp>
      <p:sp>
        <p:nvSpPr>
          <p:cNvPr id="19" name="TextBox 18"/>
          <p:cNvSpPr txBox="1"/>
          <p:nvPr/>
        </p:nvSpPr>
        <p:spPr>
          <a:xfrm>
            <a:off x="6199632" y="5623560"/>
            <a:ext cx="2834640" cy="548640"/>
          </a:xfrm>
          <a:prstGeom prst="rect">
            <a:avLst/>
          </a:prstGeom>
          <a:noFill/>
        </p:spPr>
        <p:txBody>
          <a:bodyPr wrap="square">
            <a:spAutoFit/>
          </a:bodyPr>
          <a:lstStyle/>
          <a:p>
            <a:pPr algn="l"/>
            <a:r>
              <a:rPr sz="1050" b="0" i="0">
                <a:solidFill>
                  <a:srgbClr val="FAF7F0"/>
                </a:solidFill>
              </a:rPr>
              <a:t>✗  Blockchain timestamps → no institutional standard; chain can be forked</a:t>
            </a:r>
          </a:p>
        </p:txBody>
      </p:sp>
      <p:sp>
        <p:nvSpPr>
          <p:cNvPr id="20" name="TextBox 19"/>
          <p:cNvSpPr txBox="1"/>
          <p:nvPr/>
        </p:nvSpPr>
        <p:spPr>
          <a:xfrm>
            <a:off x="9125712" y="5623560"/>
            <a:ext cx="2834640" cy="548640"/>
          </a:xfrm>
          <a:prstGeom prst="rect">
            <a:avLst/>
          </a:prstGeom>
          <a:noFill/>
        </p:spPr>
        <p:txBody>
          <a:bodyPr wrap="square">
            <a:spAutoFit/>
          </a:bodyPr>
          <a:lstStyle/>
          <a:p>
            <a:pPr algn="l"/>
            <a:r>
              <a:rPr sz="1050" b="0" i="0">
                <a:solidFill>
                  <a:srgbClr val="FAF7F0"/>
                </a:solidFill>
              </a:rPr>
              <a:t>✗  Notarization → jurisdiction-bound, not machine-verifiable at scale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81424"/>
        </a:solidFill>
        <a:effectLst/>
      </p:bgPr>
    </p:bg>
    <p:spTree>
      <p:nvGrpSpPr>
        <p:cNvPr id="1" name=""/>
        <p:cNvGrpSpPr/>
        <p:nvPr/>
      </p:nvGrpSpPr>
      <p:grpSpPr/>
      <p:pic>
        <p:nvPicPr>
          <p:cNvPr id="2" name="Picture 1" descr="ledgerproof-logo.png"/>
          <p:cNvPicPr>
            <a:picLocks noChangeAspect="1"/>
          </p:cNvPicPr>
          <p:nvPr/>
        </p:nvPicPr>
        <p:blipFill>
          <a:blip r:embed="rId2"/>
          <a:stretch>
            <a:fillRect/>
          </a:stretch>
        </p:blipFill>
        <p:spPr>
          <a:xfrm>
            <a:off x="347472" y="182880"/>
            <a:ext cx="1691640" cy="912781"/>
          </a:xfrm>
          <a:prstGeom prst="rect">
            <a:avLst/>
          </a:prstGeom>
        </p:spPr>
      </p:pic>
      <p:sp>
        <p:nvSpPr>
          <p:cNvPr id="3" name="TextBox 2"/>
          <p:cNvSpPr txBox="1"/>
          <p:nvPr/>
        </p:nvSpPr>
        <p:spPr>
          <a:xfrm>
            <a:off x="9784080" y="201168"/>
            <a:ext cx="2286000" cy="347472"/>
          </a:xfrm>
          <a:prstGeom prst="rect">
            <a:avLst/>
          </a:prstGeom>
          <a:noFill/>
        </p:spPr>
        <p:txBody>
          <a:bodyPr wrap="square">
            <a:spAutoFit/>
          </a:bodyPr>
          <a:lstStyle/>
          <a:p>
            <a:pPr algn="r"/>
            <a:r>
              <a:rPr sz="850" b="1" i="0">
                <a:solidFill>
                  <a:srgbClr val="335566"/>
                </a:solidFill>
              </a:rPr>
              <a:t>THE SOLUTION</a:t>
            </a:r>
          </a:p>
        </p:txBody>
      </p:sp>
      <p:sp>
        <p:nvSpPr>
          <p:cNvPr id="4" name="TextBox 3"/>
          <p:cNvSpPr txBox="1"/>
          <p:nvPr/>
        </p:nvSpPr>
        <p:spPr>
          <a:xfrm>
            <a:off x="347472" y="804672"/>
            <a:ext cx="11494008" cy="640080"/>
          </a:xfrm>
          <a:prstGeom prst="rect">
            <a:avLst/>
          </a:prstGeom>
          <a:noFill/>
        </p:spPr>
        <p:txBody>
          <a:bodyPr wrap="square">
            <a:spAutoFit/>
          </a:bodyPr>
          <a:lstStyle/>
          <a:p>
            <a:pPr algn="l"/>
            <a:r>
              <a:rPr sz="2800" b="1" i="0">
                <a:solidFill>
                  <a:srgbClr val="FFFFFF"/>
                </a:solidFill>
              </a:rPr>
              <a:t>One function call. A permanent, verifiable receipt.</a:t>
            </a:r>
          </a:p>
        </p:txBody>
      </p:sp>
      <p:sp>
        <p:nvSpPr>
          <p:cNvPr id="5" name="Rectangle 4"/>
          <p:cNvSpPr/>
          <p:nvPr/>
        </p:nvSpPr>
        <p:spPr>
          <a:xfrm>
            <a:off x="1874520" y="2684780"/>
            <a:ext cx="2240280" cy="31750"/>
          </a:xfrm>
          <a:prstGeom prst="rect">
            <a:avLst/>
          </a:prstGeom>
          <a:solidFill>
            <a:srgbClr val="4455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617720" y="2684780"/>
            <a:ext cx="2240280" cy="31750"/>
          </a:xfrm>
          <a:prstGeom prst="rect">
            <a:avLst/>
          </a:prstGeom>
          <a:solidFill>
            <a:srgbClr val="4455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60920" y="2684780"/>
            <a:ext cx="2240280" cy="31750"/>
          </a:xfrm>
          <a:prstGeom prst="rect">
            <a:avLst/>
          </a:prstGeom>
          <a:solidFill>
            <a:srgbClr val="4455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13816" y="2139696"/>
            <a:ext cx="1115568" cy="1115568"/>
          </a:xfrm>
          <a:prstGeom prst="ellipse">
            <a:avLst/>
          </a:prstGeom>
          <a:solidFill>
            <a:srgbClr val="103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68680" y="2194560"/>
            <a:ext cx="1005840" cy="1005840"/>
          </a:xfrm>
          <a:prstGeom prst="ellipse">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627632" y="2084832"/>
            <a:ext cx="292608" cy="292608"/>
          </a:xfrm>
          <a:prstGeom prst="ellipse">
            <a:avLst/>
          </a:prstGeom>
          <a:solidFill>
            <a:srgbClr val="040C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645920" y="2103120"/>
            <a:ext cx="256032" cy="256032"/>
          </a:xfrm>
          <a:prstGeom prst="rect">
            <a:avLst/>
          </a:prstGeom>
          <a:noFill/>
        </p:spPr>
        <p:txBody>
          <a:bodyPr wrap="square">
            <a:spAutoFit/>
          </a:bodyPr>
          <a:lstStyle/>
          <a:p>
            <a:pPr algn="ctr"/>
            <a:r>
              <a:rPr sz="1000" b="1" i="0">
                <a:solidFill>
                  <a:srgbClr val="FFFFFF"/>
                </a:solidFill>
              </a:rPr>
              <a:t>1</a:t>
            </a:r>
          </a:p>
        </p:txBody>
      </p:sp>
      <p:sp>
        <p:nvSpPr>
          <p:cNvPr id="12" name="TextBox 11"/>
          <p:cNvSpPr txBox="1"/>
          <p:nvPr/>
        </p:nvSpPr>
        <p:spPr>
          <a:xfrm>
            <a:off x="941832" y="2359152"/>
            <a:ext cx="859536" cy="594360"/>
          </a:xfrm>
          <a:prstGeom prst="rect">
            <a:avLst/>
          </a:prstGeom>
          <a:noFill/>
        </p:spPr>
        <p:txBody>
          <a:bodyPr wrap="square">
            <a:spAutoFit/>
          </a:bodyPr>
          <a:lstStyle/>
          <a:p>
            <a:pPr algn="ctr"/>
            <a:r>
              <a:rPr sz="1000" b="1" i="0">
                <a:solidFill>
                  <a:srgbClr val="040C16"/>
                </a:solidFill>
              </a:rPr>
              <a:t>DOCUMENT
OR CONTENT</a:t>
            </a:r>
          </a:p>
        </p:txBody>
      </p:sp>
      <p:sp>
        <p:nvSpPr>
          <p:cNvPr id="13" name="TextBox 12"/>
          <p:cNvSpPr txBox="1"/>
          <p:nvPr/>
        </p:nvSpPr>
        <p:spPr>
          <a:xfrm>
            <a:off x="777240" y="3337560"/>
            <a:ext cx="1188720" cy="411480"/>
          </a:xfrm>
          <a:prstGeom prst="rect">
            <a:avLst/>
          </a:prstGeom>
          <a:noFill/>
        </p:spPr>
        <p:txBody>
          <a:bodyPr wrap="square">
            <a:spAutoFit/>
          </a:bodyPr>
          <a:lstStyle/>
          <a:p>
            <a:pPr algn="ctr"/>
            <a:r>
              <a:rPr sz="1050" b="0" i="0">
                <a:solidFill>
                  <a:srgbClr val="FAF7F0"/>
                </a:solidFill>
              </a:rPr>
              <a:t>Any file · any format</a:t>
            </a:r>
          </a:p>
        </p:txBody>
      </p:sp>
      <p:sp>
        <p:nvSpPr>
          <p:cNvPr id="14" name="Oval 13"/>
          <p:cNvSpPr/>
          <p:nvPr/>
        </p:nvSpPr>
        <p:spPr>
          <a:xfrm>
            <a:off x="3557016" y="2139696"/>
            <a:ext cx="1115568" cy="1115568"/>
          </a:xfrm>
          <a:prstGeom prst="ellipse">
            <a:avLst/>
          </a:prstGeom>
          <a:solidFill>
            <a:srgbClr val="103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11880" y="2194560"/>
            <a:ext cx="1005840" cy="1005840"/>
          </a:xfrm>
          <a:prstGeom prst="ellipse">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370832" y="2084832"/>
            <a:ext cx="292608" cy="292608"/>
          </a:xfrm>
          <a:prstGeom prst="ellipse">
            <a:avLst/>
          </a:prstGeom>
          <a:solidFill>
            <a:srgbClr val="040C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89120" y="2103120"/>
            <a:ext cx="256032" cy="256032"/>
          </a:xfrm>
          <a:prstGeom prst="rect">
            <a:avLst/>
          </a:prstGeom>
          <a:noFill/>
        </p:spPr>
        <p:txBody>
          <a:bodyPr wrap="square">
            <a:spAutoFit/>
          </a:bodyPr>
          <a:lstStyle/>
          <a:p>
            <a:pPr algn="ctr"/>
            <a:r>
              <a:rPr sz="1000" b="1" i="0">
                <a:solidFill>
                  <a:srgbClr val="FFFFFF"/>
                </a:solidFill>
              </a:rPr>
              <a:t>2</a:t>
            </a:r>
          </a:p>
        </p:txBody>
      </p:sp>
      <p:sp>
        <p:nvSpPr>
          <p:cNvPr id="18" name="TextBox 17"/>
          <p:cNvSpPr txBox="1"/>
          <p:nvPr/>
        </p:nvSpPr>
        <p:spPr>
          <a:xfrm>
            <a:off x="3685032" y="2359152"/>
            <a:ext cx="859536" cy="594360"/>
          </a:xfrm>
          <a:prstGeom prst="rect">
            <a:avLst/>
          </a:prstGeom>
          <a:noFill/>
        </p:spPr>
        <p:txBody>
          <a:bodyPr wrap="square">
            <a:spAutoFit/>
          </a:bodyPr>
          <a:lstStyle/>
          <a:p>
            <a:pPr algn="ctr"/>
            <a:r>
              <a:rPr sz="1000" b="1" i="0">
                <a:solidFill>
                  <a:srgbClr val="040C16"/>
                </a:solidFill>
              </a:rPr>
              <a:t>SHA-256
HASH</a:t>
            </a:r>
          </a:p>
        </p:txBody>
      </p:sp>
      <p:sp>
        <p:nvSpPr>
          <p:cNvPr id="19" name="TextBox 18"/>
          <p:cNvSpPr txBox="1"/>
          <p:nvPr/>
        </p:nvSpPr>
        <p:spPr>
          <a:xfrm>
            <a:off x="3520440" y="3337560"/>
            <a:ext cx="1188720" cy="411480"/>
          </a:xfrm>
          <a:prstGeom prst="rect">
            <a:avLst/>
          </a:prstGeom>
          <a:noFill/>
        </p:spPr>
        <p:txBody>
          <a:bodyPr wrap="square">
            <a:spAutoFit/>
          </a:bodyPr>
          <a:lstStyle/>
          <a:p>
            <a:pPr algn="ctr"/>
            <a:r>
              <a:rPr sz="1050" b="0" i="0">
                <a:solidFill>
                  <a:srgbClr val="FAF7F0"/>
                </a:solidFill>
              </a:rPr>
              <a:t>Canonical fingerprint</a:t>
            </a:r>
          </a:p>
        </p:txBody>
      </p:sp>
      <p:sp>
        <p:nvSpPr>
          <p:cNvPr id="20" name="Oval 19"/>
          <p:cNvSpPr/>
          <p:nvPr/>
        </p:nvSpPr>
        <p:spPr>
          <a:xfrm>
            <a:off x="6300216" y="2139696"/>
            <a:ext cx="1115568" cy="1115568"/>
          </a:xfrm>
          <a:prstGeom prst="ellipse">
            <a:avLst/>
          </a:prstGeom>
          <a:solidFill>
            <a:srgbClr val="103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55080" y="2194560"/>
            <a:ext cx="1005840" cy="1005840"/>
          </a:xfrm>
          <a:prstGeom prst="ellipse">
            <a:avLst/>
          </a:prstGeom>
          <a:solidFill>
            <a:srgbClr val="4DEF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114032" y="2084832"/>
            <a:ext cx="292608" cy="292608"/>
          </a:xfrm>
          <a:prstGeom prst="ellipse">
            <a:avLst/>
          </a:prstGeom>
          <a:solidFill>
            <a:srgbClr val="040C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132320" y="2103120"/>
            <a:ext cx="256032" cy="256032"/>
          </a:xfrm>
          <a:prstGeom prst="rect">
            <a:avLst/>
          </a:prstGeom>
          <a:noFill/>
        </p:spPr>
        <p:txBody>
          <a:bodyPr wrap="square">
            <a:spAutoFit/>
          </a:bodyPr>
          <a:lstStyle/>
          <a:p>
            <a:pPr algn="ctr"/>
            <a:r>
              <a:rPr sz="1000" b="1" i="0">
                <a:solidFill>
                  <a:srgbClr val="FFFFFF"/>
                </a:solidFill>
              </a:rPr>
              <a:t>3</a:t>
            </a:r>
          </a:p>
        </p:txBody>
      </p:sp>
      <p:sp>
        <p:nvSpPr>
          <p:cNvPr id="24" name="TextBox 23"/>
          <p:cNvSpPr txBox="1"/>
          <p:nvPr/>
        </p:nvSpPr>
        <p:spPr>
          <a:xfrm>
            <a:off x="6428232" y="2359152"/>
            <a:ext cx="859536" cy="594360"/>
          </a:xfrm>
          <a:prstGeom prst="rect">
            <a:avLst/>
          </a:prstGeom>
          <a:noFill/>
        </p:spPr>
        <p:txBody>
          <a:bodyPr wrap="square">
            <a:spAutoFit/>
          </a:bodyPr>
          <a:lstStyle/>
          <a:p>
            <a:pPr algn="ctr"/>
            <a:r>
              <a:rPr sz="1000" b="1" i="0">
                <a:solidFill>
                  <a:srgbClr val="040C16"/>
                </a:solidFill>
              </a:rPr>
              <a:t>Ed25519
SIGNATURE</a:t>
            </a:r>
          </a:p>
        </p:txBody>
      </p:sp>
      <p:sp>
        <p:nvSpPr>
          <p:cNvPr id="25" name="TextBox 24"/>
          <p:cNvSpPr txBox="1"/>
          <p:nvPr/>
        </p:nvSpPr>
        <p:spPr>
          <a:xfrm>
            <a:off x="6263640" y="3337560"/>
            <a:ext cx="1188720" cy="411480"/>
          </a:xfrm>
          <a:prstGeom prst="rect">
            <a:avLst/>
          </a:prstGeom>
          <a:noFill/>
        </p:spPr>
        <p:txBody>
          <a:bodyPr wrap="square">
            <a:spAutoFit/>
          </a:bodyPr>
          <a:lstStyle/>
          <a:p>
            <a:pPr algn="ctr"/>
            <a:r>
              <a:rPr sz="1050" b="0" i="0">
                <a:solidFill>
                  <a:srgbClr val="FAF7F0"/>
                </a:solidFill>
              </a:rPr>
              <a:t>Publisher identity bound</a:t>
            </a:r>
          </a:p>
        </p:txBody>
      </p:sp>
      <p:sp>
        <p:nvSpPr>
          <p:cNvPr id="26" name="Oval 25"/>
          <p:cNvSpPr/>
          <p:nvPr/>
        </p:nvSpPr>
        <p:spPr>
          <a:xfrm>
            <a:off x="9043416" y="2139696"/>
            <a:ext cx="1115568" cy="1115568"/>
          </a:xfrm>
          <a:prstGeom prst="ellipse">
            <a:avLst/>
          </a:prstGeom>
          <a:solidFill>
            <a:srgbClr val="2A18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098280" y="2194560"/>
            <a:ext cx="1005840" cy="1005840"/>
          </a:xfrm>
          <a:prstGeom prst="ellipse">
            <a:avLst/>
          </a:prstGeom>
          <a:solidFill>
            <a:srgbClr val="F793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857232" y="2084832"/>
            <a:ext cx="292608" cy="292608"/>
          </a:xfrm>
          <a:prstGeom prst="ellipse">
            <a:avLst/>
          </a:prstGeom>
          <a:solidFill>
            <a:srgbClr val="040C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875520" y="2103120"/>
            <a:ext cx="256032" cy="256032"/>
          </a:xfrm>
          <a:prstGeom prst="rect">
            <a:avLst/>
          </a:prstGeom>
          <a:noFill/>
        </p:spPr>
        <p:txBody>
          <a:bodyPr wrap="square">
            <a:spAutoFit/>
          </a:bodyPr>
          <a:lstStyle/>
          <a:p>
            <a:pPr algn="ctr"/>
            <a:r>
              <a:rPr sz="1000" b="1" i="0">
                <a:solidFill>
                  <a:srgbClr val="FFFFFF"/>
                </a:solidFill>
              </a:rPr>
              <a:t>4</a:t>
            </a:r>
          </a:p>
        </p:txBody>
      </p:sp>
      <p:sp>
        <p:nvSpPr>
          <p:cNvPr id="30" name="TextBox 29"/>
          <p:cNvSpPr txBox="1"/>
          <p:nvPr/>
        </p:nvSpPr>
        <p:spPr>
          <a:xfrm>
            <a:off x="9171432" y="2359152"/>
            <a:ext cx="859536" cy="594360"/>
          </a:xfrm>
          <a:prstGeom prst="rect">
            <a:avLst/>
          </a:prstGeom>
          <a:noFill/>
        </p:spPr>
        <p:txBody>
          <a:bodyPr wrap="square">
            <a:spAutoFit/>
          </a:bodyPr>
          <a:lstStyle/>
          <a:p>
            <a:pPr algn="ctr"/>
            <a:r>
              <a:rPr sz="1000" b="1" i="0">
                <a:solidFill>
                  <a:srgbClr val="040C16"/>
                </a:solidFill>
              </a:rPr>
              <a:t>BITCOIN
OP_RETURN</a:t>
            </a:r>
          </a:p>
        </p:txBody>
      </p:sp>
      <p:sp>
        <p:nvSpPr>
          <p:cNvPr id="31" name="TextBox 30"/>
          <p:cNvSpPr txBox="1"/>
          <p:nvPr/>
        </p:nvSpPr>
        <p:spPr>
          <a:xfrm>
            <a:off x="9006840" y="3337560"/>
            <a:ext cx="1188720" cy="411480"/>
          </a:xfrm>
          <a:prstGeom prst="rect">
            <a:avLst/>
          </a:prstGeom>
          <a:noFill/>
        </p:spPr>
        <p:txBody>
          <a:bodyPr wrap="square">
            <a:spAutoFit/>
          </a:bodyPr>
          <a:lstStyle/>
          <a:p>
            <a:pPr algn="ctr"/>
            <a:r>
              <a:rPr sz="1050" b="0" i="0">
                <a:solidFill>
                  <a:srgbClr val="FAF7F0"/>
                </a:solidFill>
              </a:rPr>
              <a:t>Permanent block timestamp</a:t>
            </a:r>
          </a:p>
        </p:txBody>
      </p:sp>
      <p:sp>
        <p:nvSpPr>
          <p:cNvPr id="32" name="Rectangle 31"/>
          <p:cNvSpPr/>
          <p:nvPr/>
        </p:nvSpPr>
        <p:spPr>
          <a:xfrm>
            <a:off x="347472" y="4114800"/>
            <a:ext cx="11494008" cy="2377440"/>
          </a:xfrm>
          <a:prstGeom prst="rect">
            <a:avLst/>
          </a:prstGeom>
          <a:solidFill>
            <a:srgbClr val="0D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47472" y="4114800"/>
            <a:ext cx="50800" cy="2377440"/>
          </a:xfrm>
          <a:prstGeom prst="rect">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48640" y="4206240"/>
            <a:ext cx="11155680" cy="347472"/>
          </a:xfrm>
          <a:prstGeom prst="rect">
            <a:avLst/>
          </a:prstGeom>
          <a:noFill/>
        </p:spPr>
        <p:txBody>
          <a:bodyPr wrap="square">
            <a:spAutoFit/>
          </a:bodyPr>
          <a:lstStyle/>
          <a:p>
            <a:pPr algn="l"/>
            <a:r>
              <a:rPr sz="1200" b="1" i="0">
                <a:solidFill>
                  <a:srgbClr val="667788"/>
                </a:solidFill>
              </a:rPr>
              <a:t>What the receipt proves — to a regulator, court, or counterparty:</a:t>
            </a:r>
          </a:p>
        </p:txBody>
      </p:sp>
      <p:sp>
        <p:nvSpPr>
          <p:cNvPr id="35" name="TextBox 34"/>
          <p:cNvSpPr txBox="1"/>
          <p:nvPr/>
        </p:nvSpPr>
        <p:spPr>
          <a:xfrm>
            <a:off x="548640" y="4617720"/>
            <a:ext cx="11155680" cy="365760"/>
          </a:xfrm>
          <a:prstGeom prst="rect">
            <a:avLst/>
          </a:prstGeom>
          <a:noFill/>
        </p:spPr>
        <p:txBody>
          <a:bodyPr wrap="square">
            <a:spAutoFit/>
          </a:bodyPr>
          <a:lstStyle/>
          <a:p>
            <a:pPr algn="l"/>
            <a:r>
              <a:rPr sz="1200" b="0" i="0">
                <a:solidFill>
                  <a:srgbClr val="FAF7F0"/>
                </a:solidFill>
              </a:rPr>
              <a:t>✓  The exact content (SHA-256) existed at a specific, known time.</a:t>
            </a:r>
          </a:p>
        </p:txBody>
      </p:sp>
      <p:sp>
        <p:nvSpPr>
          <p:cNvPr id="36" name="TextBox 35"/>
          <p:cNvSpPr txBox="1"/>
          <p:nvPr/>
        </p:nvSpPr>
        <p:spPr>
          <a:xfrm>
            <a:off x="548640" y="5029200"/>
            <a:ext cx="11155680" cy="365760"/>
          </a:xfrm>
          <a:prstGeom prst="rect">
            <a:avLst/>
          </a:prstGeom>
          <a:noFill/>
        </p:spPr>
        <p:txBody>
          <a:bodyPr wrap="square">
            <a:spAutoFit/>
          </a:bodyPr>
          <a:lstStyle/>
          <a:p>
            <a:pPr algn="l"/>
            <a:r>
              <a:rPr sz="1200" b="0" i="0">
                <a:solidFill>
                  <a:srgbClr val="FAF7F0"/>
                </a:solidFill>
              </a:rPr>
              <a:t>✓  The publisher's identity is cryptographically bound — not self-reported, not editable.</a:t>
            </a:r>
          </a:p>
        </p:txBody>
      </p:sp>
      <p:sp>
        <p:nvSpPr>
          <p:cNvPr id="37" name="TextBox 36"/>
          <p:cNvSpPr txBox="1"/>
          <p:nvPr/>
        </p:nvSpPr>
        <p:spPr>
          <a:xfrm>
            <a:off x="548640" y="5440680"/>
            <a:ext cx="11155680" cy="365760"/>
          </a:xfrm>
          <a:prstGeom prst="rect">
            <a:avLst/>
          </a:prstGeom>
          <a:noFill/>
        </p:spPr>
        <p:txBody>
          <a:bodyPr wrap="square">
            <a:spAutoFit/>
          </a:bodyPr>
          <a:lstStyle/>
          <a:p>
            <a:pPr algn="l"/>
            <a:r>
              <a:rPr sz="1200" b="0" i="0">
                <a:solidFill>
                  <a:srgbClr val="FAF7F0"/>
                </a:solidFill>
              </a:rPr>
              <a:t>✓  The Bitcoin block timestamp is permanent — no government, company, or adversary can rewrite it.</a:t>
            </a:r>
          </a:p>
        </p:txBody>
      </p:sp>
      <p:sp>
        <p:nvSpPr>
          <p:cNvPr id="38" name="TextBox 37"/>
          <p:cNvSpPr txBox="1"/>
          <p:nvPr/>
        </p:nvSpPr>
        <p:spPr>
          <a:xfrm>
            <a:off x="548640" y="5852160"/>
            <a:ext cx="11155680" cy="365760"/>
          </a:xfrm>
          <a:prstGeom prst="rect">
            <a:avLst/>
          </a:prstGeom>
          <a:noFill/>
        </p:spPr>
        <p:txBody>
          <a:bodyPr wrap="square">
            <a:spAutoFit/>
          </a:bodyPr>
          <a:lstStyle/>
          <a:p>
            <a:pPr algn="l"/>
            <a:r>
              <a:rPr sz="1200" b="1" i="0">
                <a:solidFill>
                  <a:srgbClr val="20E898"/>
                </a:solidFill>
              </a:rPr>
              <a:t>✓  Verification requires zero trust in LedgerProof. Any party verifies independently, forever.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40C16"/>
        </a:solidFill>
        <a:effectLst/>
      </p:bgPr>
    </p:bg>
    <p:spTree>
      <p:nvGrpSpPr>
        <p:cNvPr id="1" name=""/>
        <p:cNvGrpSpPr/>
        <p:nvPr/>
      </p:nvGrpSpPr>
      <p:grpSpPr/>
      <p:pic>
        <p:nvPicPr>
          <p:cNvPr id="2" name="Picture 1" descr="ledgerproof-logo.png"/>
          <p:cNvPicPr>
            <a:picLocks noChangeAspect="1"/>
          </p:cNvPicPr>
          <p:nvPr/>
        </p:nvPicPr>
        <p:blipFill>
          <a:blip r:embed="rId2"/>
          <a:stretch>
            <a:fillRect/>
          </a:stretch>
        </p:blipFill>
        <p:spPr>
          <a:xfrm>
            <a:off x="347472" y="182880"/>
            <a:ext cx="1691640" cy="912781"/>
          </a:xfrm>
          <a:prstGeom prst="rect">
            <a:avLst/>
          </a:prstGeom>
        </p:spPr>
      </p:pic>
      <p:sp>
        <p:nvSpPr>
          <p:cNvPr id="3" name="TextBox 2"/>
          <p:cNvSpPr txBox="1"/>
          <p:nvPr/>
        </p:nvSpPr>
        <p:spPr>
          <a:xfrm>
            <a:off x="9784080" y="201168"/>
            <a:ext cx="2286000" cy="347472"/>
          </a:xfrm>
          <a:prstGeom prst="rect">
            <a:avLst/>
          </a:prstGeom>
          <a:noFill/>
        </p:spPr>
        <p:txBody>
          <a:bodyPr wrap="square">
            <a:spAutoFit/>
          </a:bodyPr>
          <a:lstStyle/>
          <a:p>
            <a:pPr algn="r"/>
            <a:r>
              <a:rPr sz="850" b="1" i="0">
                <a:solidFill>
                  <a:srgbClr val="335566"/>
                </a:solidFill>
              </a:rPr>
              <a:t>WHY NOW</a:t>
            </a:r>
          </a:p>
        </p:txBody>
      </p:sp>
      <p:sp>
        <p:nvSpPr>
          <p:cNvPr id="4" name="TextBox 3"/>
          <p:cNvSpPr txBox="1"/>
          <p:nvPr/>
        </p:nvSpPr>
        <p:spPr>
          <a:xfrm>
            <a:off x="5303520" y="-548640"/>
            <a:ext cx="6858000" cy="7772400"/>
          </a:xfrm>
          <a:prstGeom prst="rect">
            <a:avLst/>
          </a:prstGeom>
          <a:noFill/>
        </p:spPr>
        <p:txBody>
          <a:bodyPr wrap="square">
            <a:spAutoFit/>
          </a:bodyPr>
          <a:lstStyle/>
          <a:p>
            <a:pPr algn="l"/>
            <a:r>
              <a:rPr sz="48000" b="1" i="0">
                <a:solidFill>
                  <a:srgbClr val="0C1C2E"/>
                </a:solidFill>
              </a:rPr>
              <a:t>27</a:t>
            </a:r>
          </a:p>
        </p:txBody>
      </p:sp>
      <p:sp>
        <p:nvSpPr>
          <p:cNvPr id="5" name="TextBox 4"/>
          <p:cNvSpPr txBox="1"/>
          <p:nvPr/>
        </p:nvSpPr>
        <p:spPr>
          <a:xfrm>
            <a:off x="347472" y="822960"/>
            <a:ext cx="7315200" cy="1097280"/>
          </a:xfrm>
          <a:prstGeom prst="rect">
            <a:avLst/>
          </a:prstGeom>
          <a:noFill/>
        </p:spPr>
        <p:txBody>
          <a:bodyPr wrap="square">
            <a:spAutoFit/>
          </a:bodyPr>
          <a:lstStyle/>
          <a:p>
            <a:pPr algn="l"/>
            <a:r>
              <a:rPr sz="2800" b="1" i="0">
                <a:solidFill>
                  <a:srgbClr val="FFFFFF"/>
                </a:solidFill>
              </a:rPr>
              <a:t>The market has been forced
into existence by law.</a:t>
            </a:r>
          </a:p>
        </p:txBody>
      </p:sp>
      <p:sp>
        <p:nvSpPr>
          <p:cNvPr id="6" name="TextBox 5"/>
          <p:cNvSpPr txBox="1"/>
          <p:nvPr/>
        </p:nvSpPr>
        <p:spPr>
          <a:xfrm>
            <a:off x="5669280" y="5303520"/>
            <a:ext cx="4572000" cy="777240"/>
          </a:xfrm>
          <a:prstGeom prst="rect">
            <a:avLst/>
          </a:prstGeom>
          <a:noFill/>
        </p:spPr>
        <p:txBody>
          <a:bodyPr wrap="square">
            <a:spAutoFit/>
          </a:bodyPr>
          <a:lstStyle/>
          <a:p>
            <a:pPr algn="l"/>
            <a:r>
              <a:rPr sz="4800" b="1" i="0">
                <a:solidFill>
                  <a:srgbClr val="F7931A"/>
                </a:solidFill>
              </a:rPr>
              <a:t>DAYS</a:t>
            </a:r>
          </a:p>
        </p:txBody>
      </p:sp>
      <p:sp>
        <p:nvSpPr>
          <p:cNvPr id="7" name="TextBox 6"/>
          <p:cNvSpPr txBox="1"/>
          <p:nvPr/>
        </p:nvSpPr>
        <p:spPr>
          <a:xfrm>
            <a:off x="5669280" y="5989320"/>
            <a:ext cx="6217920" cy="502920"/>
          </a:xfrm>
          <a:prstGeom prst="rect">
            <a:avLst/>
          </a:prstGeom>
          <a:noFill/>
        </p:spPr>
        <p:txBody>
          <a:bodyPr wrap="square">
            <a:spAutoFit/>
          </a:bodyPr>
          <a:lstStyle/>
          <a:p>
            <a:pPr algn="l"/>
            <a:r>
              <a:rPr sz="1300" b="0" i="0">
                <a:solidFill>
                  <a:srgbClr val="FAF7F0"/>
                </a:solidFill>
              </a:rPr>
              <a:t>between LedgerProof launch and EU AI Act enforcement.</a:t>
            </a:r>
          </a:p>
        </p:txBody>
      </p:sp>
      <p:sp>
        <p:nvSpPr>
          <p:cNvPr id="8" name="Oval 7"/>
          <p:cNvSpPr/>
          <p:nvPr/>
        </p:nvSpPr>
        <p:spPr>
          <a:xfrm>
            <a:off x="347472" y="2176272"/>
            <a:ext cx="292608" cy="292608"/>
          </a:xfrm>
          <a:prstGeom prst="ellipse">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66344" y="2468880"/>
            <a:ext cx="25400" cy="1005840"/>
          </a:xfrm>
          <a:prstGeom prst="rect">
            <a:avLst/>
          </a:prstGeom>
          <a:solidFill>
            <a:srgbClr val="4455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2103120"/>
            <a:ext cx="4114800" cy="365760"/>
          </a:xfrm>
          <a:prstGeom prst="rect">
            <a:avLst/>
          </a:prstGeom>
          <a:noFill/>
        </p:spPr>
        <p:txBody>
          <a:bodyPr wrap="square">
            <a:spAutoFit/>
          </a:bodyPr>
          <a:lstStyle/>
          <a:p>
            <a:pPr algn="l"/>
            <a:r>
              <a:rPr sz="1500" b="1" i="0">
                <a:solidFill>
                  <a:srgbClr val="20E898"/>
                </a:solidFill>
              </a:rPr>
              <a:t>July 6, 2026</a:t>
            </a:r>
          </a:p>
        </p:txBody>
      </p:sp>
      <p:sp>
        <p:nvSpPr>
          <p:cNvPr id="11" name="TextBox 10"/>
          <p:cNvSpPr txBox="1"/>
          <p:nvPr/>
        </p:nvSpPr>
        <p:spPr>
          <a:xfrm>
            <a:off x="804672" y="2468880"/>
            <a:ext cx="5029200" cy="594360"/>
          </a:xfrm>
          <a:prstGeom prst="rect">
            <a:avLst/>
          </a:prstGeom>
          <a:noFill/>
        </p:spPr>
        <p:txBody>
          <a:bodyPr wrap="square">
            <a:spAutoFit/>
          </a:bodyPr>
          <a:lstStyle/>
          <a:p>
            <a:pPr algn="l"/>
            <a:r>
              <a:rPr sz="1200" b="0" i="0">
                <a:solidFill>
                  <a:srgbClr val="FAF7F0"/>
                </a:solidFill>
              </a:rPr>
              <a:t>LedgerProof public launch</a:t>
            </a:r>
          </a:p>
        </p:txBody>
      </p:sp>
      <p:sp>
        <p:nvSpPr>
          <p:cNvPr id="12" name="Oval 11"/>
          <p:cNvSpPr/>
          <p:nvPr/>
        </p:nvSpPr>
        <p:spPr>
          <a:xfrm>
            <a:off x="347472" y="3456431"/>
            <a:ext cx="292608" cy="292608"/>
          </a:xfrm>
          <a:prstGeom prst="ellipse">
            <a:avLst/>
          </a:prstGeom>
          <a:solidFill>
            <a:srgbClr val="F793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66344" y="3749039"/>
            <a:ext cx="25400" cy="1005840"/>
          </a:xfrm>
          <a:prstGeom prst="rect">
            <a:avLst/>
          </a:prstGeom>
          <a:solidFill>
            <a:srgbClr val="4455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3383279"/>
            <a:ext cx="4114800" cy="365760"/>
          </a:xfrm>
          <a:prstGeom prst="rect">
            <a:avLst/>
          </a:prstGeom>
          <a:noFill/>
        </p:spPr>
        <p:txBody>
          <a:bodyPr wrap="square">
            <a:spAutoFit/>
          </a:bodyPr>
          <a:lstStyle/>
          <a:p>
            <a:pPr algn="l"/>
            <a:r>
              <a:rPr sz="1500" b="1" i="0">
                <a:solidFill>
                  <a:srgbClr val="F7931A"/>
                </a:solidFill>
              </a:rPr>
              <a:t>August 2, 2026</a:t>
            </a:r>
          </a:p>
        </p:txBody>
      </p:sp>
      <p:sp>
        <p:nvSpPr>
          <p:cNvPr id="15" name="TextBox 14"/>
          <p:cNvSpPr txBox="1"/>
          <p:nvPr/>
        </p:nvSpPr>
        <p:spPr>
          <a:xfrm>
            <a:off x="804672" y="3749039"/>
            <a:ext cx="5029200" cy="594360"/>
          </a:xfrm>
          <a:prstGeom prst="rect">
            <a:avLst/>
          </a:prstGeom>
          <a:noFill/>
        </p:spPr>
        <p:txBody>
          <a:bodyPr wrap="square">
            <a:spAutoFit/>
          </a:bodyPr>
          <a:lstStyle/>
          <a:p>
            <a:pPr algn="l"/>
            <a:r>
              <a:rPr sz="1200" b="0" i="0">
                <a:solidFill>
                  <a:srgbClr val="FAF7F0"/>
                </a:solidFill>
              </a:rPr>
              <a:t>EU AI Act Article 50 enforcement begins</a:t>
            </a:r>
          </a:p>
        </p:txBody>
      </p:sp>
      <p:sp>
        <p:nvSpPr>
          <p:cNvPr id="16" name="Oval 15"/>
          <p:cNvSpPr/>
          <p:nvPr/>
        </p:nvSpPr>
        <p:spPr>
          <a:xfrm>
            <a:off x="347472" y="4736592"/>
            <a:ext cx="292608" cy="292608"/>
          </a:xfrm>
          <a:prstGeom prst="ellipse">
            <a:avLst/>
          </a:prstGeom>
          <a:solidFill>
            <a:srgbClr val="667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4672" y="4663440"/>
            <a:ext cx="4114800" cy="365760"/>
          </a:xfrm>
          <a:prstGeom prst="rect">
            <a:avLst/>
          </a:prstGeom>
          <a:noFill/>
        </p:spPr>
        <p:txBody>
          <a:bodyPr wrap="square">
            <a:spAutoFit/>
          </a:bodyPr>
          <a:lstStyle/>
          <a:p>
            <a:pPr algn="l"/>
            <a:r>
              <a:rPr sz="1500" b="1" i="0">
                <a:solidFill>
                  <a:srgbClr val="667788"/>
                </a:solidFill>
              </a:rPr>
              <a:t>2027+</a:t>
            </a:r>
          </a:p>
        </p:txBody>
      </p:sp>
      <p:sp>
        <p:nvSpPr>
          <p:cNvPr id="18" name="TextBox 17"/>
          <p:cNvSpPr txBox="1"/>
          <p:nvPr/>
        </p:nvSpPr>
        <p:spPr>
          <a:xfrm>
            <a:off x="804672" y="5029200"/>
            <a:ext cx="5029200" cy="594360"/>
          </a:xfrm>
          <a:prstGeom prst="rect">
            <a:avLst/>
          </a:prstGeom>
          <a:noFill/>
        </p:spPr>
        <p:txBody>
          <a:bodyPr wrap="square">
            <a:spAutoFit/>
          </a:bodyPr>
          <a:lstStyle/>
          <a:p>
            <a:pPr algn="l"/>
            <a:r>
              <a:rPr sz="1200" b="0" i="0">
                <a:solidFill>
                  <a:srgbClr val="FAF7F0"/>
                </a:solidFill>
              </a:rPr>
              <a:t>US, UK, and APAC regulatory follow-on</a:t>
            </a:r>
          </a:p>
        </p:txBody>
      </p:sp>
      <p:sp>
        <p:nvSpPr>
          <p:cNvPr id="19" name="Rectangle 18"/>
          <p:cNvSpPr/>
          <p:nvPr/>
        </p:nvSpPr>
        <p:spPr>
          <a:xfrm>
            <a:off x="347472" y="6400800"/>
            <a:ext cx="11494008" cy="12700"/>
          </a:xfrm>
          <a:prstGeom prst="rect">
            <a:avLst/>
          </a:prstGeom>
          <a:solidFill>
            <a:srgbClr val="4455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47472" y="6492240"/>
            <a:ext cx="11494008" cy="292608"/>
          </a:xfrm>
          <a:prstGeom prst="rect">
            <a:avLst/>
          </a:prstGeom>
          <a:noFill/>
        </p:spPr>
        <p:txBody>
          <a:bodyPr wrap="square">
            <a:spAutoFit/>
          </a:bodyPr>
          <a:lstStyle/>
          <a:p>
            <a:pPr algn="l"/>
            <a:r>
              <a:rPr sz="1000" b="0" i="1">
                <a:solidFill>
                  <a:srgbClr val="667788"/>
                </a:solidFill>
              </a:rPr>
              <a:t>EU AI Act Article 50  ·  Fines up to €15M or 3% of global turnover  ·  No grace period  ·  The EU's own guidance concludes no existing technique satisfies 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40C16"/>
        </a:solidFill>
        <a:effectLst/>
      </p:bgPr>
    </p:bg>
    <p:spTree>
      <p:nvGrpSpPr>
        <p:cNvPr id="1" name=""/>
        <p:cNvGrpSpPr/>
        <p:nvPr/>
      </p:nvGrpSpPr>
      <p:grpSpPr/>
      <p:pic>
        <p:nvPicPr>
          <p:cNvPr id="2" name="Picture 1" descr="ledgerproof-logo.png"/>
          <p:cNvPicPr>
            <a:picLocks noChangeAspect="1"/>
          </p:cNvPicPr>
          <p:nvPr/>
        </p:nvPicPr>
        <p:blipFill>
          <a:blip r:embed="rId2"/>
          <a:stretch>
            <a:fillRect/>
          </a:stretch>
        </p:blipFill>
        <p:spPr>
          <a:xfrm>
            <a:off x="347472" y="182880"/>
            <a:ext cx="1691640" cy="912781"/>
          </a:xfrm>
          <a:prstGeom prst="rect">
            <a:avLst/>
          </a:prstGeom>
        </p:spPr>
      </p:pic>
      <p:sp>
        <p:nvSpPr>
          <p:cNvPr id="3" name="TextBox 2"/>
          <p:cNvSpPr txBox="1"/>
          <p:nvPr/>
        </p:nvSpPr>
        <p:spPr>
          <a:xfrm>
            <a:off x="9784080" y="201168"/>
            <a:ext cx="2286000" cy="347472"/>
          </a:xfrm>
          <a:prstGeom prst="rect">
            <a:avLst/>
          </a:prstGeom>
          <a:noFill/>
        </p:spPr>
        <p:txBody>
          <a:bodyPr wrap="square">
            <a:spAutoFit/>
          </a:bodyPr>
          <a:lstStyle/>
          <a:p>
            <a:pPr algn="r"/>
            <a:r>
              <a:rPr sz="850" b="1" i="0">
                <a:solidFill>
                  <a:srgbClr val="335566"/>
                </a:solidFill>
              </a:rPr>
              <a:t>PROOF OF WORK</a:t>
            </a:r>
          </a:p>
        </p:txBody>
      </p:sp>
      <p:sp>
        <p:nvSpPr>
          <p:cNvPr id="4" name="TextBox 3"/>
          <p:cNvSpPr txBox="1"/>
          <p:nvPr/>
        </p:nvSpPr>
        <p:spPr>
          <a:xfrm>
            <a:off x="347472" y="822960"/>
            <a:ext cx="5943600" cy="1371600"/>
          </a:xfrm>
          <a:prstGeom prst="rect">
            <a:avLst/>
          </a:prstGeom>
          <a:noFill/>
        </p:spPr>
        <p:txBody>
          <a:bodyPr wrap="square">
            <a:spAutoFit/>
          </a:bodyPr>
          <a:lstStyle/>
          <a:p>
            <a:pPr algn="l"/>
            <a:r>
              <a:rPr sz="3400" b="1" i="0">
                <a:solidFill>
                  <a:srgbClr val="FFFFFF"/>
                </a:solidFill>
              </a:rPr>
              <a:t>The product is live.
This is not a demo.</a:t>
            </a:r>
          </a:p>
        </p:txBody>
      </p:sp>
      <p:sp>
        <p:nvSpPr>
          <p:cNvPr id="5" name="Rectangle 4"/>
          <p:cNvSpPr/>
          <p:nvPr/>
        </p:nvSpPr>
        <p:spPr>
          <a:xfrm>
            <a:off x="347472" y="2331720"/>
            <a:ext cx="2286000" cy="38100"/>
          </a:xfrm>
          <a:prstGeom prst="rect">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347472" y="2606040"/>
            <a:ext cx="182880" cy="182880"/>
          </a:xfrm>
          <a:prstGeom prst="ellipse">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2514600"/>
            <a:ext cx="2560320" cy="292608"/>
          </a:xfrm>
          <a:prstGeom prst="rect">
            <a:avLst/>
          </a:prstGeom>
          <a:noFill/>
        </p:spPr>
        <p:txBody>
          <a:bodyPr wrap="square">
            <a:spAutoFit/>
          </a:bodyPr>
          <a:lstStyle/>
          <a:p>
            <a:pPr algn="l"/>
            <a:r>
              <a:rPr sz="1200" b="1" i="0">
                <a:solidFill>
                  <a:srgbClr val="20E898"/>
                </a:solidFill>
              </a:rPr>
              <a:t>API</a:t>
            </a:r>
          </a:p>
        </p:txBody>
      </p:sp>
      <p:sp>
        <p:nvSpPr>
          <p:cNvPr id="8" name="TextBox 7"/>
          <p:cNvSpPr txBox="1"/>
          <p:nvPr/>
        </p:nvSpPr>
        <p:spPr>
          <a:xfrm>
            <a:off x="658368" y="2788920"/>
            <a:ext cx="5029200" cy="274320"/>
          </a:xfrm>
          <a:prstGeom prst="rect">
            <a:avLst/>
          </a:prstGeom>
          <a:noFill/>
        </p:spPr>
        <p:txBody>
          <a:bodyPr wrap="square">
            <a:spAutoFit/>
          </a:bodyPr>
          <a:lstStyle/>
          <a:p>
            <a:pPr algn="l"/>
            <a:r>
              <a:rPr sz="1100" b="0" i="0">
                <a:solidFill>
                  <a:srgbClr val="FAF7F0"/>
                </a:solidFill>
              </a:rPr>
              <a:t>api.ledgerproofhq.io · production</a:t>
            </a:r>
          </a:p>
        </p:txBody>
      </p:sp>
      <p:sp>
        <p:nvSpPr>
          <p:cNvPr id="9" name="Oval 8"/>
          <p:cNvSpPr/>
          <p:nvPr/>
        </p:nvSpPr>
        <p:spPr>
          <a:xfrm>
            <a:off x="347472" y="3227832"/>
            <a:ext cx="182880" cy="182880"/>
          </a:xfrm>
          <a:prstGeom prst="ellipse">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3136392"/>
            <a:ext cx="2560320" cy="292608"/>
          </a:xfrm>
          <a:prstGeom prst="rect">
            <a:avLst/>
          </a:prstGeom>
          <a:noFill/>
        </p:spPr>
        <p:txBody>
          <a:bodyPr wrap="square">
            <a:spAutoFit/>
          </a:bodyPr>
          <a:lstStyle/>
          <a:p>
            <a:pPr algn="l"/>
            <a:r>
              <a:rPr sz="1200" b="1" i="0">
                <a:solidFill>
                  <a:srgbClr val="20E898"/>
                </a:solidFill>
              </a:rPr>
              <a:t>Public verifier</a:t>
            </a:r>
          </a:p>
        </p:txBody>
      </p:sp>
      <p:sp>
        <p:nvSpPr>
          <p:cNvPr id="11" name="TextBox 10"/>
          <p:cNvSpPr txBox="1"/>
          <p:nvPr/>
        </p:nvSpPr>
        <p:spPr>
          <a:xfrm>
            <a:off x="658368" y="3410712"/>
            <a:ext cx="5029200" cy="274320"/>
          </a:xfrm>
          <a:prstGeom prst="rect">
            <a:avLst/>
          </a:prstGeom>
          <a:noFill/>
        </p:spPr>
        <p:txBody>
          <a:bodyPr wrap="square">
            <a:spAutoFit/>
          </a:bodyPr>
          <a:lstStyle/>
          <a:p>
            <a:pPr algn="l"/>
            <a:r>
              <a:rPr sz="1100" b="0" i="0">
                <a:solidFill>
                  <a:srgbClr val="FAF7F0"/>
                </a:solidFill>
              </a:rPr>
              <a:t>verify.ledgerproofhq.io · zero login</a:t>
            </a:r>
          </a:p>
        </p:txBody>
      </p:sp>
      <p:sp>
        <p:nvSpPr>
          <p:cNvPr id="12" name="Oval 11"/>
          <p:cNvSpPr/>
          <p:nvPr/>
        </p:nvSpPr>
        <p:spPr>
          <a:xfrm>
            <a:off x="347472" y="3849624"/>
            <a:ext cx="182880" cy="182880"/>
          </a:xfrm>
          <a:prstGeom prst="ellipse">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3758184"/>
            <a:ext cx="2560320" cy="292608"/>
          </a:xfrm>
          <a:prstGeom prst="rect">
            <a:avLst/>
          </a:prstGeom>
          <a:noFill/>
        </p:spPr>
        <p:txBody>
          <a:bodyPr wrap="square">
            <a:spAutoFit/>
          </a:bodyPr>
          <a:lstStyle/>
          <a:p>
            <a:pPr algn="l"/>
            <a:r>
              <a:rPr sz="1200" b="1" i="0">
                <a:solidFill>
                  <a:srgbClr val="20E898"/>
                </a:solidFill>
              </a:rPr>
              <a:t>3 SDK integrations</a:t>
            </a:r>
          </a:p>
        </p:txBody>
      </p:sp>
      <p:sp>
        <p:nvSpPr>
          <p:cNvPr id="14" name="TextBox 13"/>
          <p:cNvSpPr txBox="1"/>
          <p:nvPr/>
        </p:nvSpPr>
        <p:spPr>
          <a:xfrm>
            <a:off x="658368" y="4032504"/>
            <a:ext cx="5029200" cy="274320"/>
          </a:xfrm>
          <a:prstGeom prst="rect">
            <a:avLst/>
          </a:prstGeom>
          <a:noFill/>
        </p:spPr>
        <p:txBody>
          <a:bodyPr wrap="square">
            <a:spAutoFit/>
          </a:bodyPr>
          <a:lstStyle/>
          <a:p>
            <a:pPr algn="l"/>
            <a:r>
              <a:rPr sz="1100" b="0" i="0">
                <a:solidFill>
                  <a:srgbClr val="FAF7F0"/>
                </a:solidFill>
              </a:rPr>
              <a:t>ElevenLabs · Writer · Harvey AI</a:t>
            </a:r>
          </a:p>
        </p:txBody>
      </p:sp>
      <p:sp>
        <p:nvSpPr>
          <p:cNvPr id="15" name="Oval 14"/>
          <p:cNvSpPr/>
          <p:nvPr/>
        </p:nvSpPr>
        <p:spPr>
          <a:xfrm>
            <a:off x="347472" y="4471416"/>
            <a:ext cx="182880" cy="182880"/>
          </a:xfrm>
          <a:prstGeom prst="ellipse">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4379976"/>
            <a:ext cx="2560320" cy="292608"/>
          </a:xfrm>
          <a:prstGeom prst="rect">
            <a:avLst/>
          </a:prstGeom>
          <a:noFill/>
        </p:spPr>
        <p:txBody>
          <a:bodyPr wrap="square">
            <a:spAutoFit/>
          </a:bodyPr>
          <a:lstStyle/>
          <a:p>
            <a:pPr algn="l"/>
            <a:r>
              <a:rPr sz="1200" b="1" i="0">
                <a:solidFill>
                  <a:srgbClr val="20E898"/>
                </a:solidFill>
              </a:rPr>
              <a:t>Word Add-in</a:t>
            </a:r>
          </a:p>
        </p:txBody>
      </p:sp>
      <p:sp>
        <p:nvSpPr>
          <p:cNvPr id="17" name="TextBox 16"/>
          <p:cNvSpPr txBox="1"/>
          <p:nvPr/>
        </p:nvSpPr>
        <p:spPr>
          <a:xfrm>
            <a:off x="658368" y="4654296"/>
            <a:ext cx="5029200" cy="274320"/>
          </a:xfrm>
          <a:prstGeom prst="rect">
            <a:avLst/>
          </a:prstGeom>
          <a:noFill/>
        </p:spPr>
        <p:txBody>
          <a:bodyPr wrap="square">
            <a:spAutoFit/>
          </a:bodyPr>
          <a:lstStyle/>
          <a:p>
            <a:pPr algn="l"/>
            <a:r>
              <a:rPr sz="1100" b="0" i="0">
                <a:solidFill>
                  <a:srgbClr val="FAF7F0"/>
                </a:solidFill>
              </a:rPr>
              <a:t>Anchor Harvey output · no Harvey API needed</a:t>
            </a:r>
          </a:p>
        </p:txBody>
      </p:sp>
      <p:sp>
        <p:nvSpPr>
          <p:cNvPr id="18" name="Oval 17"/>
          <p:cNvSpPr/>
          <p:nvPr/>
        </p:nvSpPr>
        <p:spPr>
          <a:xfrm>
            <a:off x="347472" y="5093208"/>
            <a:ext cx="182880" cy="182880"/>
          </a:xfrm>
          <a:prstGeom prst="ellipse">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 y="5001768"/>
            <a:ext cx="2560320" cy="292608"/>
          </a:xfrm>
          <a:prstGeom prst="rect">
            <a:avLst/>
          </a:prstGeom>
          <a:noFill/>
        </p:spPr>
        <p:txBody>
          <a:bodyPr wrap="square">
            <a:spAutoFit/>
          </a:bodyPr>
          <a:lstStyle/>
          <a:p>
            <a:pPr algn="l"/>
            <a:r>
              <a:rPr sz="1200" b="1" i="0">
                <a:solidFill>
                  <a:srgbClr val="20E898"/>
                </a:solidFill>
              </a:rPr>
              <a:t>Bitcoin mainnet</a:t>
            </a:r>
          </a:p>
        </p:txBody>
      </p:sp>
      <p:sp>
        <p:nvSpPr>
          <p:cNvPr id="20" name="TextBox 19"/>
          <p:cNvSpPr txBox="1"/>
          <p:nvPr/>
        </p:nvSpPr>
        <p:spPr>
          <a:xfrm>
            <a:off x="658368" y="5276088"/>
            <a:ext cx="5029200" cy="274320"/>
          </a:xfrm>
          <a:prstGeom prst="rect">
            <a:avLst/>
          </a:prstGeom>
          <a:noFill/>
        </p:spPr>
        <p:txBody>
          <a:bodyPr wrap="square">
            <a:spAutoFit/>
          </a:bodyPr>
          <a:lstStyle/>
          <a:p>
            <a:pPr algn="l"/>
            <a:r>
              <a:rPr sz="1100" b="0" i="0">
                <a:solidFill>
                  <a:srgbClr val="FAF7F0"/>
                </a:solidFill>
              </a:rPr>
              <a:t>OP_RETURN live · testnet never used</a:t>
            </a:r>
          </a:p>
        </p:txBody>
      </p:sp>
      <p:sp>
        <p:nvSpPr>
          <p:cNvPr id="21" name="Oval 20"/>
          <p:cNvSpPr/>
          <p:nvPr/>
        </p:nvSpPr>
        <p:spPr>
          <a:xfrm>
            <a:off x="347472" y="5715000"/>
            <a:ext cx="182880" cy="182880"/>
          </a:xfrm>
          <a:prstGeom prst="ellipse">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8368" y="5623560"/>
            <a:ext cx="2560320" cy="292608"/>
          </a:xfrm>
          <a:prstGeom prst="rect">
            <a:avLst/>
          </a:prstGeom>
          <a:noFill/>
        </p:spPr>
        <p:txBody>
          <a:bodyPr wrap="square">
            <a:spAutoFit/>
          </a:bodyPr>
          <a:lstStyle/>
          <a:p>
            <a:pPr algn="l"/>
            <a:r>
              <a:rPr sz="1200" b="1" i="0">
                <a:solidFill>
                  <a:srgbClr val="20E898"/>
                </a:solidFill>
              </a:rPr>
              <a:t>IETF Draft</a:t>
            </a:r>
          </a:p>
        </p:txBody>
      </p:sp>
      <p:sp>
        <p:nvSpPr>
          <p:cNvPr id="23" name="TextBox 22"/>
          <p:cNvSpPr txBox="1"/>
          <p:nvPr/>
        </p:nvSpPr>
        <p:spPr>
          <a:xfrm>
            <a:off x="658368" y="5897880"/>
            <a:ext cx="5029200" cy="274320"/>
          </a:xfrm>
          <a:prstGeom prst="rect">
            <a:avLst/>
          </a:prstGeom>
          <a:noFill/>
        </p:spPr>
        <p:txBody>
          <a:bodyPr wrap="square">
            <a:spAutoFit/>
          </a:bodyPr>
          <a:lstStyle/>
          <a:p>
            <a:pPr algn="l"/>
            <a:r>
              <a:rPr sz="1100" b="0" i="0">
                <a:solidFill>
                  <a:srgbClr val="FAF7F0"/>
                </a:solidFill>
              </a:rPr>
              <a:t>LPR 1.0 spec · filing July 11, 2026</a:t>
            </a:r>
          </a:p>
        </p:txBody>
      </p:sp>
      <p:sp>
        <p:nvSpPr>
          <p:cNvPr id="24" name="Rectangle 23"/>
          <p:cNvSpPr/>
          <p:nvPr/>
        </p:nvSpPr>
        <p:spPr>
          <a:xfrm>
            <a:off x="6400800" y="777240"/>
            <a:ext cx="5486400" cy="5760720"/>
          </a:xfrm>
          <a:prstGeom prst="rect">
            <a:avLst/>
          </a:prstGeom>
          <a:solidFill>
            <a:srgbClr val="0D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400800" y="777240"/>
            <a:ext cx="5486400" cy="54864"/>
          </a:xfrm>
          <a:prstGeom prst="rect">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83680" y="914400"/>
            <a:ext cx="5120640" cy="347472"/>
          </a:xfrm>
          <a:prstGeom prst="rect">
            <a:avLst/>
          </a:prstGeom>
          <a:noFill/>
        </p:spPr>
        <p:txBody>
          <a:bodyPr wrap="square">
            <a:spAutoFit/>
          </a:bodyPr>
          <a:lstStyle/>
          <a:p>
            <a:pPr algn="l"/>
            <a:r>
              <a:rPr sz="1000" b="1" i="0">
                <a:solidFill>
                  <a:srgbClr val="20E898"/>
                </a:solidFill>
              </a:rPr>
              <a:t>May 18, 2026</a:t>
            </a:r>
          </a:p>
        </p:txBody>
      </p:sp>
      <p:sp>
        <p:nvSpPr>
          <p:cNvPr id="27" name="TextBox 26"/>
          <p:cNvSpPr txBox="1"/>
          <p:nvPr/>
        </p:nvSpPr>
        <p:spPr>
          <a:xfrm>
            <a:off x="6583680" y="1280160"/>
            <a:ext cx="5120640" cy="731520"/>
          </a:xfrm>
          <a:prstGeom prst="rect">
            <a:avLst/>
          </a:prstGeom>
          <a:noFill/>
        </p:spPr>
        <p:txBody>
          <a:bodyPr wrap="square">
            <a:spAutoFit/>
          </a:bodyPr>
          <a:lstStyle/>
          <a:p>
            <a:pPr algn="l"/>
            <a:r>
              <a:rPr sz="1800" b="1" i="0">
                <a:solidFill>
                  <a:srgbClr val="FFFFFF"/>
                </a:solidFill>
              </a:rPr>
              <a:t>intouch|Live San Diego
Cybersecurity Symposium</a:t>
            </a:r>
          </a:p>
        </p:txBody>
      </p:sp>
      <p:sp>
        <p:nvSpPr>
          <p:cNvPr id="28" name="TextBox 27"/>
          <p:cNvSpPr txBox="1"/>
          <p:nvPr/>
        </p:nvSpPr>
        <p:spPr>
          <a:xfrm>
            <a:off x="6583680" y="2148840"/>
            <a:ext cx="5120640" cy="1097280"/>
          </a:xfrm>
          <a:prstGeom prst="rect">
            <a:avLst/>
          </a:prstGeom>
          <a:noFill/>
        </p:spPr>
        <p:txBody>
          <a:bodyPr wrap="square">
            <a:spAutoFit/>
          </a:bodyPr>
          <a:lstStyle/>
          <a:p>
            <a:pPr algn="l"/>
            <a:r>
              <a:rPr sz="1200" b="0" i="0">
                <a:solidFill>
                  <a:srgbClr val="FAF7F0"/>
                </a:solidFill>
              </a:rPr>
              <a:t>200 institutional attendees. The LedgerProof Founding Declaration anchored to Bitcoin block #900,412 on stage. The transaction is on mainnet. It cannot be altered.</a:t>
            </a:r>
          </a:p>
        </p:txBody>
      </p:sp>
      <p:sp>
        <p:nvSpPr>
          <p:cNvPr id="29" name="Rectangle 28"/>
          <p:cNvSpPr/>
          <p:nvPr/>
        </p:nvSpPr>
        <p:spPr>
          <a:xfrm>
            <a:off x="6583680" y="3429000"/>
            <a:ext cx="5120640" cy="548640"/>
          </a:xfrm>
          <a:prstGeom prst="rect">
            <a:avLst/>
          </a:prstGeom>
          <a:solidFill>
            <a:srgbClr val="040C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20840" y="3511296"/>
            <a:ext cx="4846320" cy="320040"/>
          </a:xfrm>
          <a:prstGeom prst="rect">
            <a:avLst/>
          </a:prstGeom>
          <a:noFill/>
        </p:spPr>
        <p:txBody>
          <a:bodyPr wrap="square">
            <a:spAutoFit/>
          </a:bodyPr>
          <a:lstStyle/>
          <a:p>
            <a:pPr algn="l"/>
            <a:r>
              <a:rPr sz="1000" b="1" i="1">
                <a:solidFill>
                  <a:srgbClr val="4DEFAB"/>
                </a:solidFill>
              </a:rPr>
              <a:t>TXID  5db5c68e…  (Bitcoin mainnet)</a:t>
            </a:r>
          </a:p>
        </p:txBody>
      </p:sp>
      <p:sp>
        <p:nvSpPr>
          <p:cNvPr id="31" name="TextBox 30"/>
          <p:cNvSpPr txBox="1"/>
          <p:nvPr/>
        </p:nvSpPr>
        <p:spPr>
          <a:xfrm>
            <a:off x="6583680" y="4114800"/>
            <a:ext cx="5120640" cy="347472"/>
          </a:xfrm>
          <a:prstGeom prst="rect">
            <a:avLst/>
          </a:prstGeom>
          <a:noFill/>
        </p:spPr>
        <p:txBody>
          <a:bodyPr wrap="square">
            <a:spAutoFit/>
          </a:bodyPr>
          <a:lstStyle/>
          <a:p>
            <a:pPr algn="l"/>
            <a:r>
              <a:rPr sz="1100" b="1" i="0">
                <a:solidFill>
                  <a:srgbClr val="20E898"/>
                </a:solidFill>
              </a:rPr>
              <a:t>verify.ledgerproofhq.io/r/founding-declaration</a:t>
            </a:r>
          </a:p>
        </p:txBody>
      </p:sp>
      <p:sp>
        <p:nvSpPr>
          <p:cNvPr id="32" name="Rectangle 31"/>
          <p:cNvSpPr/>
          <p:nvPr/>
        </p:nvSpPr>
        <p:spPr>
          <a:xfrm>
            <a:off x="6583680" y="4709160"/>
            <a:ext cx="1600200" cy="1463040"/>
          </a:xfrm>
          <a:prstGeom prst="rect">
            <a:avLst/>
          </a:prstGeom>
          <a:solidFill>
            <a:srgbClr val="06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675120" y="4754880"/>
            <a:ext cx="1417320" cy="685800"/>
          </a:xfrm>
          <a:prstGeom prst="rect">
            <a:avLst/>
          </a:prstGeom>
          <a:noFill/>
        </p:spPr>
        <p:txBody>
          <a:bodyPr wrap="square">
            <a:spAutoFit/>
          </a:bodyPr>
          <a:lstStyle/>
          <a:p>
            <a:pPr algn="ctr"/>
            <a:r>
              <a:rPr sz="4400" b="1" i="0">
                <a:solidFill>
                  <a:srgbClr val="20E898"/>
                </a:solidFill>
              </a:rPr>
              <a:t>20</a:t>
            </a:r>
          </a:p>
        </p:txBody>
      </p:sp>
      <p:sp>
        <p:nvSpPr>
          <p:cNvPr id="34" name="TextBox 33"/>
          <p:cNvSpPr txBox="1"/>
          <p:nvPr/>
        </p:nvSpPr>
        <p:spPr>
          <a:xfrm>
            <a:off x="6629400" y="5376672"/>
            <a:ext cx="1508760" cy="548640"/>
          </a:xfrm>
          <a:prstGeom prst="rect">
            <a:avLst/>
          </a:prstGeom>
          <a:noFill/>
        </p:spPr>
        <p:txBody>
          <a:bodyPr wrap="square">
            <a:spAutoFit/>
          </a:bodyPr>
          <a:lstStyle/>
          <a:p>
            <a:pPr algn="ctr"/>
            <a:r>
              <a:rPr sz="950" b="0" i="0">
                <a:solidFill>
                  <a:srgbClr val="FAF7F0"/>
                </a:solidFill>
              </a:rPr>
              <a:t>warm leads
in pipeline</a:t>
            </a:r>
          </a:p>
        </p:txBody>
      </p:sp>
      <p:sp>
        <p:nvSpPr>
          <p:cNvPr id="35" name="Rectangle 34"/>
          <p:cNvSpPr/>
          <p:nvPr/>
        </p:nvSpPr>
        <p:spPr>
          <a:xfrm>
            <a:off x="8339328" y="4709160"/>
            <a:ext cx="1600200" cy="1463040"/>
          </a:xfrm>
          <a:prstGeom prst="rect">
            <a:avLst/>
          </a:prstGeom>
          <a:solidFill>
            <a:srgbClr val="06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430768" y="4754880"/>
            <a:ext cx="1417320" cy="685800"/>
          </a:xfrm>
          <a:prstGeom prst="rect">
            <a:avLst/>
          </a:prstGeom>
          <a:noFill/>
        </p:spPr>
        <p:txBody>
          <a:bodyPr wrap="square">
            <a:spAutoFit/>
          </a:bodyPr>
          <a:lstStyle/>
          <a:p>
            <a:pPr algn="ctr"/>
            <a:r>
              <a:rPr sz="4400" b="1" i="0">
                <a:solidFill>
                  <a:srgbClr val="20E898"/>
                </a:solidFill>
              </a:rPr>
              <a:t>3</a:t>
            </a:r>
          </a:p>
        </p:txBody>
      </p:sp>
      <p:sp>
        <p:nvSpPr>
          <p:cNvPr id="37" name="TextBox 36"/>
          <p:cNvSpPr txBox="1"/>
          <p:nvPr/>
        </p:nvSpPr>
        <p:spPr>
          <a:xfrm>
            <a:off x="8385048" y="5376672"/>
            <a:ext cx="1508760" cy="548640"/>
          </a:xfrm>
          <a:prstGeom prst="rect">
            <a:avLst/>
          </a:prstGeom>
          <a:noFill/>
        </p:spPr>
        <p:txBody>
          <a:bodyPr wrap="square">
            <a:spAutoFit/>
          </a:bodyPr>
          <a:lstStyle/>
          <a:p>
            <a:pPr algn="ctr"/>
            <a:r>
              <a:rPr sz="950" b="0" i="0">
                <a:solidFill>
                  <a:srgbClr val="FAF7F0"/>
                </a:solidFill>
              </a:rPr>
              <a:t>SDK integrations
production-ready</a:t>
            </a:r>
          </a:p>
        </p:txBody>
      </p:sp>
      <p:sp>
        <p:nvSpPr>
          <p:cNvPr id="38" name="Rectangle 37"/>
          <p:cNvSpPr/>
          <p:nvPr/>
        </p:nvSpPr>
        <p:spPr>
          <a:xfrm>
            <a:off x="10094976" y="4709160"/>
            <a:ext cx="1600200" cy="1463040"/>
          </a:xfrm>
          <a:prstGeom prst="rect">
            <a:avLst/>
          </a:prstGeom>
          <a:solidFill>
            <a:srgbClr val="06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186416" y="4754880"/>
            <a:ext cx="1417320" cy="685800"/>
          </a:xfrm>
          <a:prstGeom prst="rect">
            <a:avLst/>
          </a:prstGeom>
          <a:noFill/>
        </p:spPr>
        <p:txBody>
          <a:bodyPr wrap="square">
            <a:spAutoFit/>
          </a:bodyPr>
          <a:lstStyle/>
          <a:p>
            <a:pPr algn="ctr"/>
            <a:r>
              <a:rPr sz="4400" b="1" i="0">
                <a:solidFill>
                  <a:srgbClr val="20E898"/>
                </a:solidFill>
              </a:rPr>
              <a:t>0</a:t>
            </a:r>
          </a:p>
        </p:txBody>
      </p:sp>
      <p:sp>
        <p:nvSpPr>
          <p:cNvPr id="40" name="TextBox 39"/>
          <p:cNvSpPr txBox="1"/>
          <p:nvPr/>
        </p:nvSpPr>
        <p:spPr>
          <a:xfrm>
            <a:off x="10140696" y="5376672"/>
            <a:ext cx="1508760" cy="548640"/>
          </a:xfrm>
          <a:prstGeom prst="rect">
            <a:avLst/>
          </a:prstGeom>
          <a:noFill/>
        </p:spPr>
        <p:txBody>
          <a:bodyPr wrap="square">
            <a:spAutoFit/>
          </a:bodyPr>
          <a:lstStyle/>
          <a:p>
            <a:pPr algn="ctr"/>
            <a:r>
              <a:rPr sz="950" b="0" i="0">
                <a:solidFill>
                  <a:srgbClr val="FAF7F0"/>
                </a:solidFill>
              </a:rPr>
              <a:t>days on
testnet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81424"/>
        </a:solidFill>
        <a:effectLst/>
      </p:bgPr>
    </p:bg>
    <p:spTree>
      <p:nvGrpSpPr>
        <p:cNvPr id="1" name=""/>
        <p:cNvGrpSpPr/>
        <p:nvPr/>
      </p:nvGrpSpPr>
      <p:grpSpPr/>
      <p:pic>
        <p:nvPicPr>
          <p:cNvPr id="2" name="Picture 1" descr="ledgerproof-logo.png"/>
          <p:cNvPicPr>
            <a:picLocks noChangeAspect="1"/>
          </p:cNvPicPr>
          <p:nvPr/>
        </p:nvPicPr>
        <p:blipFill>
          <a:blip r:embed="rId2"/>
          <a:stretch>
            <a:fillRect/>
          </a:stretch>
        </p:blipFill>
        <p:spPr>
          <a:xfrm>
            <a:off x="347472" y="182880"/>
            <a:ext cx="1691640" cy="912781"/>
          </a:xfrm>
          <a:prstGeom prst="rect">
            <a:avLst/>
          </a:prstGeom>
        </p:spPr>
      </p:pic>
      <p:sp>
        <p:nvSpPr>
          <p:cNvPr id="3" name="TextBox 2"/>
          <p:cNvSpPr txBox="1"/>
          <p:nvPr/>
        </p:nvSpPr>
        <p:spPr>
          <a:xfrm>
            <a:off x="9784080" y="201168"/>
            <a:ext cx="2286000" cy="347472"/>
          </a:xfrm>
          <a:prstGeom prst="rect">
            <a:avLst/>
          </a:prstGeom>
          <a:noFill/>
        </p:spPr>
        <p:txBody>
          <a:bodyPr wrap="square">
            <a:spAutoFit/>
          </a:bodyPr>
          <a:lstStyle/>
          <a:p>
            <a:pPr algn="r"/>
            <a:r>
              <a:rPr sz="850" b="1" i="0">
                <a:solidFill>
                  <a:srgbClr val="335566"/>
                </a:solidFill>
              </a:rPr>
              <a:t>MARKET</a:t>
            </a:r>
          </a:p>
        </p:txBody>
      </p:sp>
      <p:sp>
        <p:nvSpPr>
          <p:cNvPr id="4" name="TextBox 3"/>
          <p:cNvSpPr txBox="1"/>
          <p:nvPr/>
        </p:nvSpPr>
        <p:spPr>
          <a:xfrm>
            <a:off x="347472" y="749808"/>
            <a:ext cx="8229600" cy="1417320"/>
          </a:xfrm>
          <a:prstGeom prst="rect">
            <a:avLst/>
          </a:prstGeom>
          <a:noFill/>
        </p:spPr>
        <p:txBody>
          <a:bodyPr wrap="square">
            <a:spAutoFit/>
          </a:bodyPr>
          <a:lstStyle/>
          <a:p>
            <a:pPr algn="l"/>
            <a:r>
              <a:rPr sz="8800" b="1" i="0">
                <a:solidFill>
                  <a:srgbClr val="FFFFFF"/>
                </a:solidFill>
              </a:rPr>
              <a:t>$138B+</a:t>
            </a:r>
          </a:p>
        </p:txBody>
      </p:sp>
      <p:sp>
        <p:nvSpPr>
          <p:cNvPr id="5" name="TextBox 4"/>
          <p:cNvSpPr txBox="1"/>
          <p:nvPr/>
        </p:nvSpPr>
        <p:spPr>
          <a:xfrm>
            <a:off x="347472" y="2103120"/>
            <a:ext cx="5486400" cy="777240"/>
          </a:xfrm>
          <a:prstGeom prst="rect">
            <a:avLst/>
          </a:prstGeom>
          <a:noFill/>
        </p:spPr>
        <p:txBody>
          <a:bodyPr wrap="square">
            <a:spAutoFit/>
          </a:bodyPr>
          <a:lstStyle/>
          <a:p>
            <a:pPr algn="l"/>
            <a:r>
              <a:rPr sz="1600" b="0" i="0">
                <a:solidFill>
                  <a:srgbClr val="20E898"/>
                </a:solidFill>
              </a:rPr>
              <a:t>serviceable addressable market
across 7 institutional verticals</a:t>
            </a:r>
          </a:p>
        </p:txBody>
      </p:sp>
      <p:sp>
        <p:nvSpPr>
          <p:cNvPr id="6" name="Rectangle 5"/>
          <p:cNvSpPr/>
          <p:nvPr/>
        </p:nvSpPr>
        <p:spPr>
          <a:xfrm>
            <a:off x="347472" y="2971800"/>
            <a:ext cx="11494008" cy="12700"/>
          </a:xfrm>
          <a:prstGeom prst="rect">
            <a:avLst/>
          </a:prstGeom>
          <a:solidFill>
            <a:srgbClr val="4455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514600" y="3246120"/>
            <a:ext cx="4279392" cy="292608"/>
          </a:xfrm>
          <a:prstGeom prst="rect">
            <a:avLst/>
          </a:prstGeom>
          <a:solidFill>
            <a:srgbClr val="168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3154680"/>
            <a:ext cx="2103120" cy="347472"/>
          </a:xfrm>
          <a:prstGeom prst="rect">
            <a:avLst/>
          </a:prstGeom>
          <a:noFill/>
        </p:spPr>
        <p:txBody>
          <a:bodyPr wrap="square">
            <a:spAutoFit/>
          </a:bodyPr>
          <a:lstStyle/>
          <a:p>
            <a:pPr algn="l"/>
            <a:r>
              <a:rPr sz="1100" b="0" i="0">
                <a:solidFill>
                  <a:srgbClr val="FAF7F0"/>
                </a:solidFill>
              </a:rPr>
              <a:t>Legal / Am Law</a:t>
            </a:r>
          </a:p>
        </p:txBody>
      </p:sp>
      <p:sp>
        <p:nvSpPr>
          <p:cNvPr id="9" name="TextBox 8"/>
          <p:cNvSpPr txBox="1"/>
          <p:nvPr/>
        </p:nvSpPr>
        <p:spPr>
          <a:xfrm>
            <a:off x="6903720" y="3154680"/>
            <a:ext cx="1097280" cy="347472"/>
          </a:xfrm>
          <a:prstGeom prst="rect">
            <a:avLst/>
          </a:prstGeom>
          <a:noFill/>
        </p:spPr>
        <p:txBody>
          <a:bodyPr wrap="square">
            <a:spAutoFit/>
          </a:bodyPr>
          <a:lstStyle/>
          <a:p>
            <a:pPr algn="l"/>
            <a:r>
              <a:rPr sz="1100" b="1" i="0">
                <a:solidFill>
                  <a:srgbClr val="20E898"/>
                </a:solidFill>
              </a:rPr>
              <a:t>$18B</a:t>
            </a:r>
          </a:p>
        </p:txBody>
      </p:sp>
      <p:sp>
        <p:nvSpPr>
          <p:cNvPr id="10" name="Rectangle 9"/>
          <p:cNvSpPr/>
          <p:nvPr/>
        </p:nvSpPr>
        <p:spPr>
          <a:xfrm>
            <a:off x="2514600" y="3739896"/>
            <a:ext cx="9875520" cy="292608"/>
          </a:xfrm>
          <a:prstGeom prst="rect">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7472" y="3648456"/>
            <a:ext cx="2103120" cy="347472"/>
          </a:xfrm>
          <a:prstGeom prst="rect">
            <a:avLst/>
          </a:prstGeom>
          <a:noFill/>
        </p:spPr>
        <p:txBody>
          <a:bodyPr wrap="square">
            <a:spAutoFit/>
          </a:bodyPr>
          <a:lstStyle/>
          <a:p>
            <a:pPr algn="l"/>
            <a:r>
              <a:rPr sz="1100" b="0" i="0">
                <a:solidFill>
                  <a:srgbClr val="FAF7F0"/>
                </a:solidFill>
              </a:rPr>
              <a:t>Financial Services</a:t>
            </a:r>
          </a:p>
        </p:txBody>
      </p:sp>
      <p:sp>
        <p:nvSpPr>
          <p:cNvPr id="12" name="TextBox 11"/>
          <p:cNvSpPr txBox="1"/>
          <p:nvPr/>
        </p:nvSpPr>
        <p:spPr>
          <a:xfrm>
            <a:off x="12499848" y="3648456"/>
            <a:ext cx="1097280" cy="347472"/>
          </a:xfrm>
          <a:prstGeom prst="rect">
            <a:avLst/>
          </a:prstGeom>
          <a:noFill/>
        </p:spPr>
        <p:txBody>
          <a:bodyPr wrap="square">
            <a:spAutoFit/>
          </a:bodyPr>
          <a:lstStyle/>
          <a:p>
            <a:pPr algn="l"/>
            <a:r>
              <a:rPr sz="1100" b="1" i="0">
                <a:solidFill>
                  <a:srgbClr val="20E898"/>
                </a:solidFill>
              </a:rPr>
              <a:t>$42B</a:t>
            </a:r>
          </a:p>
        </p:txBody>
      </p:sp>
      <p:sp>
        <p:nvSpPr>
          <p:cNvPr id="13" name="Rectangle 12"/>
          <p:cNvSpPr/>
          <p:nvPr/>
        </p:nvSpPr>
        <p:spPr>
          <a:xfrm>
            <a:off x="2514600" y="4233672"/>
            <a:ext cx="6583680" cy="292608"/>
          </a:xfrm>
          <a:prstGeom prst="rect">
            <a:avLst/>
          </a:prstGeom>
          <a:solidFill>
            <a:srgbClr val="168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7472" y="4142232"/>
            <a:ext cx="2103120" cy="347472"/>
          </a:xfrm>
          <a:prstGeom prst="rect">
            <a:avLst/>
          </a:prstGeom>
          <a:noFill/>
        </p:spPr>
        <p:txBody>
          <a:bodyPr wrap="square">
            <a:spAutoFit/>
          </a:bodyPr>
          <a:lstStyle/>
          <a:p>
            <a:pPr algn="l"/>
            <a:r>
              <a:rPr sz="1100" b="0" i="0">
                <a:solidFill>
                  <a:srgbClr val="FAF7F0"/>
                </a:solidFill>
              </a:rPr>
              <a:t>Insurance</a:t>
            </a:r>
          </a:p>
        </p:txBody>
      </p:sp>
      <p:sp>
        <p:nvSpPr>
          <p:cNvPr id="15" name="TextBox 14"/>
          <p:cNvSpPr txBox="1"/>
          <p:nvPr/>
        </p:nvSpPr>
        <p:spPr>
          <a:xfrm>
            <a:off x="9208008" y="4142232"/>
            <a:ext cx="1097280" cy="347472"/>
          </a:xfrm>
          <a:prstGeom prst="rect">
            <a:avLst/>
          </a:prstGeom>
          <a:noFill/>
        </p:spPr>
        <p:txBody>
          <a:bodyPr wrap="square">
            <a:spAutoFit/>
          </a:bodyPr>
          <a:lstStyle/>
          <a:p>
            <a:pPr algn="l"/>
            <a:r>
              <a:rPr sz="1100" b="1" i="0">
                <a:solidFill>
                  <a:srgbClr val="20E898"/>
                </a:solidFill>
              </a:rPr>
              <a:t>$28B</a:t>
            </a:r>
          </a:p>
        </p:txBody>
      </p:sp>
      <p:sp>
        <p:nvSpPr>
          <p:cNvPr id="16" name="Rectangle 15"/>
          <p:cNvSpPr/>
          <p:nvPr/>
        </p:nvSpPr>
        <p:spPr>
          <a:xfrm>
            <a:off x="2514600" y="4727448"/>
            <a:ext cx="3621024" cy="292608"/>
          </a:xfrm>
          <a:prstGeom prst="rect">
            <a:avLst/>
          </a:prstGeom>
          <a:solidFill>
            <a:srgbClr val="4DEF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47472" y="4636008"/>
            <a:ext cx="2103120" cy="347472"/>
          </a:xfrm>
          <a:prstGeom prst="rect">
            <a:avLst/>
          </a:prstGeom>
          <a:noFill/>
        </p:spPr>
        <p:txBody>
          <a:bodyPr wrap="square">
            <a:spAutoFit/>
          </a:bodyPr>
          <a:lstStyle/>
          <a:p>
            <a:pPr algn="l"/>
            <a:r>
              <a:rPr sz="1100" b="0" i="0">
                <a:solidFill>
                  <a:srgbClr val="FAF7F0"/>
                </a:solidFill>
              </a:rPr>
              <a:t>AI Platform Compliance</a:t>
            </a:r>
          </a:p>
        </p:txBody>
      </p:sp>
      <p:sp>
        <p:nvSpPr>
          <p:cNvPr id="18" name="TextBox 17"/>
          <p:cNvSpPr txBox="1"/>
          <p:nvPr/>
        </p:nvSpPr>
        <p:spPr>
          <a:xfrm>
            <a:off x="6245352" y="4636008"/>
            <a:ext cx="1097280" cy="347472"/>
          </a:xfrm>
          <a:prstGeom prst="rect">
            <a:avLst/>
          </a:prstGeom>
          <a:noFill/>
        </p:spPr>
        <p:txBody>
          <a:bodyPr wrap="square">
            <a:spAutoFit/>
          </a:bodyPr>
          <a:lstStyle/>
          <a:p>
            <a:pPr algn="l"/>
            <a:r>
              <a:rPr sz="1100" b="1" i="0">
                <a:solidFill>
                  <a:srgbClr val="20E898"/>
                </a:solidFill>
              </a:rPr>
              <a:t>$15B</a:t>
            </a:r>
          </a:p>
        </p:txBody>
      </p:sp>
      <p:sp>
        <p:nvSpPr>
          <p:cNvPr id="19" name="Rectangle 18"/>
          <p:cNvSpPr/>
          <p:nvPr/>
        </p:nvSpPr>
        <p:spPr>
          <a:xfrm>
            <a:off x="2514600" y="5221224"/>
            <a:ext cx="1975104" cy="292608"/>
          </a:xfrm>
          <a:prstGeom prst="rect">
            <a:avLst/>
          </a:prstGeom>
          <a:solidFill>
            <a:srgbClr val="168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47472" y="5129784"/>
            <a:ext cx="2103120" cy="347472"/>
          </a:xfrm>
          <a:prstGeom prst="rect">
            <a:avLst/>
          </a:prstGeom>
          <a:noFill/>
        </p:spPr>
        <p:txBody>
          <a:bodyPr wrap="square">
            <a:spAutoFit/>
          </a:bodyPr>
          <a:lstStyle/>
          <a:p>
            <a:pPr algn="l"/>
            <a:r>
              <a:rPr sz="1100" b="0" i="0">
                <a:solidFill>
                  <a:srgbClr val="FAF7F0"/>
                </a:solidFill>
              </a:rPr>
              <a:t>Digital Forensics</a:t>
            </a:r>
          </a:p>
        </p:txBody>
      </p:sp>
      <p:sp>
        <p:nvSpPr>
          <p:cNvPr id="21" name="TextBox 20"/>
          <p:cNvSpPr txBox="1"/>
          <p:nvPr/>
        </p:nvSpPr>
        <p:spPr>
          <a:xfrm>
            <a:off x="4599432" y="5129784"/>
            <a:ext cx="1097280" cy="347472"/>
          </a:xfrm>
          <a:prstGeom prst="rect">
            <a:avLst/>
          </a:prstGeom>
          <a:noFill/>
        </p:spPr>
        <p:txBody>
          <a:bodyPr wrap="square">
            <a:spAutoFit/>
          </a:bodyPr>
          <a:lstStyle/>
          <a:p>
            <a:pPr algn="l"/>
            <a:r>
              <a:rPr sz="1100" b="1" i="0">
                <a:solidFill>
                  <a:srgbClr val="20E898"/>
                </a:solidFill>
              </a:rPr>
              <a:t>$8B</a:t>
            </a:r>
          </a:p>
        </p:txBody>
      </p:sp>
      <p:sp>
        <p:nvSpPr>
          <p:cNvPr id="22" name="Rectangle 21"/>
          <p:cNvSpPr/>
          <p:nvPr/>
        </p:nvSpPr>
        <p:spPr>
          <a:xfrm>
            <a:off x="2514600" y="5715000"/>
            <a:ext cx="1316736" cy="292608"/>
          </a:xfrm>
          <a:prstGeom prst="rect">
            <a:avLst/>
          </a:prstGeom>
          <a:solidFill>
            <a:srgbClr val="168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47472" y="5623560"/>
            <a:ext cx="2103120" cy="347472"/>
          </a:xfrm>
          <a:prstGeom prst="rect">
            <a:avLst/>
          </a:prstGeom>
          <a:noFill/>
        </p:spPr>
        <p:txBody>
          <a:bodyPr wrap="square">
            <a:spAutoFit/>
          </a:bodyPr>
          <a:lstStyle/>
          <a:p>
            <a:pPr algn="l"/>
            <a:r>
              <a:rPr sz="1100" b="0" i="0">
                <a:solidFill>
                  <a:srgbClr val="FAF7F0"/>
                </a:solidFill>
              </a:rPr>
              <a:t>Media &amp; Journalism</a:t>
            </a:r>
          </a:p>
        </p:txBody>
      </p:sp>
      <p:sp>
        <p:nvSpPr>
          <p:cNvPr id="24" name="TextBox 23"/>
          <p:cNvSpPr txBox="1"/>
          <p:nvPr/>
        </p:nvSpPr>
        <p:spPr>
          <a:xfrm>
            <a:off x="3941064" y="5623560"/>
            <a:ext cx="1097280" cy="347472"/>
          </a:xfrm>
          <a:prstGeom prst="rect">
            <a:avLst/>
          </a:prstGeom>
          <a:noFill/>
        </p:spPr>
        <p:txBody>
          <a:bodyPr wrap="square">
            <a:spAutoFit/>
          </a:bodyPr>
          <a:lstStyle/>
          <a:p>
            <a:pPr algn="l"/>
            <a:r>
              <a:rPr sz="1100" b="1" i="0">
                <a:solidFill>
                  <a:srgbClr val="20E898"/>
                </a:solidFill>
              </a:rPr>
              <a:t>$5B</a:t>
            </a:r>
          </a:p>
        </p:txBody>
      </p:sp>
      <p:sp>
        <p:nvSpPr>
          <p:cNvPr id="25" name="Rectangle 24"/>
          <p:cNvSpPr/>
          <p:nvPr/>
        </p:nvSpPr>
        <p:spPr>
          <a:xfrm>
            <a:off x="2514600" y="6208776"/>
            <a:ext cx="5266944" cy="292608"/>
          </a:xfrm>
          <a:prstGeom prst="rect">
            <a:avLst/>
          </a:prstGeom>
          <a:solidFill>
            <a:srgbClr val="4DEF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47472" y="6117336"/>
            <a:ext cx="2103120" cy="347472"/>
          </a:xfrm>
          <a:prstGeom prst="rect">
            <a:avLst/>
          </a:prstGeom>
          <a:noFill/>
        </p:spPr>
        <p:txBody>
          <a:bodyPr wrap="square">
            <a:spAutoFit/>
          </a:bodyPr>
          <a:lstStyle/>
          <a:p>
            <a:pPr algn="l"/>
            <a:r>
              <a:rPr sz="1100" b="0" i="0">
                <a:solidFill>
                  <a:srgbClr val="FAF7F0"/>
                </a:solidFill>
              </a:rPr>
              <a:t>Corporate Compliance</a:t>
            </a:r>
          </a:p>
        </p:txBody>
      </p:sp>
      <p:sp>
        <p:nvSpPr>
          <p:cNvPr id="27" name="TextBox 26"/>
          <p:cNvSpPr txBox="1"/>
          <p:nvPr/>
        </p:nvSpPr>
        <p:spPr>
          <a:xfrm>
            <a:off x="7891272" y="6117336"/>
            <a:ext cx="1097280" cy="347472"/>
          </a:xfrm>
          <a:prstGeom prst="rect">
            <a:avLst/>
          </a:prstGeom>
          <a:noFill/>
        </p:spPr>
        <p:txBody>
          <a:bodyPr wrap="square">
            <a:spAutoFit/>
          </a:bodyPr>
          <a:lstStyle/>
          <a:p>
            <a:pPr algn="l"/>
            <a:r>
              <a:rPr sz="1100" b="1" i="0">
                <a:solidFill>
                  <a:srgbClr val="20E898"/>
                </a:solidFill>
              </a:rPr>
              <a:t>$22B</a:t>
            </a:r>
          </a:p>
        </p:txBody>
      </p:sp>
      <p:sp>
        <p:nvSpPr>
          <p:cNvPr id="28" name="Rectangle 27"/>
          <p:cNvSpPr/>
          <p:nvPr/>
        </p:nvSpPr>
        <p:spPr>
          <a:xfrm>
            <a:off x="9144000" y="713232"/>
            <a:ext cx="2743200" cy="6016752"/>
          </a:xfrm>
          <a:prstGeom prst="rect">
            <a:avLst/>
          </a:prstGeom>
          <a:solidFill>
            <a:srgbClr val="0D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144000" y="713232"/>
            <a:ext cx="2743200" cy="54864"/>
          </a:xfrm>
          <a:prstGeom prst="rect">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281160" y="841248"/>
            <a:ext cx="2468880" cy="640080"/>
          </a:xfrm>
          <a:prstGeom prst="rect">
            <a:avLst/>
          </a:prstGeom>
          <a:noFill/>
        </p:spPr>
        <p:txBody>
          <a:bodyPr wrap="square">
            <a:spAutoFit/>
          </a:bodyPr>
          <a:lstStyle/>
          <a:p>
            <a:pPr algn="l"/>
            <a:r>
              <a:rPr sz="1100" b="1" i="0">
                <a:solidFill>
                  <a:srgbClr val="20E898"/>
                </a:solidFill>
              </a:rPr>
              <a:t>The comp set is
infrastructure:</a:t>
            </a:r>
          </a:p>
        </p:txBody>
      </p:sp>
      <p:sp>
        <p:nvSpPr>
          <p:cNvPr id="31" name="Rectangle 30"/>
          <p:cNvSpPr/>
          <p:nvPr/>
        </p:nvSpPr>
        <p:spPr>
          <a:xfrm>
            <a:off x="9281160" y="1572768"/>
            <a:ext cx="2468880" cy="1078992"/>
          </a:xfrm>
          <a:prstGeom prst="rect">
            <a:avLst/>
          </a:prstGeom>
          <a:solidFill>
            <a:srgbClr val="06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372600" y="1627632"/>
            <a:ext cx="2286000" cy="329184"/>
          </a:xfrm>
          <a:prstGeom prst="rect">
            <a:avLst/>
          </a:prstGeom>
          <a:noFill/>
        </p:spPr>
        <p:txBody>
          <a:bodyPr wrap="square">
            <a:spAutoFit/>
          </a:bodyPr>
          <a:lstStyle/>
          <a:p>
            <a:pPr algn="l"/>
            <a:r>
              <a:rPr sz="1300" b="1" i="0">
                <a:solidFill>
                  <a:srgbClr val="FFFFFF"/>
                </a:solidFill>
              </a:rPr>
              <a:t>VeriSign</a:t>
            </a:r>
          </a:p>
        </p:txBody>
      </p:sp>
      <p:sp>
        <p:nvSpPr>
          <p:cNvPr id="33" name="TextBox 32"/>
          <p:cNvSpPr txBox="1"/>
          <p:nvPr/>
        </p:nvSpPr>
        <p:spPr>
          <a:xfrm>
            <a:off x="9372600" y="1956816"/>
            <a:ext cx="2286000" cy="274320"/>
          </a:xfrm>
          <a:prstGeom prst="rect">
            <a:avLst/>
          </a:prstGeom>
          <a:noFill/>
        </p:spPr>
        <p:txBody>
          <a:bodyPr wrap="square">
            <a:spAutoFit/>
          </a:bodyPr>
          <a:lstStyle/>
          <a:p>
            <a:pPr algn="l"/>
            <a:r>
              <a:rPr sz="1000" b="0" i="0">
                <a:solidFill>
                  <a:srgbClr val="FAF7F0"/>
                </a:solidFill>
              </a:rPr>
              <a:t>$1.7B rev</a:t>
            </a:r>
          </a:p>
        </p:txBody>
      </p:sp>
      <p:sp>
        <p:nvSpPr>
          <p:cNvPr id="34" name="TextBox 33"/>
          <p:cNvSpPr txBox="1"/>
          <p:nvPr/>
        </p:nvSpPr>
        <p:spPr>
          <a:xfrm>
            <a:off x="9372600" y="2231136"/>
            <a:ext cx="2286000" cy="274320"/>
          </a:xfrm>
          <a:prstGeom prst="rect">
            <a:avLst/>
          </a:prstGeom>
          <a:noFill/>
        </p:spPr>
        <p:txBody>
          <a:bodyPr wrap="square">
            <a:spAutoFit/>
          </a:bodyPr>
          <a:lstStyle/>
          <a:p>
            <a:pPr algn="l"/>
            <a:r>
              <a:rPr sz="1000" b="0" i="0">
                <a:solidFill>
                  <a:srgbClr val="667788"/>
                </a:solidFill>
              </a:rPr>
              <a:t>$20B cap</a:t>
            </a:r>
          </a:p>
        </p:txBody>
      </p:sp>
      <p:sp>
        <p:nvSpPr>
          <p:cNvPr id="35" name="Rectangle 34"/>
          <p:cNvSpPr/>
          <p:nvPr/>
        </p:nvSpPr>
        <p:spPr>
          <a:xfrm>
            <a:off x="9281160" y="2807208"/>
            <a:ext cx="2468880" cy="1078992"/>
          </a:xfrm>
          <a:prstGeom prst="rect">
            <a:avLst/>
          </a:prstGeom>
          <a:solidFill>
            <a:srgbClr val="06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372600" y="2862072"/>
            <a:ext cx="2286000" cy="329184"/>
          </a:xfrm>
          <a:prstGeom prst="rect">
            <a:avLst/>
          </a:prstGeom>
          <a:noFill/>
        </p:spPr>
        <p:txBody>
          <a:bodyPr wrap="square">
            <a:spAutoFit/>
          </a:bodyPr>
          <a:lstStyle/>
          <a:p>
            <a:pPr algn="l"/>
            <a:r>
              <a:rPr sz="1300" b="1" i="0">
                <a:solidFill>
                  <a:srgbClr val="FFFFFF"/>
                </a:solidFill>
              </a:rPr>
              <a:t>SWIFT</a:t>
            </a:r>
          </a:p>
        </p:txBody>
      </p:sp>
      <p:sp>
        <p:nvSpPr>
          <p:cNvPr id="37" name="TextBox 36"/>
          <p:cNvSpPr txBox="1"/>
          <p:nvPr/>
        </p:nvSpPr>
        <p:spPr>
          <a:xfrm>
            <a:off x="9372600" y="3191256"/>
            <a:ext cx="2286000" cy="274320"/>
          </a:xfrm>
          <a:prstGeom prst="rect">
            <a:avLst/>
          </a:prstGeom>
          <a:noFill/>
        </p:spPr>
        <p:txBody>
          <a:bodyPr wrap="square">
            <a:spAutoFit/>
          </a:bodyPr>
          <a:lstStyle/>
          <a:p>
            <a:pPr algn="l"/>
            <a:r>
              <a:rPr sz="1000" b="0" i="0">
                <a:solidFill>
                  <a:srgbClr val="FAF7F0"/>
                </a:solidFill>
              </a:rPr>
              <a:t>11K+ institutions</a:t>
            </a:r>
          </a:p>
        </p:txBody>
      </p:sp>
      <p:sp>
        <p:nvSpPr>
          <p:cNvPr id="38" name="TextBox 37"/>
          <p:cNvSpPr txBox="1"/>
          <p:nvPr/>
        </p:nvSpPr>
        <p:spPr>
          <a:xfrm>
            <a:off x="9372600" y="3465576"/>
            <a:ext cx="2286000" cy="274320"/>
          </a:xfrm>
          <a:prstGeom prst="rect">
            <a:avLst/>
          </a:prstGeom>
          <a:noFill/>
        </p:spPr>
        <p:txBody>
          <a:bodyPr wrap="square">
            <a:spAutoFit/>
          </a:bodyPr>
          <a:lstStyle/>
          <a:p>
            <a:pPr algn="l"/>
            <a:r>
              <a:rPr sz="1000" b="0" i="0">
                <a:solidFill>
                  <a:srgbClr val="667788"/>
                </a:solidFill>
              </a:rPr>
              <a:t>mandatory</a:t>
            </a:r>
          </a:p>
        </p:txBody>
      </p:sp>
      <p:sp>
        <p:nvSpPr>
          <p:cNvPr id="39" name="Rectangle 38"/>
          <p:cNvSpPr/>
          <p:nvPr/>
        </p:nvSpPr>
        <p:spPr>
          <a:xfrm>
            <a:off x="9281160" y="4041648"/>
            <a:ext cx="2468880" cy="1078992"/>
          </a:xfrm>
          <a:prstGeom prst="rect">
            <a:avLst/>
          </a:prstGeom>
          <a:solidFill>
            <a:srgbClr val="06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372600" y="4096512"/>
            <a:ext cx="2286000" cy="329184"/>
          </a:xfrm>
          <a:prstGeom prst="rect">
            <a:avLst/>
          </a:prstGeom>
          <a:noFill/>
        </p:spPr>
        <p:txBody>
          <a:bodyPr wrap="square">
            <a:spAutoFit/>
          </a:bodyPr>
          <a:lstStyle/>
          <a:p>
            <a:pPr algn="l"/>
            <a:r>
              <a:rPr sz="1300" b="1" i="0">
                <a:solidFill>
                  <a:srgbClr val="FFFFFF"/>
                </a:solidFill>
              </a:rPr>
              <a:t>DTCC</a:t>
            </a:r>
          </a:p>
        </p:txBody>
      </p:sp>
      <p:sp>
        <p:nvSpPr>
          <p:cNvPr id="41" name="TextBox 40"/>
          <p:cNvSpPr txBox="1"/>
          <p:nvPr/>
        </p:nvSpPr>
        <p:spPr>
          <a:xfrm>
            <a:off x="9372600" y="4425696"/>
            <a:ext cx="2286000" cy="274320"/>
          </a:xfrm>
          <a:prstGeom prst="rect">
            <a:avLst/>
          </a:prstGeom>
          <a:noFill/>
        </p:spPr>
        <p:txBody>
          <a:bodyPr wrap="square">
            <a:spAutoFit/>
          </a:bodyPr>
          <a:lstStyle/>
          <a:p>
            <a:pPr algn="l"/>
            <a:r>
              <a:rPr sz="1000" b="0" i="0">
                <a:solidFill>
                  <a:srgbClr val="FAF7F0"/>
                </a:solidFill>
              </a:rPr>
              <a:t>$2.4Q cleared</a:t>
            </a:r>
          </a:p>
        </p:txBody>
      </p:sp>
      <p:sp>
        <p:nvSpPr>
          <p:cNvPr id="42" name="TextBox 41"/>
          <p:cNvSpPr txBox="1"/>
          <p:nvPr/>
        </p:nvSpPr>
        <p:spPr>
          <a:xfrm>
            <a:off x="9372600" y="4700016"/>
            <a:ext cx="2286000" cy="274320"/>
          </a:xfrm>
          <a:prstGeom prst="rect">
            <a:avLst/>
          </a:prstGeom>
          <a:noFill/>
        </p:spPr>
        <p:txBody>
          <a:bodyPr wrap="square">
            <a:spAutoFit/>
          </a:bodyPr>
          <a:lstStyle/>
          <a:p>
            <a:pPr algn="l"/>
            <a:r>
              <a:rPr sz="1000" b="0" i="0">
                <a:solidFill>
                  <a:srgbClr val="667788"/>
                </a:solidFill>
              </a:rPr>
              <a:t>in 2024</a:t>
            </a:r>
          </a:p>
        </p:txBody>
      </p:sp>
      <p:sp>
        <p:nvSpPr>
          <p:cNvPr id="43" name="Rectangle 42"/>
          <p:cNvSpPr/>
          <p:nvPr/>
        </p:nvSpPr>
        <p:spPr>
          <a:xfrm>
            <a:off x="9281160" y="5276088"/>
            <a:ext cx="2468880" cy="1078992"/>
          </a:xfrm>
          <a:prstGeom prst="rect">
            <a:avLst/>
          </a:prstGeom>
          <a:solidFill>
            <a:srgbClr val="06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372600" y="5330952"/>
            <a:ext cx="2286000" cy="329184"/>
          </a:xfrm>
          <a:prstGeom prst="rect">
            <a:avLst/>
          </a:prstGeom>
          <a:noFill/>
        </p:spPr>
        <p:txBody>
          <a:bodyPr wrap="square">
            <a:spAutoFit/>
          </a:bodyPr>
          <a:lstStyle/>
          <a:p>
            <a:pPr algn="l"/>
            <a:r>
              <a:rPr sz="1300" b="1" i="0">
                <a:solidFill>
                  <a:srgbClr val="FFFFFF"/>
                </a:solidFill>
              </a:rPr>
              <a:t>Visa</a:t>
            </a:r>
          </a:p>
        </p:txBody>
      </p:sp>
      <p:sp>
        <p:nvSpPr>
          <p:cNvPr id="45" name="TextBox 44"/>
          <p:cNvSpPr txBox="1"/>
          <p:nvPr/>
        </p:nvSpPr>
        <p:spPr>
          <a:xfrm>
            <a:off x="9372600" y="5660136"/>
            <a:ext cx="2286000" cy="274320"/>
          </a:xfrm>
          <a:prstGeom prst="rect">
            <a:avLst/>
          </a:prstGeom>
          <a:noFill/>
        </p:spPr>
        <p:txBody>
          <a:bodyPr wrap="square">
            <a:spAutoFit/>
          </a:bodyPr>
          <a:lstStyle/>
          <a:p>
            <a:pPr algn="l"/>
            <a:r>
              <a:rPr sz="1000" b="0" i="0">
                <a:solidFill>
                  <a:srgbClr val="FAF7F0"/>
                </a:solidFill>
              </a:rPr>
              <a:t>$36B rev</a:t>
            </a:r>
          </a:p>
        </p:txBody>
      </p:sp>
      <p:sp>
        <p:nvSpPr>
          <p:cNvPr id="46" name="TextBox 45"/>
          <p:cNvSpPr txBox="1"/>
          <p:nvPr/>
        </p:nvSpPr>
        <p:spPr>
          <a:xfrm>
            <a:off x="9372600" y="5934456"/>
            <a:ext cx="2286000" cy="274320"/>
          </a:xfrm>
          <a:prstGeom prst="rect">
            <a:avLst/>
          </a:prstGeom>
          <a:noFill/>
        </p:spPr>
        <p:txBody>
          <a:bodyPr wrap="square">
            <a:spAutoFit/>
          </a:bodyPr>
          <a:lstStyle/>
          <a:p>
            <a:pPr algn="l"/>
            <a:r>
              <a:rPr sz="1000" b="0" i="0">
                <a:solidFill>
                  <a:srgbClr val="667788"/>
                </a:solidFill>
              </a:rPr>
              <a:t>$570B cap</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81424"/>
        </a:solidFill>
        <a:effectLst/>
      </p:bgPr>
    </p:bg>
    <p:spTree>
      <p:nvGrpSpPr>
        <p:cNvPr id="1" name=""/>
        <p:cNvGrpSpPr/>
        <p:nvPr/>
      </p:nvGrpSpPr>
      <p:grpSpPr/>
      <p:pic>
        <p:nvPicPr>
          <p:cNvPr id="2" name="Picture 1" descr="ledgerproof-logo.png"/>
          <p:cNvPicPr>
            <a:picLocks noChangeAspect="1"/>
          </p:cNvPicPr>
          <p:nvPr/>
        </p:nvPicPr>
        <p:blipFill>
          <a:blip r:embed="rId2"/>
          <a:stretch>
            <a:fillRect/>
          </a:stretch>
        </p:blipFill>
        <p:spPr>
          <a:xfrm>
            <a:off x="347472" y="182880"/>
            <a:ext cx="1691640" cy="912781"/>
          </a:xfrm>
          <a:prstGeom prst="rect">
            <a:avLst/>
          </a:prstGeom>
        </p:spPr>
      </p:pic>
      <p:sp>
        <p:nvSpPr>
          <p:cNvPr id="3" name="TextBox 2"/>
          <p:cNvSpPr txBox="1"/>
          <p:nvPr/>
        </p:nvSpPr>
        <p:spPr>
          <a:xfrm>
            <a:off x="9784080" y="201168"/>
            <a:ext cx="2286000" cy="347472"/>
          </a:xfrm>
          <a:prstGeom prst="rect">
            <a:avLst/>
          </a:prstGeom>
          <a:noFill/>
        </p:spPr>
        <p:txBody>
          <a:bodyPr wrap="square">
            <a:spAutoFit/>
          </a:bodyPr>
          <a:lstStyle/>
          <a:p>
            <a:pPr algn="r"/>
            <a:r>
              <a:rPr sz="850" b="1" i="0">
                <a:solidFill>
                  <a:srgbClr val="335566"/>
                </a:solidFill>
              </a:rPr>
              <a:t>BUSINESS MODEL</a:t>
            </a:r>
          </a:p>
        </p:txBody>
      </p:sp>
      <p:sp>
        <p:nvSpPr>
          <p:cNvPr id="4" name="Rectangle 3"/>
          <p:cNvSpPr/>
          <p:nvPr/>
        </p:nvSpPr>
        <p:spPr>
          <a:xfrm>
            <a:off x="0" y="0"/>
            <a:ext cx="54864" cy="6858000"/>
          </a:xfrm>
          <a:prstGeom prst="rect">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777240"/>
            <a:ext cx="5029200" cy="1280160"/>
          </a:xfrm>
          <a:prstGeom prst="rect">
            <a:avLst/>
          </a:prstGeom>
          <a:noFill/>
        </p:spPr>
        <p:txBody>
          <a:bodyPr wrap="square">
            <a:spAutoFit/>
          </a:bodyPr>
          <a:lstStyle/>
          <a:p>
            <a:pPr algn="l"/>
            <a:r>
              <a:rPr sz="3000" b="1" i="0">
                <a:solidFill>
                  <a:srgbClr val="FFFFFF"/>
                </a:solidFill>
              </a:rPr>
              <a:t>Network fees.
Not subscriptions.</a:t>
            </a:r>
          </a:p>
        </p:txBody>
      </p:sp>
      <p:sp>
        <p:nvSpPr>
          <p:cNvPr id="6" name="TextBox 5"/>
          <p:cNvSpPr txBox="1"/>
          <p:nvPr/>
        </p:nvSpPr>
        <p:spPr>
          <a:xfrm>
            <a:off x="347472" y="2103120"/>
            <a:ext cx="5943600" cy="457200"/>
          </a:xfrm>
          <a:prstGeom prst="rect">
            <a:avLst/>
          </a:prstGeom>
          <a:noFill/>
        </p:spPr>
        <p:txBody>
          <a:bodyPr wrap="square">
            <a:spAutoFit/>
          </a:bodyPr>
          <a:lstStyle/>
          <a:p>
            <a:pPr algn="l"/>
            <a:r>
              <a:rPr sz="1400" b="1" i="0">
                <a:solidFill>
                  <a:srgbClr val="20E898"/>
                </a:solidFill>
              </a:rPr>
              <a:t>97% operating margin at 1M receipts/day.</a:t>
            </a:r>
          </a:p>
        </p:txBody>
      </p:sp>
      <p:sp>
        <p:nvSpPr>
          <p:cNvPr id="7" name="Rectangle 6"/>
          <p:cNvSpPr/>
          <p:nvPr/>
        </p:nvSpPr>
        <p:spPr>
          <a:xfrm>
            <a:off x="347472" y="2670048"/>
            <a:ext cx="11494008" cy="12700"/>
          </a:xfrm>
          <a:prstGeom prst="rect">
            <a:avLst/>
          </a:prstGeom>
          <a:solidFill>
            <a:srgbClr val="4455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2788920"/>
            <a:ext cx="3383280" cy="292608"/>
          </a:xfrm>
          <a:prstGeom prst="rect">
            <a:avLst/>
          </a:prstGeom>
          <a:noFill/>
        </p:spPr>
        <p:txBody>
          <a:bodyPr wrap="square">
            <a:spAutoFit/>
          </a:bodyPr>
          <a:lstStyle/>
          <a:p>
            <a:pPr algn="l"/>
            <a:r>
              <a:rPr sz="950" b="1" i="0">
                <a:solidFill>
                  <a:srgbClr val="667788"/>
                </a:solidFill>
              </a:rPr>
              <a:t>Vertical</a:t>
            </a:r>
          </a:p>
        </p:txBody>
      </p:sp>
      <p:sp>
        <p:nvSpPr>
          <p:cNvPr id="9" name="TextBox 8"/>
          <p:cNvSpPr txBox="1"/>
          <p:nvPr/>
        </p:nvSpPr>
        <p:spPr>
          <a:xfrm>
            <a:off x="3840480" y="2788920"/>
            <a:ext cx="5669280" cy="292608"/>
          </a:xfrm>
          <a:prstGeom prst="rect">
            <a:avLst/>
          </a:prstGeom>
          <a:noFill/>
        </p:spPr>
        <p:txBody>
          <a:bodyPr wrap="square">
            <a:spAutoFit/>
          </a:bodyPr>
          <a:lstStyle/>
          <a:p>
            <a:pPr algn="l"/>
            <a:r>
              <a:rPr sz="950" b="1" i="0">
                <a:solidFill>
                  <a:srgbClr val="667788"/>
                </a:solidFill>
              </a:rPr>
              <a:t>Structure</a:t>
            </a:r>
          </a:p>
        </p:txBody>
      </p:sp>
      <p:sp>
        <p:nvSpPr>
          <p:cNvPr id="10" name="TextBox 9"/>
          <p:cNvSpPr txBox="1"/>
          <p:nvPr/>
        </p:nvSpPr>
        <p:spPr>
          <a:xfrm>
            <a:off x="9692640" y="2788920"/>
            <a:ext cx="1920240" cy="292608"/>
          </a:xfrm>
          <a:prstGeom prst="rect">
            <a:avLst/>
          </a:prstGeom>
          <a:noFill/>
        </p:spPr>
        <p:txBody>
          <a:bodyPr wrap="square">
            <a:spAutoFit/>
          </a:bodyPr>
          <a:lstStyle/>
          <a:p>
            <a:pPr algn="r"/>
            <a:r>
              <a:rPr sz="950" b="1" i="0">
                <a:solidFill>
                  <a:srgbClr val="667788"/>
                </a:solidFill>
              </a:rPr>
              <a:t>Entry ACV</a:t>
            </a:r>
          </a:p>
        </p:txBody>
      </p:sp>
      <p:sp>
        <p:nvSpPr>
          <p:cNvPr id="11" name="Rectangle 10"/>
          <p:cNvSpPr/>
          <p:nvPr/>
        </p:nvSpPr>
        <p:spPr>
          <a:xfrm>
            <a:off x="347472" y="3154680"/>
            <a:ext cx="11494008" cy="475488"/>
          </a:xfrm>
          <a:prstGeom prst="rect">
            <a:avLst/>
          </a:prstGeom>
          <a:solidFill>
            <a:srgbClr val="0D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8912" y="3227832"/>
            <a:ext cx="3291840" cy="320040"/>
          </a:xfrm>
          <a:prstGeom prst="rect">
            <a:avLst/>
          </a:prstGeom>
          <a:noFill/>
        </p:spPr>
        <p:txBody>
          <a:bodyPr wrap="square">
            <a:spAutoFit/>
          </a:bodyPr>
          <a:lstStyle/>
          <a:p>
            <a:pPr algn="l"/>
            <a:r>
              <a:rPr sz="1100" b="1" i="0">
                <a:solidFill>
                  <a:srgbClr val="FFFFFF"/>
                </a:solidFill>
              </a:rPr>
              <a:t>Am Law 100 / Legal</a:t>
            </a:r>
          </a:p>
        </p:txBody>
      </p:sp>
      <p:sp>
        <p:nvSpPr>
          <p:cNvPr id="13" name="TextBox 12"/>
          <p:cNvSpPr txBox="1"/>
          <p:nvPr/>
        </p:nvSpPr>
        <p:spPr>
          <a:xfrm>
            <a:off x="3840480" y="3227832"/>
            <a:ext cx="5669280" cy="347472"/>
          </a:xfrm>
          <a:prstGeom prst="rect">
            <a:avLst/>
          </a:prstGeom>
          <a:noFill/>
        </p:spPr>
        <p:txBody>
          <a:bodyPr wrap="square">
            <a:spAutoFit/>
          </a:bodyPr>
          <a:lstStyle/>
          <a:p>
            <a:pPr algn="l"/>
            <a:r>
              <a:rPr sz="1050" b="0" i="0">
                <a:solidFill>
                  <a:srgbClr val="FAF7F0"/>
                </a:solidFill>
              </a:rPr>
              <a:t>$25K–$1M/yr firm  +  $500–$5K/matter  +  $2.5K–$25K court packets</a:t>
            </a:r>
          </a:p>
        </p:txBody>
      </p:sp>
      <p:sp>
        <p:nvSpPr>
          <p:cNvPr id="14" name="TextBox 13"/>
          <p:cNvSpPr txBox="1"/>
          <p:nvPr/>
        </p:nvSpPr>
        <p:spPr>
          <a:xfrm>
            <a:off x="9738360" y="3227832"/>
            <a:ext cx="1920240" cy="320040"/>
          </a:xfrm>
          <a:prstGeom prst="rect">
            <a:avLst/>
          </a:prstGeom>
          <a:noFill/>
        </p:spPr>
        <p:txBody>
          <a:bodyPr wrap="square">
            <a:spAutoFit/>
          </a:bodyPr>
          <a:lstStyle/>
          <a:p>
            <a:pPr algn="r"/>
            <a:r>
              <a:rPr sz="1200" b="1" i="0">
                <a:solidFill>
                  <a:srgbClr val="20E898"/>
                </a:solidFill>
              </a:rPr>
              <a:t>$150K</a:t>
            </a:r>
          </a:p>
        </p:txBody>
      </p:sp>
      <p:sp>
        <p:nvSpPr>
          <p:cNvPr id="15" name="TextBox 14"/>
          <p:cNvSpPr txBox="1"/>
          <p:nvPr/>
        </p:nvSpPr>
        <p:spPr>
          <a:xfrm>
            <a:off x="438912" y="3721608"/>
            <a:ext cx="3291840" cy="320040"/>
          </a:xfrm>
          <a:prstGeom prst="rect">
            <a:avLst/>
          </a:prstGeom>
          <a:noFill/>
        </p:spPr>
        <p:txBody>
          <a:bodyPr wrap="square">
            <a:spAutoFit/>
          </a:bodyPr>
          <a:lstStyle/>
          <a:p>
            <a:pPr algn="l"/>
            <a:r>
              <a:rPr sz="1100" b="1" i="0">
                <a:solidFill>
                  <a:srgbClr val="FFFFFF"/>
                </a:solidFill>
              </a:rPr>
              <a:t>Banks / Asset Mgmt</a:t>
            </a:r>
          </a:p>
        </p:txBody>
      </p:sp>
      <p:sp>
        <p:nvSpPr>
          <p:cNvPr id="16" name="TextBox 15"/>
          <p:cNvSpPr txBox="1"/>
          <p:nvPr/>
        </p:nvSpPr>
        <p:spPr>
          <a:xfrm>
            <a:off x="3840480" y="3721608"/>
            <a:ext cx="5669280" cy="347472"/>
          </a:xfrm>
          <a:prstGeom prst="rect">
            <a:avLst/>
          </a:prstGeom>
          <a:noFill/>
        </p:spPr>
        <p:txBody>
          <a:bodyPr wrap="square">
            <a:spAutoFit/>
          </a:bodyPr>
          <a:lstStyle/>
          <a:p>
            <a:pPr algn="l"/>
            <a:r>
              <a:rPr sz="1050" b="0" i="0">
                <a:solidFill>
                  <a:srgbClr val="FAF7F0"/>
                </a:solidFill>
              </a:rPr>
              <a:t>$1M–$5M/yr enterprise  +  $1K–$50K/regulatory filing</a:t>
            </a:r>
          </a:p>
        </p:txBody>
      </p:sp>
      <p:sp>
        <p:nvSpPr>
          <p:cNvPr id="17" name="TextBox 16"/>
          <p:cNvSpPr txBox="1"/>
          <p:nvPr/>
        </p:nvSpPr>
        <p:spPr>
          <a:xfrm>
            <a:off x="9738360" y="3721608"/>
            <a:ext cx="1920240" cy="320040"/>
          </a:xfrm>
          <a:prstGeom prst="rect">
            <a:avLst/>
          </a:prstGeom>
          <a:noFill/>
        </p:spPr>
        <p:txBody>
          <a:bodyPr wrap="square">
            <a:spAutoFit/>
          </a:bodyPr>
          <a:lstStyle/>
          <a:p>
            <a:pPr algn="r"/>
            <a:r>
              <a:rPr sz="1200" b="1" i="0">
                <a:solidFill>
                  <a:srgbClr val="20E898"/>
                </a:solidFill>
              </a:rPr>
              <a:t>$1.2M</a:t>
            </a:r>
          </a:p>
        </p:txBody>
      </p:sp>
      <p:sp>
        <p:nvSpPr>
          <p:cNvPr id="18" name="Rectangle 17"/>
          <p:cNvSpPr/>
          <p:nvPr/>
        </p:nvSpPr>
        <p:spPr>
          <a:xfrm>
            <a:off x="347472" y="4142232"/>
            <a:ext cx="11494008" cy="475488"/>
          </a:xfrm>
          <a:prstGeom prst="rect">
            <a:avLst/>
          </a:prstGeom>
          <a:solidFill>
            <a:srgbClr val="0D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8912" y="4215384"/>
            <a:ext cx="3291840" cy="320040"/>
          </a:xfrm>
          <a:prstGeom prst="rect">
            <a:avLst/>
          </a:prstGeom>
          <a:noFill/>
        </p:spPr>
        <p:txBody>
          <a:bodyPr wrap="square">
            <a:spAutoFit/>
          </a:bodyPr>
          <a:lstStyle/>
          <a:p>
            <a:pPr algn="l"/>
            <a:r>
              <a:rPr sz="1100" b="1" i="0">
                <a:solidFill>
                  <a:srgbClr val="FFFFFF"/>
                </a:solidFill>
              </a:rPr>
              <a:t>Insurance Carriers</a:t>
            </a:r>
          </a:p>
        </p:txBody>
      </p:sp>
      <p:sp>
        <p:nvSpPr>
          <p:cNvPr id="20" name="TextBox 19"/>
          <p:cNvSpPr txBox="1"/>
          <p:nvPr/>
        </p:nvSpPr>
        <p:spPr>
          <a:xfrm>
            <a:off x="3840480" y="4215384"/>
            <a:ext cx="5669280" cy="347472"/>
          </a:xfrm>
          <a:prstGeom prst="rect">
            <a:avLst/>
          </a:prstGeom>
          <a:noFill/>
        </p:spPr>
        <p:txBody>
          <a:bodyPr wrap="square">
            <a:spAutoFit/>
          </a:bodyPr>
          <a:lstStyle/>
          <a:p>
            <a:pPr algn="l"/>
            <a:r>
              <a:rPr sz="1050" b="0" i="0">
                <a:solidFill>
                  <a:srgbClr val="FAF7F0"/>
                </a:solidFill>
              </a:rPr>
              <a:t>$100K–$750K/yr  +  $25K–$100K/incident investigation</a:t>
            </a:r>
          </a:p>
        </p:txBody>
      </p:sp>
      <p:sp>
        <p:nvSpPr>
          <p:cNvPr id="21" name="TextBox 20"/>
          <p:cNvSpPr txBox="1"/>
          <p:nvPr/>
        </p:nvSpPr>
        <p:spPr>
          <a:xfrm>
            <a:off x="9738360" y="4215384"/>
            <a:ext cx="1920240" cy="320040"/>
          </a:xfrm>
          <a:prstGeom prst="rect">
            <a:avLst/>
          </a:prstGeom>
          <a:noFill/>
        </p:spPr>
        <p:txBody>
          <a:bodyPr wrap="square">
            <a:spAutoFit/>
          </a:bodyPr>
          <a:lstStyle/>
          <a:p>
            <a:pPr algn="r"/>
            <a:r>
              <a:rPr sz="1200" b="1" i="0">
                <a:solidFill>
                  <a:srgbClr val="20E898"/>
                </a:solidFill>
              </a:rPr>
              <a:t>$200K</a:t>
            </a:r>
          </a:p>
        </p:txBody>
      </p:sp>
      <p:sp>
        <p:nvSpPr>
          <p:cNvPr id="22" name="TextBox 21"/>
          <p:cNvSpPr txBox="1"/>
          <p:nvPr/>
        </p:nvSpPr>
        <p:spPr>
          <a:xfrm>
            <a:off x="438912" y="4709160"/>
            <a:ext cx="3291840" cy="320040"/>
          </a:xfrm>
          <a:prstGeom prst="rect">
            <a:avLst/>
          </a:prstGeom>
          <a:noFill/>
        </p:spPr>
        <p:txBody>
          <a:bodyPr wrap="square">
            <a:spAutoFit/>
          </a:bodyPr>
          <a:lstStyle/>
          <a:p>
            <a:pPr algn="l"/>
            <a:r>
              <a:rPr sz="1100" b="1" i="0">
                <a:solidFill>
                  <a:srgbClr val="FFFFFF"/>
                </a:solidFill>
              </a:rPr>
              <a:t>AI Platforms</a:t>
            </a:r>
          </a:p>
        </p:txBody>
      </p:sp>
      <p:sp>
        <p:nvSpPr>
          <p:cNvPr id="23" name="TextBox 22"/>
          <p:cNvSpPr txBox="1"/>
          <p:nvPr/>
        </p:nvSpPr>
        <p:spPr>
          <a:xfrm>
            <a:off x="3840480" y="4709160"/>
            <a:ext cx="5669280" cy="347472"/>
          </a:xfrm>
          <a:prstGeom prst="rect">
            <a:avLst/>
          </a:prstGeom>
          <a:noFill/>
        </p:spPr>
        <p:txBody>
          <a:bodyPr wrap="square">
            <a:spAutoFit/>
          </a:bodyPr>
          <a:lstStyle/>
          <a:p>
            <a:pPr algn="l"/>
            <a:r>
              <a:rPr sz="1050" b="0" i="0">
                <a:solidFill>
                  <a:srgbClr val="FAF7F0"/>
                </a:solidFill>
              </a:rPr>
              <a:t>Integration license  +  per-receipt revenue share (~40% to LedgerProof)</a:t>
            </a:r>
          </a:p>
        </p:txBody>
      </p:sp>
      <p:sp>
        <p:nvSpPr>
          <p:cNvPr id="24" name="TextBox 23"/>
          <p:cNvSpPr txBox="1"/>
          <p:nvPr/>
        </p:nvSpPr>
        <p:spPr>
          <a:xfrm>
            <a:off x="9738360" y="4709160"/>
            <a:ext cx="1920240" cy="320040"/>
          </a:xfrm>
          <a:prstGeom prst="rect">
            <a:avLst/>
          </a:prstGeom>
          <a:noFill/>
        </p:spPr>
        <p:txBody>
          <a:bodyPr wrap="square">
            <a:spAutoFit/>
          </a:bodyPr>
          <a:lstStyle/>
          <a:p>
            <a:pPr algn="r"/>
            <a:r>
              <a:rPr sz="1200" b="1" i="0">
                <a:solidFill>
                  <a:srgbClr val="20E898"/>
                </a:solidFill>
              </a:rPr>
              <a:t>$180K</a:t>
            </a:r>
          </a:p>
        </p:txBody>
      </p:sp>
      <p:sp>
        <p:nvSpPr>
          <p:cNvPr id="25" name="Rectangle 24"/>
          <p:cNvSpPr/>
          <p:nvPr/>
        </p:nvSpPr>
        <p:spPr>
          <a:xfrm>
            <a:off x="347472" y="5129784"/>
            <a:ext cx="11494008" cy="475488"/>
          </a:xfrm>
          <a:prstGeom prst="rect">
            <a:avLst/>
          </a:prstGeom>
          <a:solidFill>
            <a:srgbClr val="0D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8912" y="5202936"/>
            <a:ext cx="3291840" cy="320040"/>
          </a:xfrm>
          <a:prstGeom prst="rect">
            <a:avLst/>
          </a:prstGeom>
          <a:noFill/>
        </p:spPr>
        <p:txBody>
          <a:bodyPr wrap="square">
            <a:spAutoFit/>
          </a:bodyPr>
          <a:lstStyle/>
          <a:p>
            <a:pPr algn="l"/>
            <a:r>
              <a:rPr sz="1100" b="1" i="0">
                <a:solidFill>
                  <a:srgbClr val="FFFFFF"/>
                </a:solidFill>
              </a:rPr>
              <a:t>Digital Forensics</a:t>
            </a:r>
          </a:p>
        </p:txBody>
      </p:sp>
      <p:sp>
        <p:nvSpPr>
          <p:cNvPr id="27" name="TextBox 26"/>
          <p:cNvSpPr txBox="1"/>
          <p:nvPr/>
        </p:nvSpPr>
        <p:spPr>
          <a:xfrm>
            <a:off x="3840480" y="5202936"/>
            <a:ext cx="5669280" cy="347472"/>
          </a:xfrm>
          <a:prstGeom prst="rect">
            <a:avLst/>
          </a:prstGeom>
          <a:noFill/>
        </p:spPr>
        <p:txBody>
          <a:bodyPr wrap="square">
            <a:spAutoFit/>
          </a:bodyPr>
          <a:lstStyle/>
          <a:p>
            <a:pPr algn="l"/>
            <a:r>
              <a:rPr sz="1050" b="0" i="0">
                <a:solidFill>
                  <a:srgbClr val="FAF7F0"/>
                </a:solidFill>
              </a:rPr>
              <a:t>$25K–$100K/yr agency  +  $5K–$50K/case package</a:t>
            </a:r>
          </a:p>
        </p:txBody>
      </p:sp>
      <p:sp>
        <p:nvSpPr>
          <p:cNvPr id="28" name="TextBox 27"/>
          <p:cNvSpPr txBox="1"/>
          <p:nvPr/>
        </p:nvSpPr>
        <p:spPr>
          <a:xfrm>
            <a:off x="9738360" y="5202936"/>
            <a:ext cx="1920240" cy="320040"/>
          </a:xfrm>
          <a:prstGeom prst="rect">
            <a:avLst/>
          </a:prstGeom>
          <a:noFill/>
        </p:spPr>
        <p:txBody>
          <a:bodyPr wrap="square">
            <a:spAutoFit/>
          </a:bodyPr>
          <a:lstStyle/>
          <a:p>
            <a:pPr algn="r"/>
            <a:r>
              <a:rPr sz="1200" b="1" i="0">
                <a:solidFill>
                  <a:srgbClr val="20E898"/>
                </a:solidFill>
              </a:rPr>
              <a:t>$60K</a:t>
            </a:r>
          </a:p>
        </p:txBody>
      </p:sp>
      <p:sp>
        <p:nvSpPr>
          <p:cNvPr id="29" name="TextBox 28"/>
          <p:cNvSpPr txBox="1"/>
          <p:nvPr/>
        </p:nvSpPr>
        <p:spPr>
          <a:xfrm>
            <a:off x="438912" y="5696712"/>
            <a:ext cx="3291840" cy="320040"/>
          </a:xfrm>
          <a:prstGeom prst="rect">
            <a:avLst/>
          </a:prstGeom>
          <a:noFill/>
        </p:spPr>
        <p:txBody>
          <a:bodyPr wrap="square">
            <a:spAutoFit/>
          </a:bodyPr>
          <a:lstStyle/>
          <a:p>
            <a:pPr algn="l"/>
            <a:r>
              <a:rPr sz="1100" b="1" i="0">
                <a:solidFill>
                  <a:srgbClr val="FFFFFF"/>
                </a:solidFill>
              </a:rPr>
              <a:t>Media / Journalism</a:t>
            </a:r>
          </a:p>
        </p:txBody>
      </p:sp>
      <p:sp>
        <p:nvSpPr>
          <p:cNvPr id="30" name="TextBox 29"/>
          <p:cNvSpPr txBox="1"/>
          <p:nvPr/>
        </p:nvSpPr>
        <p:spPr>
          <a:xfrm>
            <a:off x="3840480" y="5696712"/>
            <a:ext cx="5669280" cy="347472"/>
          </a:xfrm>
          <a:prstGeom prst="rect">
            <a:avLst/>
          </a:prstGeom>
          <a:noFill/>
        </p:spPr>
        <p:txBody>
          <a:bodyPr wrap="square">
            <a:spAutoFit/>
          </a:bodyPr>
          <a:lstStyle/>
          <a:p>
            <a:pPr algn="l"/>
            <a:r>
              <a:rPr sz="1050" b="0" i="0">
                <a:solidFill>
                  <a:srgbClr val="FAF7F0"/>
                </a:solidFill>
              </a:rPr>
              <a:t>$50K–$250K/yr newsroom license</a:t>
            </a:r>
          </a:p>
        </p:txBody>
      </p:sp>
      <p:sp>
        <p:nvSpPr>
          <p:cNvPr id="31" name="TextBox 30"/>
          <p:cNvSpPr txBox="1"/>
          <p:nvPr/>
        </p:nvSpPr>
        <p:spPr>
          <a:xfrm>
            <a:off x="9738360" y="5696712"/>
            <a:ext cx="1920240" cy="320040"/>
          </a:xfrm>
          <a:prstGeom prst="rect">
            <a:avLst/>
          </a:prstGeom>
          <a:noFill/>
        </p:spPr>
        <p:txBody>
          <a:bodyPr wrap="square">
            <a:spAutoFit/>
          </a:bodyPr>
          <a:lstStyle/>
          <a:p>
            <a:pPr algn="r"/>
            <a:r>
              <a:rPr sz="1200" b="1" i="0">
                <a:solidFill>
                  <a:srgbClr val="20E898"/>
                </a:solidFill>
              </a:rPr>
              <a:t>$80K</a:t>
            </a:r>
          </a:p>
        </p:txBody>
      </p:sp>
      <p:sp>
        <p:nvSpPr>
          <p:cNvPr id="32" name="Rectangle 31"/>
          <p:cNvSpPr/>
          <p:nvPr/>
        </p:nvSpPr>
        <p:spPr>
          <a:xfrm>
            <a:off x="347472" y="6117336"/>
            <a:ext cx="11494008" cy="475488"/>
          </a:xfrm>
          <a:prstGeom prst="rect">
            <a:avLst/>
          </a:prstGeom>
          <a:solidFill>
            <a:srgbClr val="0D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38912" y="6190488"/>
            <a:ext cx="3291840" cy="320040"/>
          </a:xfrm>
          <a:prstGeom prst="rect">
            <a:avLst/>
          </a:prstGeom>
          <a:noFill/>
        </p:spPr>
        <p:txBody>
          <a:bodyPr wrap="square">
            <a:spAutoFit/>
          </a:bodyPr>
          <a:lstStyle/>
          <a:p>
            <a:pPr algn="l"/>
            <a:r>
              <a:rPr sz="1100" b="1" i="0">
                <a:solidFill>
                  <a:srgbClr val="FFFFFF"/>
                </a:solidFill>
              </a:rPr>
              <a:t>Corporate Compliance</a:t>
            </a:r>
          </a:p>
        </p:txBody>
      </p:sp>
      <p:sp>
        <p:nvSpPr>
          <p:cNvPr id="34" name="TextBox 33"/>
          <p:cNvSpPr txBox="1"/>
          <p:nvPr/>
        </p:nvSpPr>
        <p:spPr>
          <a:xfrm>
            <a:off x="3840480" y="6190488"/>
            <a:ext cx="5669280" cy="347472"/>
          </a:xfrm>
          <a:prstGeom prst="rect">
            <a:avLst/>
          </a:prstGeom>
          <a:noFill/>
        </p:spPr>
        <p:txBody>
          <a:bodyPr wrap="square">
            <a:spAutoFit/>
          </a:bodyPr>
          <a:lstStyle/>
          <a:p>
            <a:pPr algn="l"/>
            <a:r>
              <a:rPr sz="1050" b="0" i="0">
                <a:solidFill>
                  <a:srgbClr val="FAF7F0"/>
                </a:solidFill>
              </a:rPr>
              <a:t>$100K–$500K/yr Article 50 compliance pack</a:t>
            </a:r>
          </a:p>
        </p:txBody>
      </p:sp>
      <p:sp>
        <p:nvSpPr>
          <p:cNvPr id="35" name="TextBox 34"/>
          <p:cNvSpPr txBox="1"/>
          <p:nvPr/>
        </p:nvSpPr>
        <p:spPr>
          <a:xfrm>
            <a:off x="9738360" y="6190488"/>
            <a:ext cx="1920240" cy="320040"/>
          </a:xfrm>
          <a:prstGeom prst="rect">
            <a:avLst/>
          </a:prstGeom>
          <a:noFill/>
        </p:spPr>
        <p:txBody>
          <a:bodyPr wrap="square">
            <a:spAutoFit/>
          </a:bodyPr>
          <a:lstStyle/>
          <a:p>
            <a:pPr algn="r"/>
            <a:r>
              <a:rPr sz="1200" b="1" i="0">
                <a:solidFill>
                  <a:srgbClr val="20E898"/>
                </a:solidFill>
              </a:rPr>
              <a:t>$150K</a:t>
            </a:r>
          </a:p>
        </p:txBody>
      </p:sp>
      <p:sp>
        <p:nvSpPr>
          <p:cNvPr id="36" name="TextBox 35"/>
          <p:cNvSpPr txBox="1"/>
          <p:nvPr/>
        </p:nvSpPr>
        <p:spPr>
          <a:xfrm>
            <a:off x="347472" y="6537960"/>
            <a:ext cx="11494008" cy="274320"/>
          </a:xfrm>
          <a:prstGeom prst="rect">
            <a:avLst/>
          </a:prstGeom>
          <a:noFill/>
        </p:spPr>
        <p:txBody>
          <a:bodyPr wrap="square">
            <a:spAutoFit/>
          </a:bodyPr>
          <a:lstStyle/>
          <a:p>
            <a:pPr algn="l"/>
            <a:r>
              <a:rPr sz="950" b="0" i="1">
                <a:solidFill>
                  <a:srgbClr val="667788"/>
                </a:solidFill>
              </a:rPr>
              <a:t>Scale: Per-receipt transaction fee ($0.10–$2.00) · Calendar operator licensing · Basis points on anchored value at enterprise volume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40C16"/>
        </a:solidFill>
        <a:effectLst/>
      </p:bgPr>
    </p:bg>
    <p:spTree>
      <p:nvGrpSpPr>
        <p:cNvPr id="1" name=""/>
        <p:cNvGrpSpPr/>
        <p:nvPr/>
      </p:nvGrpSpPr>
      <p:grpSpPr/>
      <p:pic>
        <p:nvPicPr>
          <p:cNvPr id="2" name="Picture 1" descr="ledgerproof-logo.png"/>
          <p:cNvPicPr>
            <a:picLocks noChangeAspect="1"/>
          </p:cNvPicPr>
          <p:nvPr/>
        </p:nvPicPr>
        <p:blipFill>
          <a:blip r:embed="rId2"/>
          <a:stretch>
            <a:fillRect/>
          </a:stretch>
        </p:blipFill>
        <p:spPr>
          <a:xfrm>
            <a:off x="347472" y="182880"/>
            <a:ext cx="1691640" cy="912781"/>
          </a:xfrm>
          <a:prstGeom prst="rect">
            <a:avLst/>
          </a:prstGeom>
        </p:spPr>
      </p:pic>
      <p:sp>
        <p:nvSpPr>
          <p:cNvPr id="3" name="TextBox 2"/>
          <p:cNvSpPr txBox="1"/>
          <p:nvPr/>
        </p:nvSpPr>
        <p:spPr>
          <a:xfrm>
            <a:off x="9784080" y="201168"/>
            <a:ext cx="2286000" cy="347472"/>
          </a:xfrm>
          <a:prstGeom prst="rect">
            <a:avLst/>
          </a:prstGeom>
          <a:noFill/>
        </p:spPr>
        <p:txBody>
          <a:bodyPr wrap="square">
            <a:spAutoFit/>
          </a:bodyPr>
          <a:lstStyle/>
          <a:p>
            <a:pPr algn="r"/>
            <a:r>
              <a:rPr sz="850" b="1" i="0">
                <a:solidFill>
                  <a:srgbClr val="335566"/>
                </a:solidFill>
              </a:rPr>
              <a:t>TRACTION &amp; PROJECTIONS</a:t>
            </a:r>
          </a:p>
        </p:txBody>
      </p:sp>
      <p:sp>
        <p:nvSpPr>
          <p:cNvPr id="4" name="TextBox 3"/>
          <p:cNvSpPr txBox="1"/>
          <p:nvPr/>
        </p:nvSpPr>
        <p:spPr>
          <a:xfrm>
            <a:off x="347472" y="749808"/>
            <a:ext cx="4572000" cy="1417320"/>
          </a:xfrm>
          <a:prstGeom prst="rect">
            <a:avLst/>
          </a:prstGeom>
          <a:noFill/>
        </p:spPr>
        <p:txBody>
          <a:bodyPr wrap="square">
            <a:spAutoFit/>
          </a:bodyPr>
          <a:lstStyle/>
          <a:p>
            <a:pPr algn="l"/>
            <a:r>
              <a:rPr sz="8800" b="1" i="0">
                <a:solidFill>
                  <a:srgbClr val="20E898"/>
                </a:solidFill>
              </a:rPr>
              <a:t>$4.25M</a:t>
            </a:r>
          </a:p>
        </p:txBody>
      </p:sp>
      <p:sp>
        <p:nvSpPr>
          <p:cNvPr id="5" name="TextBox 4"/>
          <p:cNvSpPr txBox="1"/>
          <p:nvPr/>
        </p:nvSpPr>
        <p:spPr>
          <a:xfrm>
            <a:off x="347472" y="2103120"/>
            <a:ext cx="5943600" cy="502920"/>
          </a:xfrm>
          <a:prstGeom prst="rect">
            <a:avLst/>
          </a:prstGeom>
          <a:noFill/>
        </p:spPr>
        <p:txBody>
          <a:bodyPr wrap="square">
            <a:spAutoFit/>
          </a:bodyPr>
          <a:lstStyle/>
          <a:p>
            <a:pPr algn="l"/>
            <a:r>
              <a:rPr sz="1400" b="0" i="0">
                <a:solidFill>
                  <a:srgbClr val="FAF7F0"/>
                </a:solidFill>
              </a:rPr>
              <a:t>Year 1 ARR — 20 named accounts, not volume projections.</a:t>
            </a:r>
          </a:p>
        </p:txBody>
      </p:sp>
      <p:sp>
        <p:nvSpPr>
          <p:cNvPr id="6" name="Rectangle 5"/>
          <p:cNvSpPr/>
          <p:nvPr/>
        </p:nvSpPr>
        <p:spPr>
          <a:xfrm>
            <a:off x="347472" y="2743200"/>
            <a:ext cx="12700" cy="3931920"/>
          </a:xfrm>
          <a:prstGeom prst="rect">
            <a:avLst/>
          </a:prstGeom>
          <a:solidFill>
            <a:srgbClr val="4455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88920"/>
            <a:ext cx="2286000" cy="274320"/>
          </a:xfrm>
          <a:prstGeom prst="rect">
            <a:avLst/>
          </a:prstGeom>
          <a:noFill/>
        </p:spPr>
        <p:txBody>
          <a:bodyPr wrap="square">
            <a:spAutoFit/>
          </a:bodyPr>
          <a:lstStyle/>
          <a:p>
            <a:pPr algn="l"/>
            <a:r>
              <a:rPr sz="900" b="1" i="0">
                <a:solidFill>
                  <a:srgbClr val="667788"/>
                </a:solidFill>
              </a:rPr>
              <a:t>Account</a:t>
            </a:r>
          </a:p>
        </p:txBody>
      </p:sp>
      <p:sp>
        <p:nvSpPr>
          <p:cNvPr id="8" name="TextBox 7"/>
          <p:cNvSpPr txBox="1"/>
          <p:nvPr/>
        </p:nvSpPr>
        <p:spPr>
          <a:xfrm>
            <a:off x="2834640" y="2788920"/>
            <a:ext cx="2286000" cy="274320"/>
          </a:xfrm>
          <a:prstGeom prst="rect">
            <a:avLst/>
          </a:prstGeom>
          <a:noFill/>
        </p:spPr>
        <p:txBody>
          <a:bodyPr wrap="square">
            <a:spAutoFit/>
          </a:bodyPr>
          <a:lstStyle/>
          <a:p>
            <a:pPr algn="l"/>
            <a:r>
              <a:rPr sz="900" b="1" i="0">
                <a:solidFill>
                  <a:srgbClr val="667788"/>
                </a:solidFill>
              </a:rPr>
              <a:t>Vertical</a:t>
            </a:r>
          </a:p>
        </p:txBody>
      </p:sp>
      <p:sp>
        <p:nvSpPr>
          <p:cNvPr id="9" name="TextBox 8"/>
          <p:cNvSpPr txBox="1"/>
          <p:nvPr/>
        </p:nvSpPr>
        <p:spPr>
          <a:xfrm>
            <a:off x="5303520" y="2788920"/>
            <a:ext cx="777240" cy="274320"/>
          </a:xfrm>
          <a:prstGeom prst="rect">
            <a:avLst/>
          </a:prstGeom>
          <a:noFill/>
        </p:spPr>
        <p:txBody>
          <a:bodyPr wrap="square">
            <a:spAutoFit/>
          </a:bodyPr>
          <a:lstStyle/>
          <a:p>
            <a:pPr algn="r"/>
            <a:r>
              <a:rPr sz="900" b="1" i="0">
                <a:solidFill>
                  <a:srgbClr val="667788"/>
                </a:solidFill>
              </a:rPr>
              <a:t>ACV</a:t>
            </a:r>
          </a:p>
        </p:txBody>
      </p:sp>
      <p:sp>
        <p:nvSpPr>
          <p:cNvPr id="10" name="TextBox 9"/>
          <p:cNvSpPr txBox="1"/>
          <p:nvPr/>
        </p:nvSpPr>
        <p:spPr>
          <a:xfrm>
            <a:off x="502920" y="3127248"/>
            <a:ext cx="2286000" cy="292608"/>
          </a:xfrm>
          <a:prstGeom prst="rect">
            <a:avLst/>
          </a:prstGeom>
          <a:noFill/>
        </p:spPr>
        <p:txBody>
          <a:bodyPr wrap="square">
            <a:spAutoFit/>
          </a:bodyPr>
          <a:lstStyle/>
          <a:p>
            <a:pPr algn="l"/>
            <a:r>
              <a:rPr sz="1000" b="1" i="0">
                <a:solidFill>
                  <a:srgbClr val="FAF7F0"/>
                </a:solidFill>
              </a:rPr>
              <a:t>TransUnion</a:t>
            </a:r>
          </a:p>
        </p:txBody>
      </p:sp>
      <p:sp>
        <p:nvSpPr>
          <p:cNvPr id="11" name="TextBox 10"/>
          <p:cNvSpPr txBox="1"/>
          <p:nvPr/>
        </p:nvSpPr>
        <p:spPr>
          <a:xfrm>
            <a:off x="2834640" y="3127248"/>
            <a:ext cx="2331720" cy="292608"/>
          </a:xfrm>
          <a:prstGeom prst="rect">
            <a:avLst/>
          </a:prstGeom>
          <a:noFill/>
        </p:spPr>
        <p:txBody>
          <a:bodyPr wrap="square">
            <a:spAutoFit/>
          </a:bodyPr>
          <a:lstStyle/>
          <a:p>
            <a:pPr algn="l"/>
            <a:r>
              <a:rPr sz="950" b="0" i="0">
                <a:solidFill>
                  <a:srgbClr val="667788"/>
                </a:solidFill>
              </a:rPr>
              <a:t>Insurance / Financial</a:t>
            </a:r>
          </a:p>
        </p:txBody>
      </p:sp>
      <p:sp>
        <p:nvSpPr>
          <p:cNvPr id="12" name="TextBox 11"/>
          <p:cNvSpPr txBox="1"/>
          <p:nvPr/>
        </p:nvSpPr>
        <p:spPr>
          <a:xfrm>
            <a:off x="5303520" y="3127248"/>
            <a:ext cx="777240" cy="292608"/>
          </a:xfrm>
          <a:prstGeom prst="rect">
            <a:avLst/>
          </a:prstGeom>
          <a:noFill/>
        </p:spPr>
        <p:txBody>
          <a:bodyPr wrap="square">
            <a:spAutoFit/>
          </a:bodyPr>
          <a:lstStyle/>
          <a:p>
            <a:pPr algn="r"/>
            <a:r>
              <a:rPr sz="1000" b="1" i="0">
                <a:solidFill>
                  <a:srgbClr val="20E898"/>
                </a:solidFill>
              </a:rPr>
              <a:t>$450K</a:t>
            </a:r>
          </a:p>
        </p:txBody>
      </p:sp>
      <p:sp>
        <p:nvSpPr>
          <p:cNvPr id="13" name="TextBox 12"/>
          <p:cNvSpPr txBox="1"/>
          <p:nvPr/>
        </p:nvSpPr>
        <p:spPr>
          <a:xfrm>
            <a:off x="502920" y="3456432"/>
            <a:ext cx="2286000" cy="292608"/>
          </a:xfrm>
          <a:prstGeom prst="rect">
            <a:avLst/>
          </a:prstGeom>
          <a:noFill/>
        </p:spPr>
        <p:txBody>
          <a:bodyPr wrap="square">
            <a:spAutoFit/>
          </a:bodyPr>
          <a:lstStyle/>
          <a:p>
            <a:pPr algn="l"/>
            <a:r>
              <a:rPr sz="1000" b="1" i="0">
                <a:solidFill>
                  <a:srgbClr val="FAF7F0"/>
                </a:solidFill>
              </a:rPr>
              <a:t>BBSI</a:t>
            </a:r>
          </a:p>
        </p:txBody>
      </p:sp>
      <p:sp>
        <p:nvSpPr>
          <p:cNvPr id="14" name="TextBox 13"/>
          <p:cNvSpPr txBox="1"/>
          <p:nvPr/>
        </p:nvSpPr>
        <p:spPr>
          <a:xfrm>
            <a:off x="2834640" y="3456432"/>
            <a:ext cx="2331720" cy="292608"/>
          </a:xfrm>
          <a:prstGeom prst="rect">
            <a:avLst/>
          </a:prstGeom>
          <a:noFill/>
        </p:spPr>
        <p:txBody>
          <a:bodyPr wrap="square">
            <a:spAutoFit/>
          </a:bodyPr>
          <a:lstStyle/>
          <a:p>
            <a:pPr algn="l"/>
            <a:r>
              <a:rPr sz="950" b="0" i="0">
                <a:solidFill>
                  <a:srgbClr val="667788"/>
                </a:solidFill>
              </a:rPr>
              <a:t>HR / Employment Docs</a:t>
            </a:r>
          </a:p>
        </p:txBody>
      </p:sp>
      <p:sp>
        <p:nvSpPr>
          <p:cNvPr id="15" name="TextBox 14"/>
          <p:cNvSpPr txBox="1"/>
          <p:nvPr/>
        </p:nvSpPr>
        <p:spPr>
          <a:xfrm>
            <a:off x="5303520" y="3456432"/>
            <a:ext cx="777240" cy="292608"/>
          </a:xfrm>
          <a:prstGeom prst="rect">
            <a:avLst/>
          </a:prstGeom>
          <a:noFill/>
        </p:spPr>
        <p:txBody>
          <a:bodyPr wrap="square">
            <a:spAutoFit/>
          </a:bodyPr>
          <a:lstStyle/>
          <a:p>
            <a:pPr algn="r"/>
            <a:r>
              <a:rPr sz="1000" b="1" i="0">
                <a:solidFill>
                  <a:srgbClr val="20E898"/>
                </a:solidFill>
              </a:rPr>
              <a:t>$120K</a:t>
            </a:r>
          </a:p>
        </p:txBody>
      </p:sp>
      <p:sp>
        <p:nvSpPr>
          <p:cNvPr id="16" name="TextBox 15"/>
          <p:cNvSpPr txBox="1"/>
          <p:nvPr/>
        </p:nvSpPr>
        <p:spPr>
          <a:xfrm>
            <a:off x="502920" y="3785615"/>
            <a:ext cx="2286000" cy="292608"/>
          </a:xfrm>
          <a:prstGeom prst="rect">
            <a:avLst/>
          </a:prstGeom>
          <a:noFill/>
        </p:spPr>
        <p:txBody>
          <a:bodyPr wrap="square">
            <a:spAutoFit/>
          </a:bodyPr>
          <a:lstStyle/>
          <a:p>
            <a:pPr algn="l"/>
            <a:r>
              <a:rPr sz="1000" b="1" i="0">
                <a:solidFill>
                  <a:srgbClr val="FAF7F0"/>
                </a:solidFill>
              </a:rPr>
              <a:t>Executive Advisors</a:t>
            </a:r>
          </a:p>
        </p:txBody>
      </p:sp>
      <p:sp>
        <p:nvSpPr>
          <p:cNvPr id="17" name="TextBox 16"/>
          <p:cNvSpPr txBox="1"/>
          <p:nvPr/>
        </p:nvSpPr>
        <p:spPr>
          <a:xfrm>
            <a:off x="2834640" y="3785615"/>
            <a:ext cx="2331720" cy="292608"/>
          </a:xfrm>
          <a:prstGeom prst="rect">
            <a:avLst/>
          </a:prstGeom>
          <a:noFill/>
        </p:spPr>
        <p:txBody>
          <a:bodyPr wrap="square">
            <a:spAutoFit/>
          </a:bodyPr>
          <a:lstStyle/>
          <a:p>
            <a:pPr algn="l"/>
            <a:r>
              <a:rPr sz="950" b="0" i="0">
                <a:solidFill>
                  <a:srgbClr val="667788"/>
                </a:solidFill>
              </a:rPr>
              <a:t>CISO Advisory / Channel</a:t>
            </a:r>
          </a:p>
        </p:txBody>
      </p:sp>
      <p:sp>
        <p:nvSpPr>
          <p:cNvPr id="18" name="TextBox 17"/>
          <p:cNvSpPr txBox="1"/>
          <p:nvPr/>
        </p:nvSpPr>
        <p:spPr>
          <a:xfrm>
            <a:off x="5303520" y="3785615"/>
            <a:ext cx="777240" cy="292608"/>
          </a:xfrm>
          <a:prstGeom prst="rect">
            <a:avLst/>
          </a:prstGeom>
          <a:noFill/>
        </p:spPr>
        <p:txBody>
          <a:bodyPr wrap="square">
            <a:spAutoFit/>
          </a:bodyPr>
          <a:lstStyle/>
          <a:p>
            <a:pPr algn="r"/>
            <a:r>
              <a:rPr sz="1000" b="1" i="0">
                <a:solidFill>
                  <a:srgbClr val="20E898"/>
                </a:solidFill>
              </a:rPr>
              <a:t>$200K</a:t>
            </a:r>
          </a:p>
        </p:txBody>
      </p:sp>
      <p:sp>
        <p:nvSpPr>
          <p:cNvPr id="19" name="TextBox 18"/>
          <p:cNvSpPr txBox="1"/>
          <p:nvPr/>
        </p:nvSpPr>
        <p:spPr>
          <a:xfrm>
            <a:off x="502920" y="4114800"/>
            <a:ext cx="2286000" cy="292608"/>
          </a:xfrm>
          <a:prstGeom prst="rect">
            <a:avLst/>
          </a:prstGeom>
          <a:noFill/>
        </p:spPr>
        <p:txBody>
          <a:bodyPr wrap="square">
            <a:spAutoFit/>
          </a:bodyPr>
          <a:lstStyle/>
          <a:p>
            <a:pPr algn="l"/>
            <a:r>
              <a:rPr sz="1000" b="1" i="0">
                <a:solidFill>
                  <a:srgbClr val="FAF7F0"/>
                </a:solidFill>
              </a:rPr>
              <a:t>Maryman &amp; Associates</a:t>
            </a:r>
          </a:p>
        </p:txBody>
      </p:sp>
      <p:sp>
        <p:nvSpPr>
          <p:cNvPr id="20" name="TextBox 19"/>
          <p:cNvSpPr txBox="1"/>
          <p:nvPr/>
        </p:nvSpPr>
        <p:spPr>
          <a:xfrm>
            <a:off x="2834640" y="4114800"/>
            <a:ext cx="2331720" cy="292608"/>
          </a:xfrm>
          <a:prstGeom prst="rect">
            <a:avLst/>
          </a:prstGeom>
          <a:noFill/>
        </p:spPr>
        <p:txBody>
          <a:bodyPr wrap="square">
            <a:spAutoFit/>
          </a:bodyPr>
          <a:lstStyle/>
          <a:p>
            <a:pPr algn="l"/>
            <a:r>
              <a:rPr sz="950" b="0" i="0">
                <a:solidFill>
                  <a:srgbClr val="667788"/>
                </a:solidFill>
              </a:rPr>
              <a:t>Digital Forensics</a:t>
            </a:r>
          </a:p>
        </p:txBody>
      </p:sp>
      <p:sp>
        <p:nvSpPr>
          <p:cNvPr id="21" name="TextBox 20"/>
          <p:cNvSpPr txBox="1"/>
          <p:nvPr/>
        </p:nvSpPr>
        <p:spPr>
          <a:xfrm>
            <a:off x="5303520" y="4114800"/>
            <a:ext cx="777240" cy="292608"/>
          </a:xfrm>
          <a:prstGeom prst="rect">
            <a:avLst/>
          </a:prstGeom>
          <a:noFill/>
        </p:spPr>
        <p:txBody>
          <a:bodyPr wrap="square">
            <a:spAutoFit/>
          </a:bodyPr>
          <a:lstStyle/>
          <a:p>
            <a:pPr algn="r"/>
            <a:r>
              <a:rPr sz="1000" b="1" i="0">
                <a:solidFill>
                  <a:srgbClr val="20E898"/>
                </a:solidFill>
              </a:rPr>
              <a:t>$85K</a:t>
            </a:r>
          </a:p>
        </p:txBody>
      </p:sp>
      <p:sp>
        <p:nvSpPr>
          <p:cNvPr id="22" name="TextBox 21"/>
          <p:cNvSpPr txBox="1"/>
          <p:nvPr/>
        </p:nvSpPr>
        <p:spPr>
          <a:xfrm>
            <a:off x="502920" y="4443983"/>
            <a:ext cx="2286000" cy="292608"/>
          </a:xfrm>
          <a:prstGeom prst="rect">
            <a:avLst/>
          </a:prstGeom>
          <a:noFill/>
        </p:spPr>
        <p:txBody>
          <a:bodyPr wrap="square">
            <a:spAutoFit/>
          </a:bodyPr>
          <a:lstStyle/>
          <a:p>
            <a:pPr algn="l"/>
            <a:r>
              <a:rPr sz="1000" b="1" i="0">
                <a:solidFill>
                  <a:srgbClr val="FAF7F0"/>
                </a:solidFill>
              </a:rPr>
              <a:t>IDX</a:t>
            </a:r>
          </a:p>
        </p:txBody>
      </p:sp>
      <p:sp>
        <p:nvSpPr>
          <p:cNvPr id="23" name="TextBox 22"/>
          <p:cNvSpPr txBox="1"/>
          <p:nvPr/>
        </p:nvSpPr>
        <p:spPr>
          <a:xfrm>
            <a:off x="2834640" y="4443983"/>
            <a:ext cx="2331720" cy="292608"/>
          </a:xfrm>
          <a:prstGeom prst="rect">
            <a:avLst/>
          </a:prstGeom>
          <a:noFill/>
        </p:spPr>
        <p:txBody>
          <a:bodyPr wrap="square">
            <a:spAutoFit/>
          </a:bodyPr>
          <a:lstStyle/>
          <a:p>
            <a:pPr algn="l"/>
            <a:r>
              <a:rPr sz="950" b="0" i="0">
                <a:solidFill>
                  <a:srgbClr val="667788"/>
                </a:solidFill>
              </a:rPr>
              <a:t>Cyber Insurance</a:t>
            </a:r>
          </a:p>
        </p:txBody>
      </p:sp>
      <p:sp>
        <p:nvSpPr>
          <p:cNvPr id="24" name="TextBox 23"/>
          <p:cNvSpPr txBox="1"/>
          <p:nvPr/>
        </p:nvSpPr>
        <p:spPr>
          <a:xfrm>
            <a:off x="5303520" y="4443983"/>
            <a:ext cx="777240" cy="292608"/>
          </a:xfrm>
          <a:prstGeom prst="rect">
            <a:avLst/>
          </a:prstGeom>
          <a:noFill/>
        </p:spPr>
        <p:txBody>
          <a:bodyPr wrap="square">
            <a:spAutoFit/>
          </a:bodyPr>
          <a:lstStyle/>
          <a:p>
            <a:pPr algn="r"/>
            <a:r>
              <a:rPr sz="1000" b="1" i="0">
                <a:solidFill>
                  <a:srgbClr val="20E898"/>
                </a:solidFill>
              </a:rPr>
              <a:t>$240K</a:t>
            </a:r>
          </a:p>
        </p:txBody>
      </p:sp>
      <p:sp>
        <p:nvSpPr>
          <p:cNvPr id="25" name="TextBox 24"/>
          <p:cNvSpPr txBox="1"/>
          <p:nvPr/>
        </p:nvSpPr>
        <p:spPr>
          <a:xfrm>
            <a:off x="502920" y="4773168"/>
            <a:ext cx="2286000" cy="292608"/>
          </a:xfrm>
          <a:prstGeom prst="rect">
            <a:avLst/>
          </a:prstGeom>
          <a:noFill/>
        </p:spPr>
        <p:txBody>
          <a:bodyPr wrap="square">
            <a:spAutoFit/>
          </a:bodyPr>
          <a:lstStyle/>
          <a:p>
            <a:pPr algn="l"/>
            <a:r>
              <a:rPr sz="1000" b="1" i="0">
                <a:solidFill>
                  <a:srgbClr val="FAF7F0"/>
                </a:solidFill>
              </a:rPr>
              <a:t>ElevenLabs</a:t>
            </a:r>
          </a:p>
        </p:txBody>
      </p:sp>
      <p:sp>
        <p:nvSpPr>
          <p:cNvPr id="26" name="TextBox 25"/>
          <p:cNvSpPr txBox="1"/>
          <p:nvPr/>
        </p:nvSpPr>
        <p:spPr>
          <a:xfrm>
            <a:off x="2834640" y="4773168"/>
            <a:ext cx="2331720" cy="292608"/>
          </a:xfrm>
          <a:prstGeom prst="rect">
            <a:avLst/>
          </a:prstGeom>
          <a:noFill/>
        </p:spPr>
        <p:txBody>
          <a:bodyPr wrap="square">
            <a:spAutoFit/>
          </a:bodyPr>
          <a:lstStyle/>
          <a:p>
            <a:pPr algn="l"/>
            <a:r>
              <a:rPr sz="950" b="0" i="0">
                <a:solidFill>
                  <a:srgbClr val="667788"/>
                </a:solidFill>
              </a:rPr>
              <a:t>AI Platform (integration)</a:t>
            </a:r>
          </a:p>
        </p:txBody>
      </p:sp>
      <p:sp>
        <p:nvSpPr>
          <p:cNvPr id="27" name="TextBox 26"/>
          <p:cNvSpPr txBox="1"/>
          <p:nvPr/>
        </p:nvSpPr>
        <p:spPr>
          <a:xfrm>
            <a:off x="5303520" y="4773168"/>
            <a:ext cx="777240" cy="292608"/>
          </a:xfrm>
          <a:prstGeom prst="rect">
            <a:avLst/>
          </a:prstGeom>
          <a:noFill/>
        </p:spPr>
        <p:txBody>
          <a:bodyPr wrap="square">
            <a:spAutoFit/>
          </a:bodyPr>
          <a:lstStyle/>
          <a:p>
            <a:pPr algn="r"/>
            <a:r>
              <a:rPr sz="1000" b="1" i="0">
                <a:solidFill>
                  <a:srgbClr val="20E898"/>
                </a:solidFill>
              </a:rPr>
              <a:t>$300K</a:t>
            </a:r>
          </a:p>
        </p:txBody>
      </p:sp>
      <p:sp>
        <p:nvSpPr>
          <p:cNvPr id="28" name="TextBox 27"/>
          <p:cNvSpPr txBox="1"/>
          <p:nvPr/>
        </p:nvSpPr>
        <p:spPr>
          <a:xfrm>
            <a:off x="502920" y="5102352"/>
            <a:ext cx="2286000" cy="292608"/>
          </a:xfrm>
          <a:prstGeom prst="rect">
            <a:avLst/>
          </a:prstGeom>
          <a:noFill/>
        </p:spPr>
        <p:txBody>
          <a:bodyPr wrap="square">
            <a:spAutoFit/>
          </a:bodyPr>
          <a:lstStyle/>
          <a:p>
            <a:pPr algn="l"/>
            <a:r>
              <a:rPr sz="1000" b="1" i="0">
                <a:solidFill>
                  <a:srgbClr val="FAF7F0"/>
                </a:solidFill>
              </a:rPr>
              <a:t>Writer</a:t>
            </a:r>
          </a:p>
        </p:txBody>
      </p:sp>
      <p:sp>
        <p:nvSpPr>
          <p:cNvPr id="29" name="TextBox 28"/>
          <p:cNvSpPr txBox="1"/>
          <p:nvPr/>
        </p:nvSpPr>
        <p:spPr>
          <a:xfrm>
            <a:off x="2834640" y="5102352"/>
            <a:ext cx="2331720" cy="292608"/>
          </a:xfrm>
          <a:prstGeom prst="rect">
            <a:avLst/>
          </a:prstGeom>
          <a:noFill/>
        </p:spPr>
        <p:txBody>
          <a:bodyPr wrap="square">
            <a:spAutoFit/>
          </a:bodyPr>
          <a:lstStyle/>
          <a:p>
            <a:pPr algn="l"/>
            <a:r>
              <a:rPr sz="950" b="0" i="0">
                <a:solidFill>
                  <a:srgbClr val="667788"/>
                </a:solidFill>
              </a:rPr>
              <a:t>AI Platform (integration)</a:t>
            </a:r>
          </a:p>
        </p:txBody>
      </p:sp>
      <p:sp>
        <p:nvSpPr>
          <p:cNvPr id="30" name="TextBox 29"/>
          <p:cNvSpPr txBox="1"/>
          <p:nvPr/>
        </p:nvSpPr>
        <p:spPr>
          <a:xfrm>
            <a:off x="5303520" y="5102352"/>
            <a:ext cx="777240" cy="292608"/>
          </a:xfrm>
          <a:prstGeom prst="rect">
            <a:avLst/>
          </a:prstGeom>
          <a:noFill/>
        </p:spPr>
        <p:txBody>
          <a:bodyPr wrap="square">
            <a:spAutoFit/>
          </a:bodyPr>
          <a:lstStyle/>
          <a:p>
            <a:pPr algn="r"/>
            <a:r>
              <a:rPr sz="1000" b="1" i="0">
                <a:solidFill>
                  <a:srgbClr val="20E898"/>
                </a:solidFill>
              </a:rPr>
              <a:t>$250K</a:t>
            </a:r>
          </a:p>
        </p:txBody>
      </p:sp>
      <p:sp>
        <p:nvSpPr>
          <p:cNvPr id="31" name="TextBox 30"/>
          <p:cNvSpPr txBox="1"/>
          <p:nvPr/>
        </p:nvSpPr>
        <p:spPr>
          <a:xfrm>
            <a:off x="502920" y="5431536"/>
            <a:ext cx="2286000" cy="292608"/>
          </a:xfrm>
          <a:prstGeom prst="rect">
            <a:avLst/>
          </a:prstGeom>
          <a:noFill/>
        </p:spPr>
        <p:txBody>
          <a:bodyPr wrap="square">
            <a:spAutoFit/>
          </a:bodyPr>
          <a:lstStyle/>
          <a:p>
            <a:pPr algn="l"/>
            <a:r>
              <a:rPr sz="1000" b="1" i="0">
                <a:solidFill>
                  <a:srgbClr val="FAF7F0"/>
                </a:solidFill>
              </a:rPr>
              <a:t>Harvey / Am Law pilot</a:t>
            </a:r>
          </a:p>
        </p:txBody>
      </p:sp>
      <p:sp>
        <p:nvSpPr>
          <p:cNvPr id="32" name="TextBox 31"/>
          <p:cNvSpPr txBox="1"/>
          <p:nvPr/>
        </p:nvSpPr>
        <p:spPr>
          <a:xfrm>
            <a:off x="2834640" y="5431536"/>
            <a:ext cx="2331720" cy="292608"/>
          </a:xfrm>
          <a:prstGeom prst="rect">
            <a:avLst/>
          </a:prstGeom>
          <a:noFill/>
        </p:spPr>
        <p:txBody>
          <a:bodyPr wrap="square">
            <a:spAutoFit/>
          </a:bodyPr>
          <a:lstStyle/>
          <a:p>
            <a:pPr algn="l"/>
            <a:r>
              <a:rPr sz="950" b="0" i="0">
                <a:solidFill>
                  <a:srgbClr val="667788"/>
                </a:solidFill>
              </a:rPr>
              <a:t>Legal</a:t>
            </a:r>
          </a:p>
        </p:txBody>
      </p:sp>
      <p:sp>
        <p:nvSpPr>
          <p:cNvPr id="33" name="TextBox 32"/>
          <p:cNvSpPr txBox="1"/>
          <p:nvPr/>
        </p:nvSpPr>
        <p:spPr>
          <a:xfrm>
            <a:off x="5303520" y="5431536"/>
            <a:ext cx="777240" cy="292608"/>
          </a:xfrm>
          <a:prstGeom prst="rect">
            <a:avLst/>
          </a:prstGeom>
          <a:noFill/>
        </p:spPr>
        <p:txBody>
          <a:bodyPr wrap="square">
            <a:spAutoFit/>
          </a:bodyPr>
          <a:lstStyle/>
          <a:p>
            <a:pPr algn="r"/>
            <a:r>
              <a:rPr sz="1000" b="1" i="0">
                <a:solidFill>
                  <a:srgbClr val="20E898"/>
                </a:solidFill>
              </a:rPr>
              <a:t>$500K</a:t>
            </a:r>
          </a:p>
        </p:txBody>
      </p:sp>
      <p:sp>
        <p:nvSpPr>
          <p:cNvPr id="34" name="TextBox 33"/>
          <p:cNvSpPr txBox="1"/>
          <p:nvPr/>
        </p:nvSpPr>
        <p:spPr>
          <a:xfrm>
            <a:off x="502920" y="5760720"/>
            <a:ext cx="2286000" cy="292608"/>
          </a:xfrm>
          <a:prstGeom prst="rect">
            <a:avLst/>
          </a:prstGeom>
          <a:noFill/>
        </p:spPr>
        <p:txBody>
          <a:bodyPr wrap="square">
            <a:spAutoFit/>
          </a:bodyPr>
          <a:lstStyle/>
          <a:p>
            <a:pPr algn="l"/>
            <a:r>
              <a:rPr sz="1000" b="0" i="0">
                <a:solidFill>
                  <a:srgbClr val="FAF7F0"/>
                </a:solidFill>
              </a:rPr>
              <a:t>Wilson Elser</a:t>
            </a:r>
          </a:p>
        </p:txBody>
      </p:sp>
      <p:sp>
        <p:nvSpPr>
          <p:cNvPr id="35" name="TextBox 34"/>
          <p:cNvSpPr txBox="1"/>
          <p:nvPr/>
        </p:nvSpPr>
        <p:spPr>
          <a:xfrm>
            <a:off x="2834640" y="5760720"/>
            <a:ext cx="2331720" cy="292608"/>
          </a:xfrm>
          <a:prstGeom prst="rect">
            <a:avLst/>
          </a:prstGeom>
          <a:noFill/>
        </p:spPr>
        <p:txBody>
          <a:bodyPr wrap="square">
            <a:spAutoFit/>
          </a:bodyPr>
          <a:lstStyle/>
          <a:p>
            <a:pPr algn="l"/>
            <a:r>
              <a:rPr sz="950" b="0" i="0">
                <a:solidFill>
                  <a:srgbClr val="667788"/>
                </a:solidFill>
              </a:rPr>
              <a:t>Am Law 200</a:t>
            </a:r>
          </a:p>
        </p:txBody>
      </p:sp>
      <p:sp>
        <p:nvSpPr>
          <p:cNvPr id="36" name="TextBox 35"/>
          <p:cNvSpPr txBox="1"/>
          <p:nvPr/>
        </p:nvSpPr>
        <p:spPr>
          <a:xfrm>
            <a:off x="5303520" y="5760720"/>
            <a:ext cx="777240" cy="292608"/>
          </a:xfrm>
          <a:prstGeom prst="rect">
            <a:avLst/>
          </a:prstGeom>
          <a:noFill/>
        </p:spPr>
        <p:txBody>
          <a:bodyPr wrap="square">
            <a:spAutoFit/>
          </a:bodyPr>
          <a:lstStyle/>
          <a:p>
            <a:pPr algn="r"/>
            <a:r>
              <a:rPr sz="1000" b="1" i="0">
                <a:solidFill>
                  <a:srgbClr val="20E898"/>
                </a:solidFill>
              </a:rPr>
              <a:t>$150K</a:t>
            </a:r>
          </a:p>
        </p:txBody>
      </p:sp>
      <p:sp>
        <p:nvSpPr>
          <p:cNvPr id="37" name="TextBox 36"/>
          <p:cNvSpPr txBox="1"/>
          <p:nvPr/>
        </p:nvSpPr>
        <p:spPr>
          <a:xfrm>
            <a:off x="502920" y="6089904"/>
            <a:ext cx="2286000" cy="292608"/>
          </a:xfrm>
          <a:prstGeom prst="rect">
            <a:avLst/>
          </a:prstGeom>
          <a:noFill/>
        </p:spPr>
        <p:txBody>
          <a:bodyPr wrap="square">
            <a:spAutoFit/>
          </a:bodyPr>
          <a:lstStyle/>
          <a:p>
            <a:pPr algn="l"/>
            <a:r>
              <a:rPr sz="1000" b="0" i="0">
                <a:solidFill>
                  <a:srgbClr val="FAF7F0"/>
                </a:solidFill>
              </a:rPr>
              <a:t>CRC Group + INSUREtrust</a:t>
            </a:r>
          </a:p>
        </p:txBody>
      </p:sp>
      <p:sp>
        <p:nvSpPr>
          <p:cNvPr id="38" name="TextBox 37"/>
          <p:cNvSpPr txBox="1"/>
          <p:nvPr/>
        </p:nvSpPr>
        <p:spPr>
          <a:xfrm>
            <a:off x="2834640" y="6089904"/>
            <a:ext cx="2331720" cy="292608"/>
          </a:xfrm>
          <a:prstGeom prst="rect">
            <a:avLst/>
          </a:prstGeom>
          <a:noFill/>
        </p:spPr>
        <p:txBody>
          <a:bodyPr wrap="square">
            <a:spAutoFit/>
          </a:bodyPr>
          <a:lstStyle/>
          <a:p>
            <a:pPr algn="l"/>
            <a:r>
              <a:rPr sz="950" b="0" i="0">
                <a:solidFill>
                  <a:srgbClr val="667788"/>
                </a:solidFill>
              </a:rPr>
              <a:t>Insurance</a:t>
            </a:r>
          </a:p>
        </p:txBody>
      </p:sp>
      <p:sp>
        <p:nvSpPr>
          <p:cNvPr id="39" name="TextBox 38"/>
          <p:cNvSpPr txBox="1"/>
          <p:nvPr/>
        </p:nvSpPr>
        <p:spPr>
          <a:xfrm>
            <a:off x="5303520" y="6089904"/>
            <a:ext cx="777240" cy="292608"/>
          </a:xfrm>
          <a:prstGeom prst="rect">
            <a:avLst/>
          </a:prstGeom>
          <a:noFill/>
        </p:spPr>
        <p:txBody>
          <a:bodyPr wrap="square">
            <a:spAutoFit/>
          </a:bodyPr>
          <a:lstStyle/>
          <a:p>
            <a:pPr algn="r"/>
            <a:r>
              <a:rPr sz="1000" b="1" i="0">
                <a:solidFill>
                  <a:srgbClr val="20E898"/>
                </a:solidFill>
              </a:rPr>
              <a:t>$300K</a:t>
            </a:r>
          </a:p>
        </p:txBody>
      </p:sp>
      <p:sp>
        <p:nvSpPr>
          <p:cNvPr id="40" name="TextBox 39"/>
          <p:cNvSpPr txBox="1"/>
          <p:nvPr/>
        </p:nvSpPr>
        <p:spPr>
          <a:xfrm>
            <a:off x="502920" y="6419088"/>
            <a:ext cx="2286000" cy="292608"/>
          </a:xfrm>
          <a:prstGeom prst="rect">
            <a:avLst/>
          </a:prstGeom>
          <a:noFill/>
        </p:spPr>
        <p:txBody>
          <a:bodyPr wrap="square">
            <a:spAutoFit/>
          </a:bodyPr>
          <a:lstStyle/>
          <a:p>
            <a:pPr algn="l"/>
            <a:r>
              <a:rPr sz="1000" b="0" i="0">
                <a:solidFill>
                  <a:srgbClr val="667788"/>
                </a:solidFill>
              </a:rPr>
              <a:t>+ 10 additional leads</a:t>
            </a:r>
          </a:p>
        </p:txBody>
      </p:sp>
      <p:sp>
        <p:nvSpPr>
          <p:cNvPr id="41" name="TextBox 40"/>
          <p:cNvSpPr txBox="1"/>
          <p:nvPr/>
        </p:nvSpPr>
        <p:spPr>
          <a:xfrm>
            <a:off x="2834640" y="6419088"/>
            <a:ext cx="2331720" cy="292608"/>
          </a:xfrm>
          <a:prstGeom prst="rect">
            <a:avLst/>
          </a:prstGeom>
          <a:noFill/>
        </p:spPr>
        <p:txBody>
          <a:bodyPr wrap="square">
            <a:spAutoFit/>
          </a:bodyPr>
          <a:lstStyle/>
          <a:p>
            <a:pPr algn="l"/>
            <a:r>
              <a:rPr sz="950" b="0" i="0">
                <a:solidFill>
                  <a:srgbClr val="667788"/>
                </a:solidFill>
              </a:rPr>
              <a:t>Various</a:t>
            </a:r>
          </a:p>
        </p:txBody>
      </p:sp>
      <p:sp>
        <p:nvSpPr>
          <p:cNvPr id="42" name="TextBox 41"/>
          <p:cNvSpPr txBox="1"/>
          <p:nvPr/>
        </p:nvSpPr>
        <p:spPr>
          <a:xfrm>
            <a:off x="5303520" y="6419088"/>
            <a:ext cx="777240" cy="292608"/>
          </a:xfrm>
          <a:prstGeom prst="rect">
            <a:avLst/>
          </a:prstGeom>
          <a:noFill/>
        </p:spPr>
        <p:txBody>
          <a:bodyPr wrap="square">
            <a:spAutoFit/>
          </a:bodyPr>
          <a:lstStyle/>
          <a:p>
            <a:pPr algn="r"/>
            <a:r>
              <a:rPr sz="1000" b="1" i="0">
                <a:solidFill>
                  <a:srgbClr val="20E898"/>
                </a:solidFill>
              </a:rPr>
              <a:t>$655K</a:t>
            </a:r>
          </a:p>
        </p:txBody>
      </p:sp>
      <p:sp>
        <p:nvSpPr>
          <p:cNvPr id="43" name="Rectangle 42"/>
          <p:cNvSpPr/>
          <p:nvPr/>
        </p:nvSpPr>
        <p:spPr>
          <a:xfrm>
            <a:off x="347472" y="6400800"/>
            <a:ext cx="5852160" cy="12700"/>
          </a:xfrm>
          <a:prstGeom prst="rect">
            <a:avLst/>
          </a:prstGeom>
          <a:solidFill>
            <a:srgbClr val="4455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347472" y="6492240"/>
            <a:ext cx="5852160" cy="274320"/>
          </a:xfrm>
          <a:prstGeom prst="rect">
            <a:avLst/>
          </a:prstGeom>
          <a:solidFill>
            <a:srgbClr val="0822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02920" y="6510528"/>
            <a:ext cx="5577840" cy="228600"/>
          </a:xfrm>
          <a:prstGeom prst="rect">
            <a:avLst/>
          </a:prstGeom>
          <a:noFill/>
        </p:spPr>
        <p:txBody>
          <a:bodyPr wrap="square">
            <a:spAutoFit/>
          </a:bodyPr>
          <a:lstStyle/>
          <a:p>
            <a:pPr algn="l"/>
            <a:r>
              <a:rPr sz="1100" b="1" i="0">
                <a:solidFill>
                  <a:srgbClr val="20E898"/>
                </a:solidFill>
              </a:rPr>
              <a:t>Pipeline total:  $4.25M ARR</a:t>
            </a:r>
          </a:p>
        </p:txBody>
      </p:sp>
      <p:sp>
        <p:nvSpPr>
          <p:cNvPr id="46" name="Rectangle 45"/>
          <p:cNvSpPr/>
          <p:nvPr/>
        </p:nvSpPr>
        <p:spPr>
          <a:xfrm>
            <a:off x="6492240" y="749808"/>
            <a:ext cx="5440680" cy="5943600"/>
          </a:xfrm>
          <a:prstGeom prst="rect">
            <a:avLst/>
          </a:prstGeom>
          <a:solidFill>
            <a:srgbClr val="0D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492240" y="749808"/>
            <a:ext cx="5440680" cy="54864"/>
          </a:xfrm>
          <a:prstGeom prst="rect">
            <a:avLst/>
          </a:prstGeom>
          <a:solidFill>
            <a:srgbClr val="4DEF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629400" y="877824"/>
            <a:ext cx="5120640" cy="347472"/>
          </a:xfrm>
          <a:prstGeom prst="rect">
            <a:avLst/>
          </a:prstGeom>
          <a:noFill/>
        </p:spPr>
        <p:txBody>
          <a:bodyPr wrap="square">
            <a:spAutoFit/>
          </a:bodyPr>
          <a:lstStyle/>
          <a:p>
            <a:pPr algn="l"/>
            <a:r>
              <a:rPr sz="1200" b="1" i="0">
                <a:solidFill>
                  <a:srgbClr val="4DEFAB"/>
                </a:solidFill>
              </a:rPr>
              <a:t>5-Year Projection  (Base Case)</a:t>
            </a:r>
          </a:p>
        </p:txBody>
      </p:sp>
      <p:sp>
        <p:nvSpPr>
          <p:cNvPr id="49" name="Rectangle 48"/>
          <p:cNvSpPr/>
          <p:nvPr/>
        </p:nvSpPr>
        <p:spPr>
          <a:xfrm>
            <a:off x="6858000" y="6447332"/>
            <a:ext cx="658368" cy="44907"/>
          </a:xfrm>
          <a:prstGeom prst="rect">
            <a:avLst/>
          </a:prstGeom>
          <a:solidFill>
            <a:srgbClr val="040C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6812280" y="6401612"/>
            <a:ext cx="658368" cy="44907"/>
          </a:xfrm>
          <a:prstGeom prst="rect">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739128" y="6054140"/>
            <a:ext cx="804672" cy="292608"/>
          </a:xfrm>
          <a:prstGeom prst="rect">
            <a:avLst/>
          </a:prstGeom>
          <a:noFill/>
        </p:spPr>
        <p:txBody>
          <a:bodyPr wrap="square">
            <a:spAutoFit/>
          </a:bodyPr>
          <a:lstStyle/>
          <a:p>
            <a:pPr algn="ctr"/>
            <a:r>
              <a:rPr sz="950" b="1" i="0">
                <a:solidFill>
                  <a:srgbClr val="20E898"/>
                </a:solidFill>
              </a:rPr>
              <a:t>$4M</a:t>
            </a:r>
          </a:p>
        </p:txBody>
      </p:sp>
      <p:sp>
        <p:nvSpPr>
          <p:cNvPr id="52" name="TextBox 51"/>
          <p:cNvSpPr txBox="1"/>
          <p:nvPr/>
        </p:nvSpPr>
        <p:spPr>
          <a:xfrm>
            <a:off x="6812280" y="6492240"/>
            <a:ext cx="658368" cy="274320"/>
          </a:xfrm>
          <a:prstGeom prst="rect">
            <a:avLst/>
          </a:prstGeom>
          <a:noFill/>
        </p:spPr>
        <p:txBody>
          <a:bodyPr wrap="square">
            <a:spAutoFit/>
          </a:bodyPr>
          <a:lstStyle/>
          <a:p>
            <a:pPr algn="ctr"/>
            <a:r>
              <a:rPr sz="1000" b="0" i="0">
                <a:solidFill>
                  <a:srgbClr val="667788"/>
                </a:solidFill>
              </a:rPr>
              <a:t>Yr 1</a:t>
            </a:r>
          </a:p>
        </p:txBody>
      </p:sp>
      <p:sp>
        <p:nvSpPr>
          <p:cNvPr id="53" name="Rectangle 52"/>
          <p:cNvSpPr/>
          <p:nvPr/>
        </p:nvSpPr>
        <p:spPr>
          <a:xfrm>
            <a:off x="7955280" y="6259779"/>
            <a:ext cx="658368" cy="232460"/>
          </a:xfrm>
          <a:prstGeom prst="rect">
            <a:avLst/>
          </a:prstGeom>
          <a:solidFill>
            <a:srgbClr val="040C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7909560" y="6214059"/>
            <a:ext cx="658368" cy="232460"/>
          </a:xfrm>
          <a:prstGeom prst="rect">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836408" y="5866587"/>
            <a:ext cx="804672" cy="292608"/>
          </a:xfrm>
          <a:prstGeom prst="rect">
            <a:avLst/>
          </a:prstGeom>
          <a:noFill/>
        </p:spPr>
        <p:txBody>
          <a:bodyPr wrap="square">
            <a:spAutoFit/>
          </a:bodyPr>
          <a:lstStyle/>
          <a:p>
            <a:pPr algn="ctr"/>
            <a:r>
              <a:rPr sz="950" b="1" i="0">
                <a:solidFill>
                  <a:srgbClr val="20E898"/>
                </a:solidFill>
              </a:rPr>
              <a:t>$22M</a:t>
            </a:r>
          </a:p>
        </p:txBody>
      </p:sp>
      <p:sp>
        <p:nvSpPr>
          <p:cNvPr id="56" name="TextBox 55"/>
          <p:cNvSpPr txBox="1"/>
          <p:nvPr/>
        </p:nvSpPr>
        <p:spPr>
          <a:xfrm>
            <a:off x="7909560" y="6492240"/>
            <a:ext cx="658368" cy="274320"/>
          </a:xfrm>
          <a:prstGeom prst="rect">
            <a:avLst/>
          </a:prstGeom>
          <a:noFill/>
        </p:spPr>
        <p:txBody>
          <a:bodyPr wrap="square">
            <a:spAutoFit/>
          </a:bodyPr>
          <a:lstStyle/>
          <a:p>
            <a:pPr algn="ctr"/>
            <a:r>
              <a:rPr sz="1000" b="0" i="0">
                <a:solidFill>
                  <a:srgbClr val="667788"/>
                </a:solidFill>
              </a:rPr>
              <a:t>Yr 2</a:t>
            </a:r>
          </a:p>
        </p:txBody>
      </p:sp>
      <p:sp>
        <p:nvSpPr>
          <p:cNvPr id="57" name="Rectangle 56"/>
          <p:cNvSpPr/>
          <p:nvPr/>
        </p:nvSpPr>
        <p:spPr>
          <a:xfrm>
            <a:off x="9052560" y="5773724"/>
            <a:ext cx="658368" cy="718515"/>
          </a:xfrm>
          <a:prstGeom prst="rect">
            <a:avLst/>
          </a:prstGeom>
          <a:solidFill>
            <a:srgbClr val="040C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9006840" y="5728004"/>
            <a:ext cx="658368" cy="718515"/>
          </a:xfrm>
          <a:prstGeom prst="rect">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933688" y="5380532"/>
            <a:ext cx="804672" cy="292608"/>
          </a:xfrm>
          <a:prstGeom prst="rect">
            <a:avLst/>
          </a:prstGeom>
          <a:noFill/>
        </p:spPr>
        <p:txBody>
          <a:bodyPr wrap="square">
            <a:spAutoFit/>
          </a:bodyPr>
          <a:lstStyle/>
          <a:p>
            <a:pPr algn="ctr"/>
            <a:r>
              <a:rPr sz="950" b="1" i="0">
                <a:solidFill>
                  <a:srgbClr val="20E898"/>
                </a:solidFill>
              </a:rPr>
              <a:t>$68M</a:t>
            </a:r>
          </a:p>
        </p:txBody>
      </p:sp>
      <p:sp>
        <p:nvSpPr>
          <p:cNvPr id="60" name="TextBox 59"/>
          <p:cNvSpPr txBox="1"/>
          <p:nvPr/>
        </p:nvSpPr>
        <p:spPr>
          <a:xfrm>
            <a:off x="9006840" y="6492240"/>
            <a:ext cx="658368" cy="274320"/>
          </a:xfrm>
          <a:prstGeom prst="rect">
            <a:avLst/>
          </a:prstGeom>
          <a:noFill/>
        </p:spPr>
        <p:txBody>
          <a:bodyPr wrap="square">
            <a:spAutoFit/>
          </a:bodyPr>
          <a:lstStyle/>
          <a:p>
            <a:pPr algn="ctr"/>
            <a:r>
              <a:rPr sz="1000" b="0" i="0">
                <a:solidFill>
                  <a:srgbClr val="667788"/>
                </a:solidFill>
              </a:rPr>
              <a:t>Yr 3</a:t>
            </a:r>
          </a:p>
        </p:txBody>
      </p:sp>
      <p:sp>
        <p:nvSpPr>
          <p:cNvPr id="61" name="Rectangle 60"/>
          <p:cNvSpPr/>
          <p:nvPr/>
        </p:nvSpPr>
        <p:spPr>
          <a:xfrm>
            <a:off x="10149840" y="4590288"/>
            <a:ext cx="658368" cy="1901952"/>
          </a:xfrm>
          <a:prstGeom prst="rect">
            <a:avLst/>
          </a:prstGeom>
          <a:solidFill>
            <a:srgbClr val="040C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10104120" y="4544568"/>
            <a:ext cx="658368" cy="1901952"/>
          </a:xfrm>
          <a:prstGeom prst="rect">
            <a:avLst/>
          </a:prstGeom>
          <a:solidFill>
            <a:srgbClr val="4DEF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0030968" y="4197096"/>
            <a:ext cx="804672" cy="292608"/>
          </a:xfrm>
          <a:prstGeom prst="rect">
            <a:avLst/>
          </a:prstGeom>
          <a:noFill/>
        </p:spPr>
        <p:txBody>
          <a:bodyPr wrap="square">
            <a:spAutoFit/>
          </a:bodyPr>
          <a:lstStyle/>
          <a:p>
            <a:pPr algn="ctr"/>
            <a:r>
              <a:rPr sz="950" b="1" i="0">
                <a:solidFill>
                  <a:srgbClr val="4DEFAB"/>
                </a:solidFill>
              </a:rPr>
              <a:t>$180M</a:t>
            </a:r>
          </a:p>
        </p:txBody>
      </p:sp>
      <p:sp>
        <p:nvSpPr>
          <p:cNvPr id="64" name="TextBox 63"/>
          <p:cNvSpPr txBox="1"/>
          <p:nvPr/>
        </p:nvSpPr>
        <p:spPr>
          <a:xfrm>
            <a:off x="10104120" y="6492240"/>
            <a:ext cx="658368" cy="274320"/>
          </a:xfrm>
          <a:prstGeom prst="rect">
            <a:avLst/>
          </a:prstGeom>
          <a:noFill/>
        </p:spPr>
        <p:txBody>
          <a:bodyPr wrap="square">
            <a:spAutoFit/>
          </a:bodyPr>
          <a:lstStyle/>
          <a:p>
            <a:pPr algn="ctr"/>
            <a:r>
              <a:rPr sz="1000" b="0" i="0">
                <a:solidFill>
                  <a:srgbClr val="667788"/>
                </a:solidFill>
              </a:rPr>
              <a:t>Yr 4</a:t>
            </a:r>
          </a:p>
        </p:txBody>
      </p:sp>
      <p:sp>
        <p:nvSpPr>
          <p:cNvPr id="65" name="Rectangle 64"/>
          <p:cNvSpPr/>
          <p:nvPr/>
        </p:nvSpPr>
        <p:spPr>
          <a:xfrm>
            <a:off x="11247120" y="1737360"/>
            <a:ext cx="658368" cy="4754880"/>
          </a:xfrm>
          <a:prstGeom prst="rect">
            <a:avLst/>
          </a:prstGeom>
          <a:solidFill>
            <a:srgbClr val="040C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11201400" y="1691640"/>
            <a:ext cx="658368" cy="4754880"/>
          </a:xfrm>
          <a:prstGeom prst="rect">
            <a:avLst/>
          </a:prstGeom>
          <a:solidFill>
            <a:srgbClr val="4DEF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11128248" y="1344168"/>
            <a:ext cx="804672" cy="292608"/>
          </a:xfrm>
          <a:prstGeom prst="rect">
            <a:avLst/>
          </a:prstGeom>
          <a:noFill/>
        </p:spPr>
        <p:txBody>
          <a:bodyPr wrap="square">
            <a:spAutoFit/>
          </a:bodyPr>
          <a:lstStyle/>
          <a:p>
            <a:pPr algn="ctr"/>
            <a:r>
              <a:rPr sz="950" b="1" i="0">
                <a:solidFill>
                  <a:srgbClr val="4DEFAB"/>
                </a:solidFill>
              </a:rPr>
              <a:t>$450M</a:t>
            </a:r>
          </a:p>
        </p:txBody>
      </p:sp>
      <p:sp>
        <p:nvSpPr>
          <p:cNvPr id="68" name="TextBox 67"/>
          <p:cNvSpPr txBox="1"/>
          <p:nvPr/>
        </p:nvSpPr>
        <p:spPr>
          <a:xfrm>
            <a:off x="11201400" y="6492240"/>
            <a:ext cx="658368" cy="274320"/>
          </a:xfrm>
          <a:prstGeom prst="rect">
            <a:avLst/>
          </a:prstGeom>
          <a:noFill/>
        </p:spPr>
        <p:txBody>
          <a:bodyPr wrap="square">
            <a:spAutoFit/>
          </a:bodyPr>
          <a:lstStyle/>
          <a:p>
            <a:pPr algn="ctr"/>
            <a:r>
              <a:rPr sz="1000" b="0" i="0">
                <a:solidFill>
                  <a:srgbClr val="667788"/>
                </a:solidFill>
              </a:rPr>
              <a:t>Yr 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40C16"/>
        </a:solidFill>
        <a:effectLst/>
      </p:bgPr>
    </p:bg>
    <p:spTree>
      <p:nvGrpSpPr>
        <p:cNvPr id="1" name=""/>
        <p:cNvGrpSpPr/>
        <p:nvPr/>
      </p:nvGrpSpPr>
      <p:grpSpPr/>
      <p:pic>
        <p:nvPicPr>
          <p:cNvPr id="2" name="Picture 1" descr="ledgerproof-logo.png"/>
          <p:cNvPicPr>
            <a:picLocks noChangeAspect="1"/>
          </p:cNvPicPr>
          <p:nvPr/>
        </p:nvPicPr>
        <p:blipFill>
          <a:blip r:embed="rId2"/>
          <a:stretch>
            <a:fillRect/>
          </a:stretch>
        </p:blipFill>
        <p:spPr>
          <a:xfrm>
            <a:off x="347472" y="182880"/>
            <a:ext cx="1691640" cy="912781"/>
          </a:xfrm>
          <a:prstGeom prst="rect">
            <a:avLst/>
          </a:prstGeom>
        </p:spPr>
      </p:pic>
      <p:sp>
        <p:nvSpPr>
          <p:cNvPr id="3" name="TextBox 2"/>
          <p:cNvSpPr txBox="1"/>
          <p:nvPr/>
        </p:nvSpPr>
        <p:spPr>
          <a:xfrm>
            <a:off x="9784080" y="201168"/>
            <a:ext cx="2286000" cy="347472"/>
          </a:xfrm>
          <a:prstGeom prst="rect">
            <a:avLst/>
          </a:prstGeom>
          <a:noFill/>
        </p:spPr>
        <p:txBody>
          <a:bodyPr wrap="square">
            <a:spAutoFit/>
          </a:bodyPr>
          <a:lstStyle/>
          <a:p>
            <a:pPr algn="r"/>
            <a:r>
              <a:rPr sz="850" b="1" i="0">
                <a:solidFill>
                  <a:srgbClr val="335566"/>
                </a:solidFill>
              </a:rPr>
              <a:t>UNIT ECONOMICS</a:t>
            </a:r>
          </a:p>
        </p:txBody>
      </p:sp>
      <p:sp>
        <p:nvSpPr>
          <p:cNvPr id="4" name="TextBox 3"/>
          <p:cNvSpPr txBox="1"/>
          <p:nvPr/>
        </p:nvSpPr>
        <p:spPr>
          <a:xfrm>
            <a:off x="5029200" y="-457200"/>
            <a:ext cx="8229600" cy="5486400"/>
          </a:xfrm>
          <a:prstGeom prst="rect">
            <a:avLst/>
          </a:prstGeom>
          <a:noFill/>
        </p:spPr>
        <p:txBody>
          <a:bodyPr wrap="square">
            <a:spAutoFit/>
          </a:bodyPr>
          <a:lstStyle/>
          <a:p>
            <a:pPr algn="l"/>
            <a:r>
              <a:rPr sz="29000" b="1" i="0">
                <a:solidFill>
                  <a:srgbClr val="0C1C2E"/>
                </a:solidFill>
              </a:rPr>
              <a:t>22:1</a:t>
            </a:r>
          </a:p>
        </p:txBody>
      </p:sp>
      <p:sp>
        <p:nvSpPr>
          <p:cNvPr id="5" name="TextBox 4"/>
          <p:cNvSpPr txBox="1"/>
          <p:nvPr/>
        </p:nvSpPr>
        <p:spPr>
          <a:xfrm>
            <a:off x="347472" y="822960"/>
            <a:ext cx="5943600" cy="1097280"/>
          </a:xfrm>
          <a:prstGeom prst="rect">
            <a:avLst/>
          </a:prstGeom>
          <a:noFill/>
        </p:spPr>
        <p:txBody>
          <a:bodyPr wrap="square">
            <a:spAutoFit/>
          </a:bodyPr>
          <a:lstStyle/>
          <a:p>
            <a:pPr algn="l"/>
            <a:r>
              <a:rPr sz="2800" b="1" i="0">
                <a:solidFill>
                  <a:srgbClr val="FFFFFF"/>
                </a:solidFill>
              </a:rPr>
              <a:t>The margin profile of
infrastructure, not software.</a:t>
            </a:r>
          </a:p>
        </p:txBody>
      </p:sp>
      <p:sp>
        <p:nvSpPr>
          <p:cNvPr id="6" name="Rectangle 5"/>
          <p:cNvSpPr/>
          <p:nvPr/>
        </p:nvSpPr>
        <p:spPr>
          <a:xfrm>
            <a:off x="347472" y="2029968"/>
            <a:ext cx="2286000" cy="38100"/>
          </a:xfrm>
          <a:prstGeom prst="rect">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47472" y="2240280"/>
            <a:ext cx="4572000" cy="457200"/>
          </a:xfrm>
          <a:prstGeom prst="rect">
            <a:avLst/>
          </a:prstGeom>
          <a:noFill/>
        </p:spPr>
        <p:txBody>
          <a:bodyPr wrap="square">
            <a:spAutoFit/>
          </a:bodyPr>
          <a:lstStyle/>
          <a:p>
            <a:pPr algn="l"/>
            <a:r>
              <a:rPr sz="1400" b="1" i="0">
                <a:solidFill>
                  <a:srgbClr val="667788"/>
                </a:solidFill>
              </a:rPr>
              <a:t>LTV : CAC</a:t>
            </a:r>
          </a:p>
        </p:txBody>
      </p:sp>
      <p:sp>
        <p:nvSpPr>
          <p:cNvPr id="8" name="TextBox 7"/>
          <p:cNvSpPr txBox="1"/>
          <p:nvPr/>
        </p:nvSpPr>
        <p:spPr>
          <a:xfrm>
            <a:off x="347472" y="2743200"/>
            <a:ext cx="3200400" cy="1097280"/>
          </a:xfrm>
          <a:prstGeom prst="rect">
            <a:avLst/>
          </a:prstGeom>
          <a:noFill/>
        </p:spPr>
        <p:txBody>
          <a:bodyPr wrap="square">
            <a:spAutoFit/>
          </a:bodyPr>
          <a:lstStyle/>
          <a:p>
            <a:pPr algn="l"/>
            <a:r>
              <a:rPr sz="8000" b="1" i="0">
                <a:solidFill>
                  <a:srgbClr val="20E898"/>
                </a:solidFill>
              </a:rPr>
              <a:t>22:1</a:t>
            </a:r>
          </a:p>
        </p:txBody>
      </p:sp>
      <p:sp>
        <p:nvSpPr>
          <p:cNvPr id="9" name="TextBox 8"/>
          <p:cNvSpPr txBox="1"/>
          <p:nvPr/>
        </p:nvSpPr>
        <p:spPr>
          <a:xfrm>
            <a:off x="347472" y="3794760"/>
            <a:ext cx="4114800" cy="365760"/>
          </a:xfrm>
          <a:prstGeom prst="rect">
            <a:avLst/>
          </a:prstGeom>
          <a:noFill/>
        </p:spPr>
        <p:txBody>
          <a:bodyPr wrap="square">
            <a:spAutoFit/>
          </a:bodyPr>
          <a:lstStyle/>
          <a:p>
            <a:pPr algn="l"/>
            <a:r>
              <a:rPr sz="1200" b="0" i="0">
                <a:solidFill>
                  <a:srgbClr val="FAF7F0"/>
                </a:solidFill>
              </a:rPr>
              <a:t>Direct enterprise sales</a:t>
            </a:r>
          </a:p>
        </p:txBody>
      </p:sp>
      <p:sp>
        <p:nvSpPr>
          <p:cNvPr id="10" name="TextBox 9"/>
          <p:cNvSpPr txBox="1"/>
          <p:nvPr/>
        </p:nvSpPr>
        <p:spPr>
          <a:xfrm>
            <a:off x="347472" y="4160520"/>
            <a:ext cx="3200400" cy="1097280"/>
          </a:xfrm>
          <a:prstGeom prst="rect">
            <a:avLst/>
          </a:prstGeom>
          <a:noFill/>
        </p:spPr>
        <p:txBody>
          <a:bodyPr wrap="square">
            <a:spAutoFit/>
          </a:bodyPr>
          <a:lstStyle/>
          <a:p>
            <a:pPr algn="l"/>
            <a:r>
              <a:rPr sz="8000" b="1" i="0">
                <a:solidFill>
                  <a:srgbClr val="4DEFAB"/>
                </a:solidFill>
              </a:rPr>
              <a:t>83:1</a:t>
            </a:r>
          </a:p>
        </p:txBody>
      </p:sp>
      <p:sp>
        <p:nvSpPr>
          <p:cNvPr id="11" name="TextBox 10"/>
          <p:cNvSpPr txBox="1"/>
          <p:nvPr/>
        </p:nvSpPr>
        <p:spPr>
          <a:xfrm>
            <a:off x="347472" y="5212080"/>
            <a:ext cx="4114800" cy="365760"/>
          </a:xfrm>
          <a:prstGeom prst="rect">
            <a:avLst/>
          </a:prstGeom>
          <a:noFill/>
        </p:spPr>
        <p:txBody>
          <a:bodyPr wrap="square">
            <a:spAutoFit/>
          </a:bodyPr>
          <a:lstStyle/>
          <a:p>
            <a:pPr algn="l"/>
            <a:r>
              <a:rPr sz="1200" b="0" i="0">
                <a:solidFill>
                  <a:srgbClr val="FAF7F0"/>
                </a:solidFill>
              </a:rPr>
              <a:t>Channel / integration</a:t>
            </a:r>
          </a:p>
        </p:txBody>
      </p:sp>
      <p:sp>
        <p:nvSpPr>
          <p:cNvPr id="12" name="TextBox 11"/>
          <p:cNvSpPr txBox="1"/>
          <p:nvPr/>
        </p:nvSpPr>
        <p:spPr>
          <a:xfrm>
            <a:off x="347472" y="5715000"/>
            <a:ext cx="4114800" cy="347472"/>
          </a:xfrm>
          <a:prstGeom prst="rect">
            <a:avLst/>
          </a:prstGeom>
          <a:noFill/>
        </p:spPr>
        <p:txBody>
          <a:bodyPr wrap="square">
            <a:spAutoFit/>
          </a:bodyPr>
          <a:lstStyle/>
          <a:p>
            <a:pPr algn="l"/>
            <a:r>
              <a:rPr sz="1100" b="1" i="1">
                <a:solidFill>
                  <a:srgbClr val="F7931A"/>
                </a:solidFill>
              </a:rPr>
              <a:t>Benchmark: top-quartile SaaS = 3:1</a:t>
            </a:r>
          </a:p>
        </p:txBody>
      </p:sp>
      <p:sp>
        <p:nvSpPr>
          <p:cNvPr id="13" name="Rectangle 12"/>
          <p:cNvSpPr/>
          <p:nvPr/>
        </p:nvSpPr>
        <p:spPr>
          <a:xfrm>
            <a:off x="4846320" y="749808"/>
            <a:ext cx="7132320" cy="5943600"/>
          </a:xfrm>
          <a:prstGeom prst="rect">
            <a:avLst/>
          </a:prstGeom>
          <a:solidFill>
            <a:srgbClr val="0D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846320" y="749808"/>
            <a:ext cx="7132320" cy="54864"/>
          </a:xfrm>
          <a:prstGeom prst="rect">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0" y="896112"/>
            <a:ext cx="6766560" cy="347472"/>
          </a:xfrm>
          <a:prstGeom prst="rect">
            <a:avLst/>
          </a:prstGeom>
          <a:noFill/>
        </p:spPr>
        <p:txBody>
          <a:bodyPr wrap="square">
            <a:spAutoFit/>
          </a:bodyPr>
          <a:lstStyle/>
          <a:p>
            <a:pPr algn="l"/>
            <a:r>
              <a:rPr sz="1200" b="1" i="0">
                <a:solidFill>
                  <a:srgbClr val="20E898"/>
                </a:solidFill>
              </a:rPr>
              <a:t>Receipt-Level Economics</a:t>
            </a:r>
          </a:p>
        </p:txBody>
      </p:sp>
      <p:sp>
        <p:nvSpPr>
          <p:cNvPr id="16" name="TextBox 15"/>
          <p:cNvSpPr txBox="1"/>
          <p:nvPr/>
        </p:nvSpPr>
        <p:spPr>
          <a:xfrm>
            <a:off x="5029200" y="1371600"/>
            <a:ext cx="4754880" cy="320040"/>
          </a:xfrm>
          <a:prstGeom prst="rect">
            <a:avLst/>
          </a:prstGeom>
          <a:noFill/>
        </p:spPr>
        <p:txBody>
          <a:bodyPr wrap="square">
            <a:spAutoFit/>
          </a:bodyPr>
          <a:lstStyle/>
          <a:p>
            <a:pPr algn="l"/>
            <a:r>
              <a:rPr sz="1100" b="0" i="0">
                <a:solidFill>
                  <a:srgbClr val="667788"/>
                </a:solidFill>
              </a:rPr>
              <a:t>Revenue per receipt</a:t>
            </a:r>
          </a:p>
        </p:txBody>
      </p:sp>
      <p:sp>
        <p:nvSpPr>
          <p:cNvPr id="17" name="TextBox 16"/>
          <p:cNvSpPr txBox="1"/>
          <p:nvPr/>
        </p:nvSpPr>
        <p:spPr>
          <a:xfrm>
            <a:off x="9875520" y="1371600"/>
            <a:ext cx="1920240" cy="320040"/>
          </a:xfrm>
          <a:prstGeom prst="rect">
            <a:avLst/>
          </a:prstGeom>
          <a:noFill/>
        </p:spPr>
        <p:txBody>
          <a:bodyPr wrap="square">
            <a:spAutoFit/>
          </a:bodyPr>
          <a:lstStyle/>
          <a:p>
            <a:pPr algn="r"/>
            <a:r>
              <a:rPr sz="1200" b="0" i="0">
                <a:solidFill>
                  <a:srgbClr val="FAF7F0"/>
                </a:solidFill>
              </a:rPr>
              <a:t>$0.10 – $2.00</a:t>
            </a:r>
          </a:p>
        </p:txBody>
      </p:sp>
      <p:sp>
        <p:nvSpPr>
          <p:cNvPr id="18" name="TextBox 17"/>
          <p:cNvSpPr txBox="1"/>
          <p:nvPr/>
        </p:nvSpPr>
        <p:spPr>
          <a:xfrm>
            <a:off x="5029200" y="1719072"/>
            <a:ext cx="4754880" cy="320040"/>
          </a:xfrm>
          <a:prstGeom prst="rect">
            <a:avLst/>
          </a:prstGeom>
          <a:noFill/>
        </p:spPr>
        <p:txBody>
          <a:bodyPr wrap="square">
            <a:spAutoFit/>
          </a:bodyPr>
          <a:lstStyle/>
          <a:p>
            <a:pPr algn="l"/>
            <a:r>
              <a:rPr sz="1100" b="0" i="0">
                <a:solidFill>
                  <a:srgbClr val="667788"/>
                </a:solidFill>
              </a:rPr>
              <a:t>Bitcoin OP_RETURN fee</a:t>
            </a:r>
          </a:p>
        </p:txBody>
      </p:sp>
      <p:sp>
        <p:nvSpPr>
          <p:cNvPr id="19" name="TextBox 18"/>
          <p:cNvSpPr txBox="1"/>
          <p:nvPr/>
        </p:nvSpPr>
        <p:spPr>
          <a:xfrm>
            <a:off x="9875520" y="1719072"/>
            <a:ext cx="1920240" cy="320040"/>
          </a:xfrm>
          <a:prstGeom prst="rect">
            <a:avLst/>
          </a:prstGeom>
          <a:noFill/>
        </p:spPr>
        <p:txBody>
          <a:bodyPr wrap="square">
            <a:spAutoFit/>
          </a:bodyPr>
          <a:lstStyle/>
          <a:p>
            <a:pPr algn="r"/>
            <a:r>
              <a:rPr sz="1200" b="0" i="0">
                <a:solidFill>
                  <a:srgbClr val="FAF7F0"/>
                </a:solidFill>
              </a:rPr>
              <a:t>~$0.0002</a:t>
            </a:r>
          </a:p>
        </p:txBody>
      </p:sp>
      <p:sp>
        <p:nvSpPr>
          <p:cNvPr id="20" name="TextBox 19"/>
          <p:cNvSpPr txBox="1"/>
          <p:nvPr/>
        </p:nvSpPr>
        <p:spPr>
          <a:xfrm>
            <a:off x="5029200" y="2066544"/>
            <a:ext cx="4754880" cy="320040"/>
          </a:xfrm>
          <a:prstGeom prst="rect">
            <a:avLst/>
          </a:prstGeom>
          <a:noFill/>
        </p:spPr>
        <p:txBody>
          <a:bodyPr wrap="square">
            <a:spAutoFit/>
          </a:bodyPr>
          <a:lstStyle/>
          <a:p>
            <a:pPr algn="l"/>
            <a:r>
              <a:rPr sz="1100" b="0" i="0">
                <a:solidFill>
                  <a:srgbClr val="667788"/>
                </a:solidFill>
              </a:rPr>
              <a:t>API compute cost</a:t>
            </a:r>
          </a:p>
        </p:txBody>
      </p:sp>
      <p:sp>
        <p:nvSpPr>
          <p:cNvPr id="21" name="TextBox 20"/>
          <p:cNvSpPr txBox="1"/>
          <p:nvPr/>
        </p:nvSpPr>
        <p:spPr>
          <a:xfrm>
            <a:off x="9875520" y="2066544"/>
            <a:ext cx="1920240" cy="320040"/>
          </a:xfrm>
          <a:prstGeom prst="rect">
            <a:avLst/>
          </a:prstGeom>
          <a:noFill/>
        </p:spPr>
        <p:txBody>
          <a:bodyPr wrap="square">
            <a:spAutoFit/>
          </a:bodyPr>
          <a:lstStyle/>
          <a:p>
            <a:pPr algn="r"/>
            <a:r>
              <a:rPr sz="1200" b="0" i="0">
                <a:solidFill>
                  <a:srgbClr val="FAF7F0"/>
                </a:solidFill>
              </a:rPr>
              <a:t>~$0.0001</a:t>
            </a:r>
          </a:p>
        </p:txBody>
      </p:sp>
      <p:sp>
        <p:nvSpPr>
          <p:cNvPr id="22" name="TextBox 21"/>
          <p:cNvSpPr txBox="1"/>
          <p:nvPr/>
        </p:nvSpPr>
        <p:spPr>
          <a:xfrm>
            <a:off x="5029200" y="2414016"/>
            <a:ext cx="4754880" cy="320040"/>
          </a:xfrm>
          <a:prstGeom prst="rect">
            <a:avLst/>
          </a:prstGeom>
          <a:noFill/>
        </p:spPr>
        <p:txBody>
          <a:bodyPr wrap="square">
            <a:spAutoFit/>
          </a:bodyPr>
          <a:lstStyle/>
          <a:p>
            <a:pPr algn="l"/>
            <a:r>
              <a:rPr sz="1100" b="0" i="0">
                <a:solidFill>
                  <a:srgbClr val="667788"/>
                </a:solidFill>
              </a:rPr>
              <a:t>Gross margin per receipt</a:t>
            </a:r>
          </a:p>
        </p:txBody>
      </p:sp>
      <p:sp>
        <p:nvSpPr>
          <p:cNvPr id="23" name="TextBox 22"/>
          <p:cNvSpPr txBox="1"/>
          <p:nvPr/>
        </p:nvSpPr>
        <p:spPr>
          <a:xfrm>
            <a:off x="9875520" y="2414016"/>
            <a:ext cx="1920240" cy="320040"/>
          </a:xfrm>
          <a:prstGeom prst="rect">
            <a:avLst/>
          </a:prstGeom>
          <a:noFill/>
        </p:spPr>
        <p:txBody>
          <a:bodyPr wrap="square">
            <a:spAutoFit/>
          </a:bodyPr>
          <a:lstStyle/>
          <a:p>
            <a:pPr algn="r"/>
            <a:r>
              <a:rPr sz="1300" b="1" i="0">
                <a:solidFill>
                  <a:srgbClr val="20E898"/>
                </a:solidFill>
              </a:rPr>
              <a:t>99.97%</a:t>
            </a:r>
          </a:p>
        </p:txBody>
      </p:sp>
      <p:sp>
        <p:nvSpPr>
          <p:cNvPr id="24" name="Rectangle 23"/>
          <p:cNvSpPr/>
          <p:nvPr/>
        </p:nvSpPr>
        <p:spPr>
          <a:xfrm>
            <a:off x="5029200" y="2761488"/>
            <a:ext cx="6766560" cy="12700"/>
          </a:xfrm>
          <a:prstGeom prst="rect">
            <a:avLst/>
          </a:prstGeom>
          <a:solidFill>
            <a:srgbClr val="4455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0" y="3108960"/>
            <a:ext cx="4754880" cy="320040"/>
          </a:xfrm>
          <a:prstGeom prst="rect">
            <a:avLst/>
          </a:prstGeom>
          <a:noFill/>
        </p:spPr>
        <p:txBody>
          <a:bodyPr wrap="square">
            <a:spAutoFit/>
          </a:bodyPr>
          <a:lstStyle/>
          <a:p>
            <a:pPr algn="l"/>
            <a:r>
              <a:rPr sz="1100" b="0" i="0">
                <a:solidFill>
                  <a:srgbClr val="667788"/>
                </a:solidFill>
              </a:rPr>
              <a:t>Legal evidence packet ACV</a:t>
            </a:r>
          </a:p>
        </p:txBody>
      </p:sp>
      <p:sp>
        <p:nvSpPr>
          <p:cNvPr id="26" name="TextBox 25"/>
          <p:cNvSpPr txBox="1"/>
          <p:nvPr/>
        </p:nvSpPr>
        <p:spPr>
          <a:xfrm>
            <a:off x="9875520" y="3108960"/>
            <a:ext cx="1920240" cy="320040"/>
          </a:xfrm>
          <a:prstGeom prst="rect">
            <a:avLst/>
          </a:prstGeom>
          <a:noFill/>
        </p:spPr>
        <p:txBody>
          <a:bodyPr wrap="square">
            <a:spAutoFit/>
          </a:bodyPr>
          <a:lstStyle/>
          <a:p>
            <a:pPr algn="r"/>
            <a:r>
              <a:rPr sz="1200" b="0" i="0">
                <a:solidFill>
                  <a:srgbClr val="FAF7F0"/>
                </a:solidFill>
              </a:rPr>
              <a:t>$2,500 – $25,000</a:t>
            </a:r>
          </a:p>
        </p:txBody>
      </p:sp>
      <p:sp>
        <p:nvSpPr>
          <p:cNvPr id="27" name="TextBox 26"/>
          <p:cNvSpPr txBox="1"/>
          <p:nvPr/>
        </p:nvSpPr>
        <p:spPr>
          <a:xfrm>
            <a:off x="5029200" y="3456432"/>
            <a:ext cx="4754880" cy="320040"/>
          </a:xfrm>
          <a:prstGeom prst="rect">
            <a:avLst/>
          </a:prstGeom>
          <a:noFill/>
        </p:spPr>
        <p:txBody>
          <a:bodyPr wrap="square">
            <a:spAutoFit/>
          </a:bodyPr>
          <a:lstStyle/>
          <a:p>
            <a:pPr algn="l"/>
            <a:r>
              <a:rPr sz="1100" b="0" i="0">
                <a:solidFill>
                  <a:srgbClr val="667788"/>
                </a:solidFill>
              </a:rPr>
              <a:t>Marginal cost (packet)</a:t>
            </a:r>
          </a:p>
        </p:txBody>
      </p:sp>
      <p:sp>
        <p:nvSpPr>
          <p:cNvPr id="28" name="TextBox 27"/>
          <p:cNvSpPr txBox="1"/>
          <p:nvPr/>
        </p:nvSpPr>
        <p:spPr>
          <a:xfrm>
            <a:off x="9875520" y="3456432"/>
            <a:ext cx="1920240" cy="320040"/>
          </a:xfrm>
          <a:prstGeom prst="rect">
            <a:avLst/>
          </a:prstGeom>
          <a:noFill/>
        </p:spPr>
        <p:txBody>
          <a:bodyPr wrap="square">
            <a:spAutoFit/>
          </a:bodyPr>
          <a:lstStyle/>
          <a:p>
            <a:pPr algn="r"/>
            <a:r>
              <a:rPr sz="1200" b="0" i="0">
                <a:solidFill>
                  <a:srgbClr val="FAF7F0"/>
                </a:solidFill>
              </a:rPr>
              <a:t>~$0.001 compute</a:t>
            </a:r>
          </a:p>
        </p:txBody>
      </p:sp>
      <p:sp>
        <p:nvSpPr>
          <p:cNvPr id="29" name="TextBox 28"/>
          <p:cNvSpPr txBox="1"/>
          <p:nvPr/>
        </p:nvSpPr>
        <p:spPr>
          <a:xfrm>
            <a:off x="5029200" y="3803904"/>
            <a:ext cx="4754880" cy="320040"/>
          </a:xfrm>
          <a:prstGeom prst="rect">
            <a:avLst/>
          </a:prstGeom>
          <a:noFill/>
        </p:spPr>
        <p:txBody>
          <a:bodyPr wrap="square">
            <a:spAutoFit/>
          </a:bodyPr>
          <a:lstStyle/>
          <a:p>
            <a:pPr algn="l"/>
            <a:r>
              <a:rPr sz="1100" b="0" i="0">
                <a:solidFill>
                  <a:srgbClr val="667788"/>
                </a:solidFill>
              </a:rPr>
              <a:t>Gross margin (evidence packet)</a:t>
            </a:r>
          </a:p>
        </p:txBody>
      </p:sp>
      <p:sp>
        <p:nvSpPr>
          <p:cNvPr id="30" name="TextBox 29"/>
          <p:cNvSpPr txBox="1"/>
          <p:nvPr/>
        </p:nvSpPr>
        <p:spPr>
          <a:xfrm>
            <a:off x="9875520" y="3803904"/>
            <a:ext cx="1920240" cy="320040"/>
          </a:xfrm>
          <a:prstGeom prst="rect">
            <a:avLst/>
          </a:prstGeom>
          <a:noFill/>
        </p:spPr>
        <p:txBody>
          <a:bodyPr wrap="square">
            <a:spAutoFit/>
          </a:bodyPr>
          <a:lstStyle/>
          <a:p>
            <a:pPr algn="r"/>
            <a:r>
              <a:rPr sz="1300" b="1" i="0">
                <a:solidFill>
                  <a:srgbClr val="20E898"/>
                </a:solidFill>
              </a:rPr>
              <a:t>99.99%+</a:t>
            </a:r>
          </a:p>
        </p:txBody>
      </p:sp>
      <p:sp>
        <p:nvSpPr>
          <p:cNvPr id="31" name="Rectangle 30"/>
          <p:cNvSpPr/>
          <p:nvPr/>
        </p:nvSpPr>
        <p:spPr>
          <a:xfrm>
            <a:off x="5029200" y="4151376"/>
            <a:ext cx="6766560" cy="12700"/>
          </a:xfrm>
          <a:prstGeom prst="rect">
            <a:avLst/>
          </a:prstGeom>
          <a:solidFill>
            <a:srgbClr val="4455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29200" y="4498848"/>
            <a:ext cx="4754880" cy="320040"/>
          </a:xfrm>
          <a:prstGeom prst="rect">
            <a:avLst/>
          </a:prstGeom>
          <a:noFill/>
        </p:spPr>
        <p:txBody>
          <a:bodyPr wrap="square">
            <a:spAutoFit/>
          </a:bodyPr>
          <a:lstStyle/>
          <a:p>
            <a:pPr algn="l"/>
            <a:r>
              <a:rPr sz="1100" b="0" i="0">
                <a:solidFill>
                  <a:srgbClr val="667788"/>
                </a:solidFill>
              </a:rPr>
              <a:t>Enterprise ACV (mean)</a:t>
            </a:r>
          </a:p>
        </p:txBody>
      </p:sp>
      <p:sp>
        <p:nvSpPr>
          <p:cNvPr id="33" name="TextBox 32"/>
          <p:cNvSpPr txBox="1"/>
          <p:nvPr/>
        </p:nvSpPr>
        <p:spPr>
          <a:xfrm>
            <a:off x="9875520" y="4498848"/>
            <a:ext cx="1920240" cy="320040"/>
          </a:xfrm>
          <a:prstGeom prst="rect">
            <a:avLst/>
          </a:prstGeom>
          <a:noFill/>
        </p:spPr>
        <p:txBody>
          <a:bodyPr wrap="square">
            <a:spAutoFit/>
          </a:bodyPr>
          <a:lstStyle/>
          <a:p>
            <a:pPr algn="r"/>
            <a:r>
              <a:rPr sz="1200" b="0" i="0">
                <a:solidFill>
                  <a:srgbClr val="FAF7F0"/>
                </a:solidFill>
              </a:rPr>
              <a:t>$350,000</a:t>
            </a:r>
          </a:p>
        </p:txBody>
      </p:sp>
      <p:sp>
        <p:nvSpPr>
          <p:cNvPr id="34" name="TextBox 33"/>
          <p:cNvSpPr txBox="1"/>
          <p:nvPr/>
        </p:nvSpPr>
        <p:spPr>
          <a:xfrm>
            <a:off x="5029200" y="4846320"/>
            <a:ext cx="4754880" cy="320040"/>
          </a:xfrm>
          <a:prstGeom prst="rect">
            <a:avLst/>
          </a:prstGeom>
          <a:noFill/>
        </p:spPr>
        <p:txBody>
          <a:bodyPr wrap="square">
            <a:spAutoFit/>
          </a:bodyPr>
          <a:lstStyle/>
          <a:p>
            <a:pPr algn="l"/>
            <a:r>
              <a:rPr sz="1100" b="0" i="0">
                <a:solidFill>
                  <a:srgbClr val="667788"/>
                </a:solidFill>
              </a:rPr>
              <a:t>Avg contract length</a:t>
            </a:r>
          </a:p>
        </p:txBody>
      </p:sp>
      <p:sp>
        <p:nvSpPr>
          <p:cNvPr id="35" name="TextBox 34"/>
          <p:cNvSpPr txBox="1"/>
          <p:nvPr/>
        </p:nvSpPr>
        <p:spPr>
          <a:xfrm>
            <a:off x="9875520" y="4846320"/>
            <a:ext cx="1920240" cy="320040"/>
          </a:xfrm>
          <a:prstGeom prst="rect">
            <a:avLst/>
          </a:prstGeom>
          <a:noFill/>
        </p:spPr>
        <p:txBody>
          <a:bodyPr wrap="square">
            <a:spAutoFit/>
          </a:bodyPr>
          <a:lstStyle/>
          <a:p>
            <a:pPr algn="r"/>
            <a:r>
              <a:rPr sz="1200" b="0" i="0">
                <a:solidFill>
                  <a:srgbClr val="FAF7F0"/>
                </a:solidFill>
              </a:rPr>
              <a:t>3 years</a:t>
            </a:r>
          </a:p>
        </p:txBody>
      </p:sp>
      <p:sp>
        <p:nvSpPr>
          <p:cNvPr id="36" name="TextBox 35"/>
          <p:cNvSpPr txBox="1"/>
          <p:nvPr/>
        </p:nvSpPr>
        <p:spPr>
          <a:xfrm>
            <a:off x="5029200" y="5193792"/>
            <a:ext cx="4754880" cy="320040"/>
          </a:xfrm>
          <a:prstGeom prst="rect">
            <a:avLst/>
          </a:prstGeom>
          <a:noFill/>
        </p:spPr>
        <p:txBody>
          <a:bodyPr wrap="square">
            <a:spAutoFit/>
          </a:bodyPr>
          <a:lstStyle/>
          <a:p>
            <a:pPr algn="l"/>
            <a:r>
              <a:rPr sz="1100" b="0" i="0">
                <a:solidFill>
                  <a:srgbClr val="667788"/>
                </a:solidFill>
              </a:rPr>
              <a:t>LTV (3yr, 95% retention)</a:t>
            </a:r>
          </a:p>
        </p:txBody>
      </p:sp>
      <p:sp>
        <p:nvSpPr>
          <p:cNvPr id="37" name="TextBox 36"/>
          <p:cNvSpPr txBox="1"/>
          <p:nvPr/>
        </p:nvSpPr>
        <p:spPr>
          <a:xfrm>
            <a:off x="9875520" y="5193792"/>
            <a:ext cx="1920240" cy="320040"/>
          </a:xfrm>
          <a:prstGeom prst="rect">
            <a:avLst/>
          </a:prstGeom>
          <a:noFill/>
        </p:spPr>
        <p:txBody>
          <a:bodyPr wrap="square">
            <a:spAutoFit/>
          </a:bodyPr>
          <a:lstStyle/>
          <a:p>
            <a:pPr algn="r"/>
            <a:r>
              <a:rPr sz="1300" b="1" i="0">
                <a:solidFill>
                  <a:srgbClr val="20E898"/>
                </a:solidFill>
              </a:rPr>
              <a:t>$997,500</a:t>
            </a:r>
          </a:p>
        </p:txBody>
      </p:sp>
      <p:sp>
        <p:nvSpPr>
          <p:cNvPr id="38" name="TextBox 37"/>
          <p:cNvSpPr txBox="1"/>
          <p:nvPr/>
        </p:nvSpPr>
        <p:spPr>
          <a:xfrm>
            <a:off x="5029200" y="5541264"/>
            <a:ext cx="4754880" cy="320040"/>
          </a:xfrm>
          <a:prstGeom prst="rect">
            <a:avLst/>
          </a:prstGeom>
          <a:noFill/>
        </p:spPr>
        <p:txBody>
          <a:bodyPr wrap="square">
            <a:spAutoFit/>
          </a:bodyPr>
          <a:lstStyle/>
          <a:p>
            <a:pPr algn="l"/>
            <a:r>
              <a:rPr sz="1100" b="0" i="0">
                <a:solidFill>
                  <a:srgbClr val="667788"/>
                </a:solidFill>
              </a:rPr>
              <a:t>CAC (direct)</a:t>
            </a:r>
          </a:p>
        </p:txBody>
      </p:sp>
      <p:sp>
        <p:nvSpPr>
          <p:cNvPr id="39" name="TextBox 38"/>
          <p:cNvSpPr txBox="1"/>
          <p:nvPr/>
        </p:nvSpPr>
        <p:spPr>
          <a:xfrm>
            <a:off x="9875520" y="5541264"/>
            <a:ext cx="1920240" cy="320040"/>
          </a:xfrm>
          <a:prstGeom prst="rect">
            <a:avLst/>
          </a:prstGeom>
          <a:noFill/>
        </p:spPr>
        <p:txBody>
          <a:bodyPr wrap="square">
            <a:spAutoFit/>
          </a:bodyPr>
          <a:lstStyle/>
          <a:p>
            <a:pPr algn="r"/>
            <a:r>
              <a:rPr sz="1200" b="0" i="0">
                <a:solidFill>
                  <a:srgbClr val="FAF7F0"/>
                </a:solidFill>
              </a:rPr>
              <a:t>~$45,000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81424"/>
        </a:solidFill>
        <a:effectLst/>
      </p:bgPr>
    </p:bg>
    <p:spTree>
      <p:nvGrpSpPr>
        <p:cNvPr id="1" name=""/>
        <p:cNvGrpSpPr/>
        <p:nvPr/>
      </p:nvGrpSpPr>
      <p:grpSpPr/>
      <p:pic>
        <p:nvPicPr>
          <p:cNvPr id="2" name="Picture 1" descr="ledgerproof-logo.png"/>
          <p:cNvPicPr>
            <a:picLocks noChangeAspect="1"/>
          </p:cNvPicPr>
          <p:nvPr/>
        </p:nvPicPr>
        <p:blipFill>
          <a:blip r:embed="rId2"/>
          <a:stretch>
            <a:fillRect/>
          </a:stretch>
        </p:blipFill>
        <p:spPr>
          <a:xfrm>
            <a:off x="347472" y="182880"/>
            <a:ext cx="1691640" cy="912781"/>
          </a:xfrm>
          <a:prstGeom prst="rect">
            <a:avLst/>
          </a:prstGeom>
        </p:spPr>
      </p:pic>
      <p:sp>
        <p:nvSpPr>
          <p:cNvPr id="3" name="TextBox 2"/>
          <p:cNvSpPr txBox="1"/>
          <p:nvPr/>
        </p:nvSpPr>
        <p:spPr>
          <a:xfrm>
            <a:off x="9784080" y="201168"/>
            <a:ext cx="2286000" cy="347472"/>
          </a:xfrm>
          <a:prstGeom prst="rect">
            <a:avLst/>
          </a:prstGeom>
          <a:noFill/>
        </p:spPr>
        <p:txBody>
          <a:bodyPr wrap="square">
            <a:spAutoFit/>
          </a:bodyPr>
          <a:lstStyle/>
          <a:p>
            <a:pPr algn="r"/>
            <a:r>
              <a:rPr sz="850" b="1" i="0">
                <a:solidFill>
                  <a:srgbClr val="335566"/>
                </a:solidFill>
              </a:rPr>
              <a:t>MOAT &amp; COMPETITION</a:t>
            </a:r>
          </a:p>
        </p:txBody>
      </p:sp>
      <p:sp>
        <p:nvSpPr>
          <p:cNvPr id="4" name="TextBox 3"/>
          <p:cNvSpPr txBox="1"/>
          <p:nvPr/>
        </p:nvSpPr>
        <p:spPr>
          <a:xfrm>
            <a:off x="347472" y="822960"/>
            <a:ext cx="6858000" cy="1097280"/>
          </a:xfrm>
          <a:prstGeom prst="rect">
            <a:avLst/>
          </a:prstGeom>
          <a:noFill/>
        </p:spPr>
        <p:txBody>
          <a:bodyPr wrap="square">
            <a:spAutoFit/>
          </a:bodyPr>
          <a:lstStyle/>
          <a:p>
            <a:pPr algn="l"/>
            <a:r>
              <a:rPr sz="2600" b="1" i="0">
                <a:solidFill>
                  <a:srgbClr val="FFFFFF"/>
                </a:solidFill>
              </a:rPr>
              <a:t>The protocol cannot be acquired.
It cannot be shut down.</a:t>
            </a:r>
          </a:p>
        </p:txBody>
      </p:sp>
      <p:sp>
        <p:nvSpPr>
          <p:cNvPr id="5" name="Rectangle 4"/>
          <p:cNvSpPr/>
          <p:nvPr/>
        </p:nvSpPr>
        <p:spPr>
          <a:xfrm>
            <a:off x="347472" y="2057400"/>
            <a:ext cx="5852160" cy="4434840"/>
          </a:xfrm>
          <a:prstGeom prst="rect">
            <a:avLst/>
          </a:prstGeom>
          <a:solidFill>
            <a:srgbClr val="0D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7472" y="2057400"/>
            <a:ext cx="5852160" cy="64008"/>
          </a:xfrm>
          <a:prstGeom prst="rect">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194560"/>
            <a:ext cx="5577840" cy="384048"/>
          </a:xfrm>
          <a:prstGeom prst="rect">
            <a:avLst/>
          </a:prstGeom>
          <a:noFill/>
        </p:spPr>
        <p:txBody>
          <a:bodyPr wrap="square">
            <a:spAutoFit/>
          </a:bodyPr>
          <a:lstStyle/>
          <a:p>
            <a:pPr algn="l"/>
            <a:r>
              <a:rPr sz="1300" b="1" i="0">
                <a:solidFill>
                  <a:srgbClr val="20E898"/>
                </a:solidFill>
              </a:rPr>
              <a:t>LedgerProof Foundation (501c3)</a:t>
            </a:r>
          </a:p>
        </p:txBody>
      </p:sp>
      <p:sp>
        <p:nvSpPr>
          <p:cNvPr id="8" name="TextBox 7"/>
          <p:cNvSpPr txBox="1"/>
          <p:nvPr/>
        </p:nvSpPr>
        <p:spPr>
          <a:xfrm>
            <a:off x="502920" y="2633472"/>
            <a:ext cx="5577840" cy="640080"/>
          </a:xfrm>
          <a:prstGeom prst="rect">
            <a:avLst/>
          </a:prstGeom>
          <a:noFill/>
        </p:spPr>
        <p:txBody>
          <a:bodyPr wrap="square">
            <a:spAutoFit/>
          </a:bodyPr>
          <a:lstStyle/>
          <a:p>
            <a:pPr algn="l"/>
            <a:r>
              <a:rPr sz="1100" b="0" i="0">
                <a:solidFill>
                  <a:srgbClr val="FAF7F0"/>
                </a:solidFill>
              </a:rPr>
              <a:t>Owns the open protocol · Protocol-continuity escrow · IETF standards maintenance · Free public verifier</a:t>
            </a:r>
          </a:p>
        </p:txBody>
      </p:sp>
      <p:sp>
        <p:nvSpPr>
          <p:cNvPr id="9" name="TextBox 8"/>
          <p:cNvSpPr txBox="1"/>
          <p:nvPr/>
        </p:nvSpPr>
        <p:spPr>
          <a:xfrm>
            <a:off x="502920" y="3401568"/>
            <a:ext cx="5577840" cy="365760"/>
          </a:xfrm>
          <a:prstGeom prst="rect">
            <a:avLst/>
          </a:prstGeom>
          <a:noFill/>
        </p:spPr>
        <p:txBody>
          <a:bodyPr wrap="square">
            <a:spAutoFit/>
          </a:bodyPr>
          <a:lstStyle/>
          <a:p>
            <a:pPr algn="l"/>
            <a:r>
              <a:rPr sz="1300" b="1" i="0">
                <a:solidFill>
                  <a:srgbClr val="4DEFAB"/>
                </a:solidFill>
              </a:rPr>
              <a:t>LedgerProof, Inc. (C-Corp)</a:t>
            </a:r>
          </a:p>
        </p:txBody>
      </p:sp>
      <p:sp>
        <p:nvSpPr>
          <p:cNvPr id="10" name="TextBox 9"/>
          <p:cNvSpPr txBox="1"/>
          <p:nvPr/>
        </p:nvSpPr>
        <p:spPr>
          <a:xfrm>
            <a:off x="502920" y="3822191"/>
            <a:ext cx="5577840" cy="640080"/>
          </a:xfrm>
          <a:prstGeom prst="rect">
            <a:avLst/>
          </a:prstGeom>
          <a:noFill/>
        </p:spPr>
        <p:txBody>
          <a:bodyPr wrap="square">
            <a:spAutoFit/>
          </a:bodyPr>
          <a:lstStyle/>
          <a:p>
            <a:pPr algn="l"/>
            <a:r>
              <a:rPr sz="1100" b="0" i="0">
                <a:solidFill>
                  <a:srgbClr val="FAF7F0"/>
                </a:solidFill>
              </a:rPr>
              <a:t>Enterprise APIs, SDKs, and integrations · Institutional sales · Calendar operator network · Annual SLAs and support</a:t>
            </a:r>
          </a:p>
        </p:txBody>
      </p:sp>
      <p:sp>
        <p:nvSpPr>
          <p:cNvPr id="11" name="TextBox 10"/>
          <p:cNvSpPr txBox="1"/>
          <p:nvPr/>
        </p:nvSpPr>
        <p:spPr>
          <a:xfrm>
            <a:off x="502920" y="4617720"/>
            <a:ext cx="5577840" cy="502920"/>
          </a:xfrm>
          <a:prstGeom prst="rect">
            <a:avLst/>
          </a:prstGeom>
          <a:noFill/>
        </p:spPr>
        <p:txBody>
          <a:bodyPr wrap="square">
            <a:spAutoFit/>
          </a:bodyPr>
          <a:lstStyle/>
          <a:p>
            <a:pPr algn="l"/>
            <a:r>
              <a:rPr sz="1100" b="0" i="1">
                <a:solidFill>
                  <a:srgbClr val="667788"/>
                </a:solidFill>
              </a:rPr>
              <a:t>Precedents: OpenSats + Let's Encrypt + DTCC — scaled and institutionalized.</a:t>
            </a:r>
          </a:p>
        </p:txBody>
      </p:sp>
      <p:sp>
        <p:nvSpPr>
          <p:cNvPr id="12" name="TextBox 11"/>
          <p:cNvSpPr txBox="1"/>
          <p:nvPr/>
        </p:nvSpPr>
        <p:spPr>
          <a:xfrm>
            <a:off x="502920" y="5230368"/>
            <a:ext cx="5577840" cy="292608"/>
          </a:xfrm>
          <a:prstGeom prst="rect">
            <a:avLst/>
          </a:prstGeom>
          <a:noFill/>
        </p:spPr>
        <p:txBody>
          <a:bodyPr wrap="square">
            <a:spAutoFit/>
          </a:bodyPr>
          <a:lstStyle/>
          <a:p>
            <a:pPr algn="l"/>
            <a:r>
              <a:rPr sz="1100" b="1" i="0">
                <a:solidFill>
                  <a:srgbClr val="667788"/>
                </a:solidFill>
              </a:rPr>
              <a:t>Four moats:</a:t>
            </a:r>
          </a:p>
        </p:txBody>
      </p:sp>
      <p:sp>
        <p:nvSpPr>
          <p:cNvPr id="13" name="Oval 12"/>
          <p:cNvSpPr/>
          <p:nvPr/>
        </p:nvSpPr>
        <p:spPr>
          <a:xfrm>
            <a:off x="502920" y="5623560"/>
            <a:ext cx="146304" cy="146304"/>
          </a:xfrm>
          <a:prstGeom prst="ellipse">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22376" y="5559552"/>
            <a:ext cx="2468880" cy="320040"/>
          </a:xfrm>
          <a:prstGeom prst="rect">
            <a:avLst/>
          </a:prstGeom>
          <a:noFill/>
        </p:spPr>
        <p:txBody>
          <a:bodyPr wrap="square">
            <a:spAutoFit/>
          </a:bodyPr>
          <a:lstStyle/>
          <a:p>
            <a:pPr algn="l"/>
            <a:r>
              <a:rPr sz="1100" b="1" i="0">
                <a:solidFill>
                  <a:srgbClr val="FFFFFF"/>
                </a:solidFill>
              </a:rPr>
              <a:t>Network effects</a:t>
            </a:r>
          </a:p>
        </p:txBody>
      </p:sp>
      <p:sp>
        <p:nvSpPr>
          <p:cNvPr id="15" name="Oval 14"/>
          <p:cNvSpPr/>
          <p:nvPr/>
        </p:nvSpPr>
        <p:spPr>
          <a:xfrm>
            <a:off x="3200400" y="5623560"/>
            <a:ext cx="146304" cy="146304"/>
          </a:xfrm>
          <a:prstGeom prst="ellipse">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19856" y="5559552"/>
            <a:ext cx="2468880" cy="320040"/>
          </a:xfrm>
          <a:prstGeom prst="rect">
            <a:avLst/>
          </a:prstGeom>
          <a:noFill/>
        </p:spPr>
        <p:txBody>
          <a:bodyPr wrap="square">
            <a:spAutoFit/>
          </a:bodyPr>
          <a:lstStyle/>
          <a:p>
            <a:pPr algn="l"/>
            <a:r>
              <a:rPr sz="1100" b="1" i="0">
                <a:solidFill>
                  <a:srgbClr val="FFFFFF"/>
                </a:solidFill>
              </a:rPr>
              <a:t>Protocol lock-in</a:t>
            </a:r>
          </a:p>
        </p:txBody>
      </p:sp>
      <p:sp>
        <p:nvSpPr>
          <p:cNvPr id="17" name="Oval 16"/>
          <p:cNvSpPr/>
          <p:nvPr/>
        </p:nvSpPr>
        <p:spPr>
          <a:xfrm>
            <a:off x="502920" y="6007608"/>
            <a:ext cx="146304" cy="146304"/>
          </a:xfrm>
          <a:prstGeom prst="ellipse">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6" y="5943600"/>
            <a:ext cx="2468880" cy="320040"/>
          </a:xfrm>
          <a:prstGeom prst="rect">
            <a:avLst/>
          </a:prstGeom>
          <a:noFill/>
        </p:spPr>
        <p:txBody>
          <a:bodyPr wrap="square">
            <a:spAutoFit/>
          </a:bodyPr>
          <a:lstStyle/>
          <a:p>
            <a:pPr algn="l"/>
            <a:r>
              <a:rPr sz="1100" b="1" i="0">
                <a:solidFill>
                  <a:srgbClr val="FFFFFF"/>
                </a:solidFill>
              </a:rPr>
              <a:t>Foundation permanence</a:t>
            </a:r>
          </a:p>
        </p:txBody>
      </p:sp>
      <p:sp>
        <p:nvSpPr>
          <p:cNvPr id="19" name="Oval 18"/>
          <p:cNvSpPr/>
          <p:nvPr/>
        </p:nvSpPr>
        <p:spPr>
          <a:xfrm>
            <a:off x="3200400" y="6007608"/>
            <a:ext cx="146304" cy="146304"/>
          </a:xfrm>
          <a:prstGeom prst="ellipse">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419856" y="5943600"/>
            <a:ext cx="2468880" cy="320040"/>
          </a:xfrm>
          <a:prstGeom prst="rect">
            <a:avLst/>
          </a:prstGeom>
          <a:noFill/>
        </p:spPr>
        <p:txBody>
          <a:bodyPr wrap="square">
            <a:spAutoFit/>
          </a:bodyPr>
          <a:lstStyle/>
          <a:p>
            <a:pPr algn="l"/>
            <a:r>
              <a:rPr sz="1100" b="1" i="0">
                <a:solidFill>
                  <a:srgbClr val="FFFFFF"/>
                </a:solidFill>
              </a:rPr>
              <a:t>Regulatory citability</a:t>
            </a:r>
          </a:p>
        </p:txBody>
      </p:sp>
      <p:sp>
        <p:nvSpPr>
          <p:cNvPr id="21" name="Rectangle 20"/>
          <p:cNvSpPr/>
          <p:nvPr/>
        </p:nvSpPr>
        <p:spPr>
          <a:xfrm>
            <a:off x="6446520" y="2057400"/>
            <a:ext cx="5486400" cy="4434840"/>
          </a:xfrm>
          <a:prstGeom prst="rect">
            <a:avLst/>
          </a:prstGeom>
          <a:solidFill>
            <a:srgbClr val="0D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46520" y="2057400"/>
            <a:ext cx="5486400" cy="64008"/>
          </a:xfrm>
          <a:prstGeom prst="rect">
            <a:avLst/>
          </a:prstGeom>
          <a:solidFill>
            <a:srgbClr val="4DEF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83680" y="2194560"/>
            <a:ext cx="5212080" cy="347472"/>
          </a:xfrm>
          <a:prstGeom prst="rect">
            <a:avLst/>
          </a:prstGeom>
          <a:noFill/>
        </p:spPr>
        <p:txBody>
          <a:bodyPr wrap="square">
            <a:spAutoFit/>
          </a:bodyPr>
          <a:lstStyle/>
          <a:p>
            <a:pPr algn="l"/>
            <a:r>
              <a:rPr sz="1200" b="1" i="0">
                <a:solidFill>
                  <a:srgbClr val="4DEFAB"/>
                </a:solidFill>
              </a:rPr>
              <a:t>Competitive position:</a:t>
            </a:r>
          </a:p>
        </p:txBody>
      </p:sp>
      <p:sp>
        <p:nvSpPr>
          <p:cNvPr id="24" name="TextBox 23"/>
          <p:cNvSpPr txBox="1"/>
          <p:nvPr/>
        </p:nvSpPr>
        <p:spPr>
          <a:xfrm>
            <a:off x="6583680" y="2633472"/>
            <a:ext cx="2103120" cy="347472"/>
          </a:xfrm>
          <a:prstGeom prst="rect">
            <a:avLst/>
          </a:prstGeom>
          <a:noFill/>
        </p:spPr>
        <p:txBody>
          <a:bodyPr wrap="square">
            <a:spAutoFit/>
          </a:bodyPr>
          <a:lstStyle/>
          <a:p>
            <a:pPr algn="l"/>
            <a:r>
              <a:rPr sz="900" b="1" i="0">
                <a:solidFill>
                  <a:srgbClr val="667788"/>
                </a:solidFill>
              </a:rPr>
              <a:t/>
            </a:r>
          </a:p>
        </p:txBody>
      </p:sp>
      <p:sp>
        <p:nvSpPr>
          <p:cNvPr id="25" name="TextBox 24"/>
          <p:cNvSpPr txBox="1"/>
          <p:nvPr/>
        </p:nvSpPr>
        <p:spPr>
          <a:xfrm>
            <a:off x="8732520" y="2633472"/>
            <a:ext cx="594360" cy="347472"/>
          </a:xfrm>
          <a:prstGeom prst="rect">
            <a:avLst/>
          </a:prstGeom>
          <a:noFill/>
        </p:spPr>
        <p:txBody>
          <a:bodyPr wrap="square">
            <a:spAutoFit/>
          </a:bodyPr>
          <a:lstStyle/>
          <a:p>
            <a:pPr algn="ctr"/>
            <a:r>
              <a:rPr sz="900" b="1" i="0">
                <a:solidFill>
                  <a:srgbClr val="667788"/>
                </a:solidFill>
              </a:rPr>
              <a:t>Perm.</a:t>
            </a:r>
          </a:p>
        </p:txBody>
      </p:sp>
      <p:sp>
        <p:nvSpPr>
          <p:cNvPr id="26" name="TextBox 25"/>
          <p:cNvSpPr txBox="1"/>
          <p:nvPr/>
        </p:nvSpPr>
        <p:spPr>
          <a:xfrm>
            <a:off x="9372600" y="2633472"/>
            <a:ext cx="594360" cy="347472"/>
          </a:xfrm>
          <a:prstGeom prst="rect">
            <a:avLst/>
          </a:prstGeom>
          <a:noFill/>
        </p:spPr>
        <p:txBody>
          <a:bodyPr wrap="square">
            <a:spAutoFit/>
          </a:bodyPr>
          <a:lstStyle/>
          <a:p>
            <a:pPr algn="ctr"/>
            <a:r>
              <a:rPr sz="900" b="1" i="0">
                <a:solidFill>
                  <a:srgbClr val="667788"/>
                </a:solidFill>
              </a:rPr>
              <a:t>BTC</a:t>
            </a:r>
          </a:p>
        </p:txBody>
      </p:sp>
      <p:sp>
        <p:nvSpPr>
          <p:cNvPr id="27" name="TextBox 26"/>
          <p:cNvSpPr txBox="1"/>
          <p:nvPr/>
        </p:nvSpPr>
        <p:spPr>
          <a:xfrm>
            <a:off x="10012680" y="2633472"/>
            <a:ext cx="594360" cy="347472"/>
          </a:xfrm>
          <a:prstGeom prst="rect">
            <a:avLst/>
          </a:prstGeom>
          <a:noFill/>
        </p:spPr>
        <p:txBody>
          <a:bodyPr wrap="square">
            <a:spAutoFit/>
          </a:bodyPr>
          <a:lstStyle/>
          <a:p>
            <a:pPr algn="ctr"/>
            <a:r>
              <a:rPr sz="900" b="1" i="0">
                <a:solidFill>
                  <a:srgbClr val="667788"/>
                </a:solidFill>
              </a:rPr>
              <a:t>Inst.</a:t>
            </a:r>
          </a:p>
        </p:txBody>
      </p:sp>
      <p:sp>
        <p:nvSpPr>
          <p:cNvPr id="28" name="TextBox 27"/>
          <p:cNvSpPr txBox="1"/>
          <p:nvPr/>
        </p:nvSpPr>
        <p:spPr>
          <a:xfrm>
            <a:off x="10652760" y="2633472"/>
            <a:ext cx="822960" cy="347472"/>
          </a:xfrm>
          <a:prstGeom prst="rect">
            <a:avLst/>
          </a:prstGeom>
          <a:noFill/>
        </p:spPr>
        <p:txBody>
          <a:bodyPr wrap="square">
            <a:spAutoFit/>
          </a:bodyPr>
          <a:lstStyle/>
          <a:p>
            <a:pPr algn="ctr"/>
            <a:r>
              <a:rPr sz="900" b="1" i="0">
                <a:solidFill>
                  <a:srgbClr val="667788"/>
                </a:solidFill>
              </a:rPr>
              <a:t>Standard</a:t>
            </a:r>
          </a:p>
        </p:txBody>
      </p:sp>
      <p:sp>
        <p:nvSpPr>
          <p:cNvPr id="29" name="Rectangle 28"/>
          <p:cNvSpPr/>
          <p:nvPr/>
        </p:nvSpPr>
        <p:spPr>
          <a:xfrm>
            <a:off x="6446520" y="3108960"/>
            <a:ext cx="5486400" cy="438912"/>
          </a:xfrm>
          <a:prstGeom prst="rect">
            <a:avLst/>
          </a:prstGeom>
          <a:solidFill>
            <a:srgbClr val="0822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446520" y="3108960"/>
            <a:ext cx="50800" cy="438912"/>
          </a:xfrm>
          <a:prstGeom prst="rect">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583680" y="3163824"/>
            <a:ext cx="2103120" cy="320040"/>
          </a:xfrm>
          <a:prstGeom prst="rect">
            <a:avLst/>
          </a:prstGeom>
          <a:noFill/>
        </p:spPr>
        <p:txBody>
          <a:bodyPr wrap="square">
            <a:spAutoFit/>
          </a:bodyPr>
          <a:lstStyle/>
          <a:p>
            <a:pPr algn="l"/>
            <a:r>
              <a:rPr sz="1100" b="1" i="0">
                <a:solidFill>
                  <a:srgbClr val="20E898"/>
                </a:solidFill>
              </a:rPr>
              <a:t>LedgerProof</a:t>
            </a:r>
          </a:p>
        </p:txBody>
      </p:sp>
      <p:sp>
        <p:nvSpPr>
          <p:cNvPr id="32" name="TextBox 31"/>
          <p:cNvSpPr txBox="1"/>
          <p:nvPr/>
        </p:nvSpPr>
        <p:spPr>
          <a:xfrm>
            <a:off x="8732520" y="3145536"/>
            <a:ext cx="594360" cy="347472"/>
          </a:xfrm>
          <a:prstGeom prst="rect">
            <a:avLst/>
          </a:prstGeom>
          <a:noFill/>
        </p:spPr>
        <p:txBody>
          <a:bodyPr wrap="square">
            <a:spAutoFit/>
          </a:bodyPr>
          <a:lstStyle/>
          <a:p>
            <a:pPr algn="ctr"/>
            <a:r>
              <a:rPr sz="1300" b="1" i="0">
                <a:solidFill>
                  <a:srgbClr val="20E898"/>
                </a:solidFill>
              </a:rPr>
              <a:t>✓</a:t>
            </a:r>
          </a:p>
        </p:txBody>
      </p:sp>
      <p:sp>
        <p:nvSpPr>
          <p:cNvPr id="33" name="TextBox 32"/>
          <p:cNvSpPr txBox="1"/>
          <p:nvPr/>
        </p:nvSpPr>
        <p:spPr>
          <a:xfrm>
            <a:off x="9372600" y="3145536"/>
            <a:ext cx="594360" cy="347472"/>
          </a:xfrm>
          <a:prstGeom prst="rect">
            <a:avLst/>
          </a:prstGeom>
          <a:noFill/>
        </p:spPr>
        <p:txBody>
          <a:bodyPr wrap="square">
            <a:spAutoFit/>
          </a:bodyPr>
          <a:lstStyle/>
          <a:p>
            <a:pPr algn="ctr"/>
            <a:r>
              <a:rPr sz="1300" b="1" i="0">
                <a:solidFill>
                  <a:srgbClr val="20E898"/>
                </a:solidFill>
              </a:rPr>
              <a:t>✓</a:t>
            </a:r>
          </a:p>
        </p:txBody>
      </p:sp>
      <p:sp>
        <p:nvSpPr>
          <p:cNvPr id="34" name="TextBox 33"/>
          <p:cNvSpPr txBox="1"/>
          <p:nvPr/>
        </p:nvSpPr>
        <p:spPr>
          <a:xfrm>
            <a:off x="10012680" y="3145536"/>
            <a:ext cx="594360" cy="347472"/>
          </a:xfrm>
          <a:prstGeom prst="rect">
            <a:avLst/>
          </a:prstGeom>
          <a:noFill/>
        </p:spPr>
        <p:txBody>
          <a:bodyPr wrap="square">
            <a:spAutoFit/>
          </a:bodyPr>
          <a:lstStyle/>
          <a:p>
            <a:pPr algn="ctr"/>
            <a:r>
              <a:rPr sz="1300" b="1" i="0">
                <a:solidFill>
                  <a:srgbClr val="20E898"/>
                </a:solidFill>
              </a:rPr>
              <a:t>✓</a:t>
            </a:r>
          </a:p>
        </p:txBody>
      </p:sp>
      <p:sp>
        <p:nvSpPr>
          <p:cNvPr id="35" name="TextBox 34"/>
          <p:cNvSpPr txBox="1"/>
          <p:nvPr/>
        </p:nvSpPr>
        <p:spPr>
          <a:xfrm>
            <a:off x="10652760" y="3145536"/>
            <a:ext cx="822960" cy="347472"/>
          </a:xfrm>
          <a:prstGeom prst="rect">
            <a:avLst/>
          </a:prstGeom>
          <a:noFill/>
        </p:spPr>
        <p:txBody>
          <a:bodyPr wrap="square">
            <a:spAutoFit/>
          </a:bodyPr>
          <a:lstStyle/>
          <a:p>
            <a:pPr algn="ctr"/>
            <a:r>
              <a:rPr sz="1300" b="1" i="0">
                <a:solidFill>
                  <a:srgbClr val="20E898"/>
                </a:solidFill>
              </a:rPr>
              <a:t>✓</a:t>
            </a:r>
          </a:p>
        </p:txBody>
      </p:sp>
      <p:sp>
        <p:nvSpPr>
          <p:cNvPr id="36" name="TextBox 35"/>
          <p:cNvSpPr txBox="1"/>
          <p:nvPr/>
        </p:nvSpPr>
        <p:spPr>
          <a:xfrm>
            <a:off x="6583680" y="3639312"/>
            <a:ext cx="2103120" cy="320040"/>
          </a:xfrm>
          <a:prstGeom prst="rect">
            <a:avLst/>
          </a:prstGeom>
          <a:noFill/>
        </p:spPr>
        <p:txBody>
          <a:bodyPr wrap="square">
            <a:spAutoFit/>
          </a:bodyPr>
          <a:lstStyle/>
          <a:p>
            <a:pPr algn="l"/>
            <a:r>
              <a:rPr sz="1100" b="0" i="0">
                <a:solidFill>
                  <a:srgbClr val="FAF7F0"/>
                </a:solidFill>
              </a:rPr>
              <a:t>OpenTimestamps</a:t>
            </a:r>
          </a:p>
        </p:txBody>
      </p:sp>
      <p:sp>
        <p:nvSpPr>
          <p:cNvPr id="37" name="TextBox 36"/>
          <p:cNvSpPr txBox="1"/>
          <p:nvPr/>
        </p:nvSpPr>
        <p:spPr>
          <a:xfrm>
            <a:off x="8732520" y="3621024"/>
            <a:ext cx="594360" cy="347472"/>
          </a:xfrm>
          <a:prstGeom prst="rect">
            <a:avLst/>
          </a:prstGeom>
          <a:noFill/>
        </p:spPr>
        <p:txBody>
          <a:bodyPr wrap="square">
            <a:spAutoFit/>
          </a:bodyPr>
          <a:lstStyle/>
          <a:p>
            <a:pPr algn="ctr"/>
            <a:r>
              <a:rPr sz="1300" b="1" i="0">
                <a:solidFill>
                  <a:srgbClr val="20E898"/>
                </a:solidFill>
              </a:rPr>
              <a:t>✓</a:t>
            </a:r>
          </a:p>
        </p:txBody>
      </p:sp>
      <p:sp>
        <p:nvSpPr>
          <p:cNvPr id="38" name="TextBox 37"/>
          <p:cNvSpPr txBox="1"/>
          <p:nvPr/>
        </p:nvSpPr>
        <p:spPr>
          <a:xfrm>
            <a:off x="9372600" y="3621024"/>
            <a:ext cx="594360" cy="347472"/>
          </a:xfrm>
          <a:prstGeom prst="rect">
            <a:avLst/>
          </a:prstGeom>
          <a:noFill/>
        </p:spPr>
        <p:txBody>
          <a:bodyPr wrap="square">
            <a:spAutoFit/>
          </a:bodyPr>
          <a:lstStyle/>
          <a:p>
            <a:pPr algn="ctr"/>
            <a:r>
              <a:rPr sz="1300" b="1" i="0">
                <a:solidFill>
                  <a:srgbClr val="20E898"/>
                </a:solidFill>
              </a:rPr>
              <a:t>✓</a:t>
            </a:r>
          </a:p>
        </p:txBody>
      </p:sp>
      <p:sp>
        <p:nvSpPr>
          <p:cNvPr id="39" name="TextBox 38"/>
          <p:cNvSpPr txBox="1"/>
          <p:nvPr/>
        </p:nvSpPr>
        <p:spPr>
          <a:xfrm>
            <a:off x="10012680" y="3621024"/>
            <a:ext cx="594360" cy="347472"/>
          </a:xfrm>
          <a:prstGeom prst="rect">
            <a:avLst/>
          </a:prstGeom>
          <a:noFill/>
        </p:spPr>
        <p:txBody>
          <a:bodyPr wrap="square">
            <a:spAutoFit/>
          </a:bodyPr>
          <a:lstStyle/>
          <a:p>
            <a:pPr algn="ctr"/>
            <a:r>
              <a:rPr sz="1300" b="1" i="0">
                <a:solidFill>
                  <a:srgbClr val="F7931A"/>
                </a:solidFill>
              </a:rPr>
              <a:t>✗</a:t>
            </a:r>
          </a:p>
        </p:txBody>
      </p:sp>
      <p:sp>
        <p:nvSpPr>
          <p:cNvPr id="40" name="TextBox 39"/>
          <p:cNvSpPr txBox="1"/>
          <p:nvPr/>
        </p:nvSpPr>
        <p:spPr>
          <a:xfrm>
            <a:off x="10652760" y="3621024"/>
            <a:ext cx="822960" cy="347472"/>
          </a:xfrm>
          <a:prstGeom prst="rect">
            <a:avLst/>
          </a:prstGeom>
          <a:noFill/>
        </p:spPr>
        <p:txBody>
          <a:bodyPr wrap="square">
            <a:spAutoFit/>
          </a:bodyPr>
          <a:lstStyle/>
          <a:p>
            <a:pPr algn="ctr"/>
            <a:r>
              <a:rPr sz="1300" b="1" i="0">
                <a:solidFill>
                  <a:srgbClr val="F7931A"/>
                </a:solidFill>
              </a:rPr>
              <a:t>✗</a:t>
            </a:r>
          </a:p>
        </p:txBody>
      </p:sp>
      <p:sp>
        <p:nvSpPr>
          <p:cNvPr id="41" name="TextBox 40"/>
          <p:cNvSpPr txBox="1"/>
          <p:nvPr/>
        </p:nvSpPr>
        <p:spPr>
          <a:xfrm>
            <a:off x="6583680" y="4114799"/>
            <a:ext cx="2103120" cy="320040"/>
          </a:xfrm>
          <a:prstGeom prst="rect">
            <a:avLst/>
          </a:prstGeom>
          <a:noFill/>
        </p:spPr>
        <p:txBody>
          <a:bodyPr wrap="square">
            <a:spAutoFit/>
          </a:bodyPr>
          <a:lstStyle/>
          <a:p>
            <a:pPr algn="l"/>
            <a:r>
              <a:rPr sz="1100" b="0" i="0">
                <a:solidFill>
                  <a:srgbClr val="FAF7F0"/>
                </a:solidFill>
              </a:rPr>
              <a:t>C2PA</a:t>
            </a:r>
          </a:p>
        </p:txBody>
      </p:sp>
      <p:sp>
        <p:nvSpPr>
          <p:cNvPr id="42" name="TextBox 41"/>
          <p:cNvSpPr txBox="1"/>
          <p:nvPr/>
        </p:nvSpPr>
        <p:spPr>
          <a:xfrm>
            <a:off x="8732520" y="4096511"/>
            <a:ext cx="594360" cy="347472"/>
          </a:xfrm>
          <a:prstGeom prst="rect">
            <a:avLst/>
          </a:prstGeom>
          <a:noFill/>
        </p:spPr>
        <p:txBody>
          <a:bodyPr wrap="square">
            <a:spAutoFit/>
          </a:bodyPr>
          <a:lstStyle/>
          <a:p>
            <a:pPr algn="ctr"/>
            <a:r>
              <a:rPr sz="1300" b="1" i="0">
                <a:solidFill>
                  <a:srgbClr val="F7931A"/>
                </a:solidFill>
              </a:rPr>
              <a:t>✗</a:t>
            </a:r>
          </a:p>
        </p:txBody>
      </p:sp>
      <p:sp>
        <p:nvSpPr>
          <p:cNvPr id="43" name="TextBox 42"/>
          <p:cNvSpPr txBox="1"/>
          <p:nvPr/>
        </p:nvSpPr>
        <p:spPr>
          <a:xfrm>
            <a:off x="9372600" y="4096511"/>
            <a:ext cx="594360" cy="347472"/>
          </a:xfrm>
          <a:prstGeom prst="rect">
            <a:avLst/>
          </a:prstGeom>
          <a:noFill/>
        </p:spPr>
        <p:txBody>
          <a:bodyPr wrap="square">
            <a:spAutoFit/>
          </a:bodyPr>
          <a:lstStyle/>
          <a:p>
            <a:pPr algn="ctr"/>
            <a:r>
              <a:rPr sz="1300" b="1" i="0">
                <a:solidFill>
                  <a:srgbClr val="F7931A"/>
                </a:solidFill>
              </a:rPr>
              <a:t>✗</a:t>
            </a:r>
          </a:p>
        </p:txBody>
      </p:sp>
      <p:sp>
        <p:nvSpPr>
          <p:cNvPr id="44" name="TextBox 43"/>
          <p:cNvSpPr txBox="1"/>
          <p:nvPr/>
        </p:nvSpPr>
        <p:spPr>
          <a:xfrm>
            <a:off x="10012680" y="4096511"/>
            <a:ext cx="594360" cy="347472"/>
          </a:xfrm>
          <a:prstGeom prst="rect">
            <a:avLst/>
          </a:prstGeom>
          <a:noFill/>
        </p:spPr>
        <p:txBody>
          <a:bodyPr wrap="square">
            <a:spAutoFit/>
          </a:bodyPr>
          <a:lstStyle/>
          <a:p>
            <a:pPr algn="ctr"/>
            <a:r>
              <a:rPr sz="1300" b="1" i="0">
                <a:solidFill>
                  <a:srgbClr val="667788"/>
                </a:solidFill>
              </a:rPr>
              <a:t>~</a:t>
            </a:r>
          </a:p>
        </p:txBody>
      </p:sp>
      <p:sp>
        <p:nvSpPr>
          <p:cNvPr id="45" name="TextBox 44"/>
          <p:cNvSpPr txBox="1"/>
          <p:nvPr/>
        </p:nvSpPr>
        <p:spPr>
          <a:xfrm>
            <a:off x="10652760" y="4096511"/>
            <a:ext cx="822960" cy="347472"/>
          </a:xfrm>
          <a:prstGeom prst="rect">
            <a:avLst/>
          </a:prstGeom>
          <a:noFill/>
        </p:spPr>
        <p:txBody>
          <a:bodyPr wrap="square">
            <a:spAutoFit/>
          </a:bodyPr>
          <a:lstStyle/>
          <a:p>
            <a:pPr algn="ctr"/>
            <a:r>
              <a:rPr sz="1300" b="1" i="0">
                <a:solidFill>
                  <a:srgbClr val="667788"/>
                </a:solidFill>
              </a:rPr>
              <a:t>~</a:t>
            </a:r>
          </a:p>
        </p:txBody>
      </p:sp>
      <p:sp>
        <p:nvSpPr>
          <p:cNvPr id="46" name="TextBox 45"/>
          <p:cNvSpPr txBox="1"/>
          <p:nvPr/>
        </p:nvSpPr>
        <p:spPr>
          <a:xfrm>
            <a:off x="6583680" y="4590288"/>
            <a:ext cx="2103120" cy="320040"/>
          </a:xfrm>
          <a:prstGeom prst="rect">
            <a:avLst/>
          </a:prstGeom>
          <a:noFill/>
        </p:spPr>
        <p:txBody>
          <a:bodyPr wrap="square">
            <a:spAutoFit/>
          </a:bodyPr>
          <a:lstStyle/>
          <a:p>
            <a:pPr algn="l"/>
            <a:r>
              <a:rPr sz="1100" b="0" i="0">
                <a:solidFill>
                  <a:srgbClr val="FAF7F0"/>
                </a:solidFill>
              </a:rPr>
              <a:t>MS Agent Gov. Toolkit</a:t>
            </a:r>
          </a:p>
        </p:txBody>
      </p:sp>
      <p:sp>
        <p:nvSpPr>
          <p:cNvPr id="47" name="TextBox 46"/>
          <p:cNvSpPr txBox="1"/>
          <p:nvPr/>
        </p:nvSpPr>
        <p:spPr>
          <a:xfrm>
            <a:off x="8732520" y="4572000"/>
            <a:ext cx="594360" cy="347472"/>
          </a:xfrm>
          <a:prstGeom prst="rect">
            <a:avLst/>
          </a:prstGeom>
          <a:noFill/>
        </p:spPr>
        <p:txBody>
          <a:bodyPr wrap="square">
            <a:spAutoFit/>
          </a:bodyPr>
          <a:lstStyle/>
          <a:p>
            <a:pPr algn="ctr"/>
            <a:r>
              <a:rPr sz="1300" b="1" i="0">
                <a:solidFill>
                  <a:srgbClr val="F7931A"/>
                </a:solidFill>
              </a:rPr>
              <a:t>✗</a:t>
            </a:r>
          </a:p>
        </p:txBody>
      </p:sp>
      <p:sp>
        <p:nvSpPr>
          <p:cNvPr id="48" name="TextBox 47"/>
          <p:cNvSpPr txBox="1"/>
          <p:nvPr/>
        </p:nvSpPr>
        <p:spPr>
          <a:xfrm>
            <a:off x="9372600" y="4572000"/>
            <a:ext cx="594360" cy="347472"/>
          </a:xfrm>
          <a:prstGeom prst="rect">
            <a:avLst/>
          </a:prstGeom>
          <a:noFill/>
        </p:spPr>
        <p:txBody>
          <a:bodyPr wrap="square">
            <a:spAutoFit/>
          </a:bodyPr>
          <a:lstStyle/>
          <a:p>
            <a:pPr algn="ctr"/>
            <a:r>
              <a:rPr sz="1300" b="1" i="0">
                <a:solidFill>
                  <a:srgbClr val="F7931A"/>
                </a:solidFill>
              </a:rPr>
              <a:t>✗</a:t>
            </a:r>
          </a:p>
        </p:txBody>
      </p:sp>
      <p:sp>
        <p:nvSpPr>
          <p:cNvPr id="49" name="TextBox 48"/>
          <p:cNvSpPr txBox="1"/>
          <p:nvPr/>
        </p:nvSpPr>
        <p:spPr>
          <a:xfrm>
            <a:off x="10012680" y="4572000"/>
            <a:ext cx="594360" cy="347472"/>
          </a:xfrm>
          <a:prstGeom prst="rect">
            <a:avLst/>
          </a:prstGeom>
          <a:noFill/>
        </p:spPr>
        <p:txBody>
          <a:bodyPr wrap="square">
            <a:spAutoFit/>
          </a:bodyPr>
          <a:lstStyle/>
          <a:p>
            <a:pPr algn="ctr"/>
            <a:r>
              <a:rPr sz="1300" b="1" i="0">
                <a:solidFill>
                  <a:srgbClr val="20E898"/>
                </a:solidFill>
              </a:rPr>
              <a:t>✓</a:t>
            </a:r>
          </a:p>
        </p:txBody>
      </p:sp>
      <p:sp>
        <p:nvSpPr>
          <p:cNvPr id="50" name="TextBox 49"/>
          <p:cNvSpPr txBox="1"/>
          <p:nvPr/>
        </p:nvSpPr>
        <p:spPr>
          <a:xfrm>
            <a:off x="10652760" y="4572000"/>
            <a:ext cx="822960" cy="347472"/>
          </a:xfrm>
          <a:prstGeom prst="rect">
            <a:avLst/>
          </a:prstGeom>
          <a:noFill/>
        </p:spPr>
        <p:txBody>
          <a:bodyPr wrap="square">
            <a:spAutoFit/>
          </a:bodyPr>
          <a:lstStyle/>
          <a:p>
            <a:pPr algn="ctr"/>
            <a:r>
              <a:rPr sz="1300" b="1" i="0">
                <a:solidFill>
                  <a:srgbClr val="667788"/>
                </a:solidFill>
              </a:rPr>
              <a:t>~</a:t>
            </a:r>
          </a:p>
        </p:txBody>
      </p:sp>
      <p:sp>
        <p:nvSpPr>
          <p:cNvPr id="51" name="TextBox 50"/>
          <p:cNvSpPr txBox="1"/>
          <p:nvPr/>
        </p:nvSpPr>
        <p:spPr>
          <a:xfrm>
            <a:off x="6583680" y="5065776"/>
            <a:ext cx="2103120" cy="320040"/>
          </a:xfrm>
          <a:prstGeom prst="rect">
            <a:avLst/>
          </a:prstGeom>
          <a:noFill/>
        </p:spPr>
        <p:txBody>
          <a:bodyPr wrap="square">
            <a:spAutoFit/>
          </a:bodyPr>
          <a:lstStyle/>
          <a:p>
            <a:pPr algn="l"/>
            <a:r>
              <a:rPr sz="1100" b="0" i="0">
                <a:solidFill>
                  <a:srgbClr val="FAF7F0"/>
                </a:solidFill>
              </a:rPr>
              <a:t>VeritasChain VAP</a:t>
            </a:r>
          </a:p>
        </p:txBody>
      </p:sp>
      <p:sp>
        <p:nvSpPr>
          <p:cNvPr id="52" name="TextBox 51"/>
          <p:cNvSpPr txBox="1"/>
          <p:nvPr/>
        </p:nvSpPr>
        <p:spPr>
          <a:xfrm>
            <a:off x="8732520" y="5047488"/>
            <a:ext cx="594360" cy="347472"/>
          </a:xfrm>
          <a:prstGeom prst="rect">
            <a:avLst/>
          </a:prstGeom>
          <a:noFill/>
        </p:spPr>
        <p:txBody>
          <a:bodyPr wrap="square">
            <a:spAutoFit/>
          </a:bodyPr>
          <a:lstStyle/>
          <a:p>
            <a:pPr algn="ctr"/>
            <a:r>
              <a:rPr sz="1300" b="1" i="0">
                <a:solidFill>
                  <a:srgbClr val="667788"/>
                </a:solidFill>
              </a:rPr>
              <a:t>~</a:t>
            </a:r>
          </a:p>
        </p:txBody>
      </p:sp>
      <p:sp>
        <p:nvSpPr>
          <p:cNvPr id="53" name="TextBox 52"/>
          <p:cNvSpPr txBox="1"/>
          <p:nvPr/>
        </p:nvSpPr>
        <p:spPr>
          <a:xfrm>
            <a:off x="9372600" y="5047488"/>
            <a:ext cx="594360" cy="347472"/>
          </a:xfrm>
          <a:prstGeom prst="rect">
            <a:avLst/>
          </a:prstGeom>
          <a:noFill/>
        </p:spPr>
        <p:txBody>
          <a:bodyPr wrap="square">
            <a:spAutoFit/>
          </a:bodyPr>
          <a:lstStyle/>
          <a:p>
            <a:pPr algn="ctr"/>
            <a:r>
              <a:rPr sz="1300" b="1" i="0">
                <a:solidFill>
                  <a:srgbClr val="F7931A"/>
                </a:solidFill>
              </a:rPr>
              <a:t>✗</a:t>
            </a:r>
          </a:p>
        </p:txBody>
      </p:sp>
      <p:sp>
        <p:nvSpPr>
          <p:cNvPr id="54" name="TextBox 53"/>
          <p:cNvSpPr txBox="1"/>
          <p:nvPr/>
        </p:nvSpPr>
        <p:spPr>
          <a:xfrm>
            <a:off x="10012680" y="5047488"/>
            <a:ext cx="594360" cy="347472"/>
          </a:xfrm>
          <a:prstGeom prst="rect">
            <a:avLst/>
          </a:prstGeom>
          <a:noFill/>
        </p:spPr>
        <p:txBody>
          <a:bodyPr wrap="square">
            <a:spAutoFit/>
          </a:bodyPr>
          <a:lstStyle/>
          <a:p>
            <a:pPr algn="ctr"/>
            <a:r>
              <a:rPr sz="1300" b="1" i="0">
                <a:solidFill>
                  <a:srgbClr val="F7931A"/>
                </a:solidFill>
              </a:rPr>
              <a:t>✗</a:t>
            </a:r>
          </a:p>
        </p:txBody>
      </p:sp>
      <p:sp>
        <p:nvSpPr>
          <p:cNvPr id="55" name="TextBox 54"/>
          <p:cNvSpPr txBox="1"/>
          <p:nvPr/>
        </p:nvSpPr>
        <p:spPr>
          <a:xfrm>
            <a:off x="10652760" y="5047488"/>
            <a:ext cx="822960" cy="347472"/>
          </a:xfrm>
          <a:prstGeom prst="rect">
            <a:avLst/>
          </a:prstGeom>
          <a:noFill/>
        </p:spPr>
        <p:txBody>
          <a:bodyPr wrap="square">
            <a:spAutoFit/>
          </a:bodyPr>
          <a:lstStyle/>
          <a:p>
            <a:pPr algn="ctr"/>
            <a:r>
              <a:rPr sz="1300" b="1" i="0">
                <a:solidFill>
                  <a:srgbClr val="F7931A"/>
                </a:solidFill>
              </a:rPr>
              <a:t>✗</a:t>
            </a:r>
          </a:p>
        </p:txBody>
      </p:sp>
      <p:sp>
        <p:nvSpPr>
          <p:cNvPr id="56" name="TextBox 55"/>
          <p:cNvSpPr txBox="1"/>
          <p:nvPr/>
        </p:nvSpPr>
        <p:spPr>
          <a:xfrm>
            <a:off x="6583680" y="5541264"/>
            <a:ext cx="2103120" cy="320040"/>
          </a:xfrm>
          <a:prstGeom prst="rect">
            <a:avLst/>
          </a:prstGeom>
          <a:noFill/>
        </p:spPr>
        <p:txBody>
          <a:bodyPr wrap="square">
            <a:spAutoFit/>
          </a:bodyPr>
          <a:lstStyle/>
          <a:p>
            <a:pPr algn="l"/>
            <a:r>
              <a:rPr sz="1100" b="0" i="0">
                <a:solidFill>
                  <a:srgbClr val="FAF7F0"/>
                </a:solidFill>
              </a:rPr>
              <a:t>ERC-8004</a:t>
            </a:r>
          </a:p>
        </p:txBody>
      </p:sp>
      <p:sp>
        <p:nvSpPr>
          <p:cNvPr id="57" name="TextBox 56"/>
          <p:cNvSpPr txBox="1"/>
          <p:nvPr/>
        </p:nvSpPr>
        <p:spPr>
          <a:xfrm>
            <a:off x="8732520" y="5522976"/>
            <a:ext cx="594360" cy="347472"/>
          </a:xfrm>
          <a:prstGeom prst="rect">
            <a:avLst/>
          </a:prstGeom>
          <a:noFill/>
        </p:spPr>
        <p:txBody>
          <a:bodyPr wrap="square">
            <a:spAutoFit/>
          </a:bodyPr>
          <a:lstStyle/>
          <a:p>
            <a:pPr algn="ctr"/>
            <a:r>
              <a:rPr sz="1300" b="1" i="0">
                <a:solidFill>
                  <a:srgbClr val="20E898"/>
                </a:solidFill>
              </a:rPr>
              <a:t>✓</a:t>
            </a:r>
          </a:p>
        </p:txBody>
      </p:sp>
      <p:sp>
        <p:nvSpPr>
          <p:cNvPr id="58" name="TextBox 57"/>
          <p:cNvSpPr txBox="1"/>
          <p:nvPr/>
        </p:nvSpPr>
        <p:spPr>
          <a:xfrm>
            <a:off x="9372600" y="5522976"/>
            <a:ext cx="594360" cy="347472"/>
          </a:xfrm>
          <a:prstGeom prst="rect">
            <a:avLst/>
          </a:prstGeom>
          <a:noFill/>
        </p:spPr>
        <p:txBody>
          <a:bodyPr wrap="square">
            <a:spAutoFit/>
          </a:bodyPr>
          <a:lstStyle/>
          <a:p>
            <a:pPr algn="ctr"/>
            <a:r>
              <a:rPr sz="1300" b="1" i="0">
                <a:solidFill>
                  <a:srgbClr val="F7931A"/>
                </a:solidFill>
              </a:rPr>
              <a:t>✗</a:t>
            </a:r>
          </a:p>
        </p:txBody>
      </p:sp>
      <p:sp>
        <p:nvSpPr>
          <p:cNvPr id="59" name="TextBox 58"/>
          <p:cNvSpPr txBox="1"/>
          <p:nvPr/>
        </p:nvSpPr>
        <p:spPr>
          <a:xfrm>
            <a:off x="10012680" y="5522976"/>
            <a:ext cx="594360" cy="347472"/>
          </a:xfrm>
          <a:prstGeom prst="rect">
            <a:avLst/>
          </a:prstGeom>
          <a:noFill/>
        </p:spPr>
        <p:txBody>
          <a:bodyPr wrap="square">
            <a:spAutoFit/>
          </a:bodyPr>
          <a:lstStyle/>
          <a:p>
            <a:pPr algn="ctr"/>
            <a:r>
              <a:rPr sz="1300" b="1" i="0">
                <a:solidFill>
                  <a:srgbClr val="F7931A"/>
                </a:solidFill>
              </a:rPr>
              <a:t>✗</a:t>
            </a:r>
          </a:p>
        </p:txBody>
      </p:sp>
      <p:sp>
        <p:nvSpPr>
          <p:cNvPr id="60" name="TextBox 59"/>
          <p:cNvSpPr txBox="1"/>
          <p:nvPr/>
        </p:nvSpPr>
        <p:spPr>
          <a:xfrm>
            <a:off x="10652760" y="5522976"/>
            <a:ext cx="822960" cy="347472"/>
          </a:xfrm>
          <a:prstGeom prst="rect">
            <a:avLst/>
          </a:prstGeom>
          <a:noFill/>
        </p:spPr>
        <p:txBody>
          <a:bodyPr wrap="square">
            <a:spAutoFit/>
          </a:bodyPr>
          <a:lstStyle/>
          <a:p>
            <a:pPr algn="ctr"/>
            <a:r>
              <a:rPr sz="1300" b="1" i="0">
                <a:solidFill>
                  <a:srgbClr val="F7931A"/>
                </a:solidFill>
              </a:rPr>
              <a:t>✗</a:t>
            </a:r>
          </a:p>
        </p:txBody>
      </p:sp>
      <p:sp>
        <p:nvSpPr>
          <p:cNvPr id="61" name="TextBox 60"/>
          <p:cNvSpPr txBox="1"/>
          <p:nvPr/>
        </p:nvSpPr>
        <p:spPr>
          <a:xfrm>
            <a:off x="6583680" y="6016752"/>
            <a:ext cx="2103120" cy="320040"/>
          </a:xfrm>
          <a:prstGeom prst="rect">
            <a:avLst/>
          </a:prstGeom>
          <a:noFill/>
        </p:spPr>
        <p:txBody>
          <a:bodyPr wrap="square">
            <a:spAutoFit/>
          </a:bodyPr>
          <a:lstStyle/>
          <a:p>
            <a:pPr algn="l"/>
            <a:r>
              <a:rPr sz="1100" b="0" i="0">
                <a:solidFill>
                  <a:srgbClr val="FAF7F0"/>
                </a:solidFill>
              </a:rPr>
              <a:t>Notarization</a:t>
            </a:r>
          </a:p>
        </p:txBody>
      </p:sp>
      <p:sp>
        <p:nvSpPr>
          <p:cNvPr id="62" name="TextBox 61"/>
          <p:cNvSpPr txBox="1"/>
          <p:nvPr/>
        </p:nvSpPr>
        <p:spPr>
          <a:xfrm>
            <a:off x="8732520" y="5998464"/>
            <a:ext cx="594360" cy="347472"/>
          </a:xfrm>
          <a:prstGeom prst="rect">
            <a:avLst/>
          </a:prstGeom>
          <a:noFill/>
        </p:spPr>
        <p:txBody>
          <a:bodyPr wrap="square">
            <a:spAutoFit/>
          </a:bodyPr>
          <a:lstStyle/>
          <a:p>
            <a:pPr algn="ctr"/>
            <a:r>
              <a:rPr sz="1300" b="1" i="0">
                <a:solidFill>
                  <a:srgbClr val="F7931A"/>
                </a:solidFill>
              </a:rPr>
              <a:t>✗</a:t>
            </a:r>
          </a:p>
        </p:txBody>
      </p:sp>
      <p:sp>
        <p:nvSpPr>
          <p:cNvPr id="63" name="TextBox 62"/>
          <p:cNvSpPr txBox="1"/>
          <p:nvPr/>
        </p:nvSpPr>
        <p:spPr>
          <a:xfrm>
            <a:off x="9372600" y="5998464"/>
            <a:ext cx="594360" cy="347472"/>
          </a:xfrm>
          <a:prstGeom prst="rect">
            <a:avLst/>
          </a:prstGeom>
          <a:noFill/>
        </p:spPr>
        <p:txBody>
          <a:bodyPr wrap="square">
            <a:spAutoFit/>
          </a:bodyPr>
          <a:lstStyle/>
          <a:p>
            <a:pPr algn="ctr"/>
            <a:r>
              <a:rPr sz="1300" b="1" i="0">
                <a:solidFill>
                  <a:srgbClr val="F7931A"/>
                </a:solidFill>
              </a:rPr>
              <a:t>✗</a:t>
            </a:r>
          </a:p>
        </p:txBody>
      </p:sp>
      <p:sp>
        <p:nvSpPr>
          <p:cNvPr id="64" name="TextBox 63"/>
          <p:cNvSpPr txBox="1"/>
          <p:nvPr/>
        </p:nvSpPr>
        <p:spPr>
          <a:xfrm>
            <a:off x="10012680" y="5998464"/>
            <a:ext cx="594360" cy="347472"/>
          </a:xfrm>
          <a:prstGeom prst="rect">
            <a:avLst/>
          </a:prstGeom>
          <a:noFill/>
        </p:spPr>
        <p:txBody>
          <a:bodyPr wrap="square">
            <a:spAutoFit/>
          </a:bodyPr>
          <a:lstStyle/>
          <a:p>
            <a:pPr algn="ctr"/>
            <a:r>
              <a:rPr sz="1300" b="1" i="0">
                <a:solidFill>
                  <a:srgbClr val="20E898"/>
                </a:solidFill>
              </a:rPr>
              <a:t>✓</a:t>
            </a:r>
          </a:p>
        </p:txBody>
      </p:sp>
      <p:sp>
        <p:nvSpPr>
          <p:cNvPr id="65" name="TextBox 64"/>
          <p:cNvSpPr txBox="1"/>
          <p:nvPr/>
        </p:nvSpPr>
        <p:spPr>
          <a:xfrm>
            <a:off x="10652760" y="5998464"/>
            <a:ext cx="822960" cy="347472"/>
          </a:xfrm>
          <a:prstGeom prst="rect">
            <a:avLst/>
          </a:prstGeom>
          <a:noFill/>
        </p:spPr>
        <p:txBody>
          <a:bodyPr wrap="square">
            <a:spAutoFit/>
          </a:bodyPr>
          <a:lstStyle/>
          <a:p>
            <a:pPr algn="ctr"/>
            <a:r>
              <a:rPr sz="1300" b="1" i="0">
                <a:solidFill>
                  <a:srgbClr val="F7931A"/>
                </a:solidFill>
              </a:rPr>
              <a: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40C16"/>
        </a:solidFill>
        <a:effectLst/>
      </p:bgPr>
    </p:bg>
    <p:spTree>
      <p:nvGrpSpPr>
        <p:cNvPr id="1" name=""/>
        <p:cNvGrpSpPr/>
        <p:nvPr/>
      </p:nvGrpSpPr>
      <p:grpSpPr/>
      <p:sp>
        <p:nvSpPr>
          <p:cNvPr id="2" name="Rectangle 1"/>
          <p:cNvSpPr/>
          <p:nvPr/>
        </p:nvSpPr>
        <p:spPr>
          <a:xfrm>
            <a:off x="0" y="0"/>
            <a:ext cx="457200" cy="6858000"/>
          </a:xfrm>
          <a:prstGeom prst="rect">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edgerproof-logo.png"/>
          <p:cNvPicPr>
            <a:picLocks noChangeAspect="1"/>
          </p:cNvPicPr>
          <p:nvPr/>
        </p:nvPicPr>
        <p:blipFill>
          <a:blip r:embed="rId2"/>
          <a:stretch>
            <a:fillRect/>
          </a:stretch>
        </p:blipFill>
        <p:spPr>
          <a:xfrm>
            <a:off x="658368" y="201168"/>
            <a:ext cx="1691640" cy="912781"/>
          </a:xfrm>
          <a:prstGeom prst="rect">
            <a:avLst/>
          </a:prstGeom>
        </p:spPr>
      </p:pic>
      <p:sp>
        <p:nvSpPr>
          <p:cNvPr id="4" name="TextBox 3"/>
          <p:cNvSpPr txBox="1"/>
          <p:nvPr/>
        </p:nvSpPr>
        <p:spPr>
          <a:xfrm>
            <a:off x="9784080" y="201168"/>
            <a:ext cx="2286000" cy="347472"/>
          </a:xfrm>
          <a:prstGeom prst="rect">
            <a:avLst/>
          </a:prstGeom>
          <a:noFill/>
        </p:spPr>
        <p:txBody>
          <a:bodyPr wrap="square">
            <a:spAutoFit/>
          </a:bodyPr>
          <a:lstStyle/>
          <a:p>
            <a:pPr algn="r"/>
            <a:r>
              <a:rPr sz="850" b="1" i="0">
                <a:solidFill>
                  <a:srgbClr val="335566"/>
                </a:solidFill>
              </a:rPr>
              <a:t>WHY TEN31</a:t>
            </a:r>
          </a:p>
        </p:txBody>
      </p:sp>
      <p:sp>
        <p:nvSpPr>
          <p:cNvPr id="5" name="TextBox 4"/>
          <p:cNvSpPr txBox="1"/>
          <p:nvPr/>
        </p:nvSpPr>
        <p:spPr>
          <a:xfrm>
            <a:off x="658368" y="822960"/>
            <a:ext cx="10972800" cy="1097280"/>
          </a:xfrm>
          <a:prstGeom prst="rect">
            <a:avLst/>
          </a:prstGeom>
          <a:noFill/>
        </p:spPr>
        <p:txBody>
          <a:bodyPr wrap="square">
            <a:spAutoFit/>
          </a:bodyPr>
          <a:lstStyle/>
          <a:p>
            <a:pPr algn="l"/>
            <a:r>
              <a:rPr sz="2800" b="1" i="0">
                <a:solidFill>
                  <a:srgbClr val="FFFFFF"/>
                </a:solidFill>
              </a:rPr>
              <a:t>You funded the infrastructure Bitcoin runs on.
We built what runs above it.</a:t>
            </a:r>
          </a:p>
        </p:txBody>
      </p:sp>
      <p:sp>
        <p:nvSpPr>
          <p:cNvPr id="6" name="Rectangle 5"/>
          <p:cNvSpPr/>
          <p:nvPr/>
        </p:nvSpPr>
        <p:spPr>
          <a:xfrm>
            <a:off x="658368" y="2029968"/>
            <a:ext cx="10972800" cy="19050"/>
          </a:xfrm>
          <a:prstGeom prst="rect">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58368" y="2286000"/>
            <a:ext cx="384048" cy="384048"/>
          </a:xfrm>
          <a:prstGeom prst="ellipse">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2286000"/>
            <a:ext cx="384048" cy="384048"/>
          </a:xfrm>
          <a:prstGeom prst="rect">
            <a:avLst/>
          </a:prstGeom>
          <a:noFill/>
        </p:spPr>
        <p:txBody>
          <a:bodyPr wrap="square">
            <a:spAutoFit/>
          </a:bodyPr>
          <a:lstStyle/>
          <a:p>
            <a:pPr algn="ctr"/>
            <a:r>
              <a:rPr sz="1400" b="1" i="0">
                <a:solidFill>
                  <a:srgbClr val="081424"/>
                </a:solidFill>
              </a:rPr>
              <a:t>1</a:t>
            </a:r>
          </a:p>
        </p:txBody>
      </p:sp>
      <p:sp>
        <p:nvSpPr>
          <p:cNvPr id="9" name="TextBox 8"/>
          <p:cNvSpPr txBox="1"/>
          <p:nvPr/>
        </p:nvSpPr>
        <p:spPr>
          <a:xfrm>
            <a:off x="1188720" y="2267712"/>
            <a:ext cx="10332720" cy="384048"/>
          </a:xfrm>
          <a:prstGeom prst="rect">
            <a:avLst/>
          </a:prstGeom>
          <a:noFill/>
        </p:spPr>
        <p:txBody>
          <a:bodyPr wrap="square">
            <a:spAutoFit/>
          </a:bodyPr>
          <a:lstStyle/>
          <a:p>
            <a:pPr algn="l"/>
            <a:r>
              <a:rPr sz="1600" b="1" i="0">
                <a:solidFill>
                  <a:srgbClr val="20E898"/>
                </a:solidFill>
              </a:rPr>
              <a:t>SATs flows.</a:t>
            </a:r>
          </a:p>
        </p:txBody>
      </p:sp>
      <p:sp>
        <p:nvSpPr>
          <p:cNvPr id="10" name="TextBox 9"/>
          <p:cNvSpPr txBox="1"/>
          <p:nvPr/>
        </p:nvSpPr>
        <p:spPr>
          <a:xfrm>
            <a:off x="1188720" y="2670048"/>
            <a:ext cx="10332720" cy="914400"/>
          </a:xfrm>
          <a:prstGeom prst="rect">
            <a:avLst/>
          </a:prstGeom>
          <a:noFill/>
        </p:spPr>
        <p:txBody>
          <a:bodyPr wrap="square">
            <a:spAutoFit/>
          </a:bodyPr>
          <a:lstStyle/>
          <a:p>
            <a:pPr algn="l"/>
            <a:r>
              <a:rPr sz="1200" b="0" i="0">
                <a:solidFill>
                  <a:srgbClr val="FAF7F0"/>
                </a:solidFill>
              </a:rPr>
              <a:t>Every LedgerProof receipt is a Bitcoin transaction. Every institutional document anchored is a new source of permanent block demand. LedgerProof turns the $138B documentary economy into SATs flows — that is your thesis on Bitcoin as infrastructure, applied to a market that has never touched Bitcoin before.</a:t>
            </a:r>
          </a:p>
        </p:txBody>
      </p:sp>
      <p:sp>
        <p:nvSpPr>
          <p:cNvPr id="11" name="Oval 10"/>
          <p:cNvSpPr/>
          <p:nvPr/>
        </p:nvSpPr>
        <p:spPr>
          <a:xfrm>
            <a:off x="658368" y="3749039"/>
            <a:ext cx="384048" cy="384048"/>
          </a:xfrm>
          <a:prstGeom prst="ellipse">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3749039"/>
            <a:ext cx="384048" cy="384048"/>
          </a:xfrm>
          <a:prstGeom prst="rect">
            <a:avLst/>
          </a:prstGeom>
          <a:noFill/>
        </p:spPr>
        <p:txBody>
          <a:bodyPr wrap="square">
            <a:spAutoFit/>
          </a:bodyPr>
          <a:lstStyle/>
          <a:p>
            <a:pPr algn="ctr"/>
            <a:r>
              <a:rPr sz="1400" b="1" i="0">
                <a:solidFill>
                  <a:srgbClr val="081424"/>
                </a:solidFill>
              </a:rPr>
              <a:t>2</a:t>
            </a:r>
          </a:p>
        </p:txBody>
      </p:sp>
      <p:sp>
        <p:nvSpPr>
          <p:cNvPr id="13" name="TextBox 12"/>
          <p:cNvSpPr txBox="1"/>
          <p:nvPr/>
        </p:nvSpPr>
        <p:spPr>
          <a:xfrm>
            <a:off x="1188720" y="3730751"/>
            <a:ext cx="10332720" cy="384048"/>
          </a:xfrm>
          <a:prstGeom prst="rect">
            <a:avLst/>
          </a:prstGeom>
          <a:noFill/>
        </p:spPr>
        <p:txBody>
          <a:bodyPr wrap="square">
            <a:spAutoFit/>
          </a:bodyPr>
          <a:lstStyle/>
          <a:p>
            <a:pPr algn="l"/>
            <a:r>
              <a:rPr sz="1600" b="1" i="0">
                <a:solidFill>
                  <a:srgbClr val="20E898"/>
                </a:solidFill>
              </a:rPr>
              <a:t>Bitcoin on the balance sheet.</a:t>
            </a:r>
          </a:p>
        </p:txBody>
      </p:sp>
      <p:sp>
        <p:nvSpPr>
          <p:cNvPr id="14" name="TextBox 13"/>
          <p:cNvSpPr txBox="1"/>
          <p:nvPr/>
        </p:nvSpPr>
        <p:spPr>
          <a:xfrm>
            <a:off x="1188720" y="4133087"/>
            <a:ext cx="10332720" cy="914400"/>
          </a:xfrm>
          <a:prstGeom prst="rect">
            <a:avLst/>
          </a:prstGeom>
          <a:noFill/>
        </p:spPr>
        <p:txBody>
          <a:bodyPr wrap="square">
            <a:spAutoFit/>
          </a:bodyPr>
          <a:lstStyle/>
          <a:p>
            <a:pPr algn="l"/>
            <a:r>
              <a:rPr sz="1200" b="0" i="0">
                <a:solidFill>
                  <a:srgbClr val="FAF7F0"/>
                </a:solidFill>
              </a:rPr>
              <a:t>LedgerProof, Inc. holds Bitcoin from Day 1. The product anchors to mainnet. The treasury reflects that conviction operationally — not as a signal, not as speculation.</a:t>
            </a:r>
          </a:p>
        </p:txBody>
      </p:sp>
      <p:sp>
        <p:nvSpPr>
          <p:cNvPr id="15" name="Oval 14"/>
          <p:cNvSpPr/>
          <p:nvPr/>
        </p:nvSpPr>
        <p:spPr>
          <a:xfrm>
            <a:off x="658368" y="5212080"/>
            <a:ext cx="384048" cy="384048"/>
          </a:xfrm>
          <a:prstGeom prst="ellipse">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5212080"/>
            <a:ext cx="384048" cy="384048"/>
          </a:xfrm>
          <a:prstGeom prst="rect">
            <a:avLst/>
          </a:prstGeom>
          <a:noFill/>
        </p:spPr>
        <p:txBody>
          <a:bodyPr wrap="square">
            <a:spAutoFit/>
          </a:bodyPr>
          <a:lstStyle/>
          <a:p>
            <a:pPr algn="ctr"/>
            <a:r>
              <a:rPr sz="1400" b="1" i="0">
                <a:solidFill>
                  <a:srgbClr val="081424"/>
                </a:solidFill>
              </a:rPr>
              <a:t>3</a:t>
            </a:r>
          </a:p>
        </p:txBody>
      </p:sp>
      <p:sp>
        <p:nvSpPr>
          <p:cNvPr id="17" name="TextBox 16"/>
          <p:cNvSpPr txBox="1"/>
          <p:nvPr/>
        </p:nvSpPr>
        <p:spPr>
          <a:xfrm>
            <a:off x="1188720" y="5193792"/>
            <a:ext cx="10332720" cy="384048"/>
          </a:xfrm>
          <a:prstGeom prst="rect">
            <a:avLst/>
          </a:prstGeom>
          <a:noFill/>
        </p:spPr>
        <p:txBody>
          <a:bodyPr wrap="square">
            <a:spAutoFit/>
          </a:bodyPr>
          <a:lstStyle/>
          <a:p>
            <a:pPr algn="l"/>
            <a:r>
              <a:rPr sz="1600" b="1" i="0">
                <a:solidFill>
                  <a:srgbClr val="20E898"/>
                </a:solidFill>
              </a:rPr>
              <a:t>The portfolio gap.</a:t>
            </a:r>
          </a:p>
        </p:txBody>
      </p:sp>
      <p:sp>
        <p:nvSpPr>
          <p:cNvPr id="18" name="TextBox 17"/>
          <p:cNvSpPr txBox="1"/>
          <p:nvPr/>
        </p:nvSpPr>
        <p:spPr>
          <a:xfrm>
            <a:off x="1188720" y="5596128"/>
            <a:ext cx="10332720" cy="914400"/>
          </a:xfrm>
          <a:prstGeom prst="rect">
            <a:avLst/>
          </a:prstGeom>
          <a:noFill/>
        </p:spPr>
        <p:txBody>
          <a:bodyPr wrap="square">
            <a:spAutoFit/>
          </a:bodyPr>
          <a:lstStyle/>
          <a:p>
            <a:pPr algn="l"/>
            <a:r>
              <a:rPr sz="1200" b="0" i="0">
                <a:solidFill>
                  <a:srgbClr val="FAF7F0"/>
                </a:solidFill>
              </a:rPr>
              <a:t>Not one of your 31 portfolio companies does what LedgerProof does. Every law firm, every bank, every insurer, every AI platform in your network needs institutional document provenance. You own the distribution. We own the protocol. This is the close.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40C16"/>
        </a:solidFill>
        <a:effectLst/>
      </p:bgPr>
    </p:bg>
    <p:spTree>
      <p:nvGrpSpPr>
        <p:cNvPr id="1" name=""/>
        <p:cNvGrpSpPr/>
        <p:nvPr/>
      </p:nvGrpSpPr>
      <p:grpSpPr/>
      <p:pic>
        <p:nvPicPr>
          <p:cNvPr id="2" name="Picture 1" descr="ledgerproof-logo.png"/>
          <p:cNvPicPr>
            <a:picLocks noChangeAspect="1"/>
          </p:cNvPicPr>
          <p:nvPr/>
        </p:nvPicPr>
        <p:blipFill>
          <a:blip r:embed="rId2"/>
          <a:stretch>
            <a:fillRect/>
          </a:stretch>
        </p:blipFill>
        <p:spPr>
          <a:xfrm>
            <a:off x="347472" y="182880"/>
            <a:ext cx="1691640" cy="912781"/>
          </a:xfrm>
          <a:prstGeom prst="rect">
            <a:avLst/>
          </a:prstGeom>
        </p:spPr>
      </p:pic>
      <p:sp>
        <p:nvSpPr>
          <p:cNvPr id="3" name="TextBox 2"/>
          <p:cNvSpPr txBox="1"/>
          <p:nvPr/>
        </p:nvSpPr>
        <p:spPr>
          <a:xfrm>
            <a:off x="9784080" y="201168"/>
            <a:ext cx="2286000" cy="347472"/>
          </a:xfrm>
          <a:prstGeom prst="rect">
            <a:avLst/>
          </a:prstGeom>
          <a:noFill/>
        </p:spPr>
        <p:txBody>
          <a:bodyPr wrap="square">
            <a:spAutoFit/>
          </a:bodyPr>
          <a:lstStyle/>
          <a:p>
            <a:pPr algn="r"/>
            <a:r>
              <a:rPr sz="850" b="1" i="0">
                <a:solidFill>
                  <a:srgbClr val="335566"/>
                </a:solidFill>
              </a:rPr>
              <a:t>THE ASK</a:t>
            </a:r>
          </a:p>
        </p:txBody>
      </p:sp>
      <p:sp>
        <p:nvSpPr>
          <p:cNvPr id="4" name="Rectangle 3"/>
          <p:cNvSpPr/>
          <p:nvPr/>
        </p:nvSpPr>
        <p:spPr>
          <a:xfrm>
            <a:off x="0" y="0"/>
            <a:ext cx="12188952" cy="109728"/>
          </a:xfrm>
          <a:prstGeom prst="rect">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777240"/>
            <a:ext cx="11494008" cy="914400"/>
          </a:xfrm>
          <a:prstGeom prst="rect">
            <a:avLst/>
          </a:prstGeom>
          <a:noFill/>
        </p:spPr>
        <p:txBody>
          <a:bodyPr wrap="square">
            <a:spAutoFit/>
          </a:bodyPr>
          <a:lstStyle/>
          <a:p>
            <a:pPr algn="l"/>
            <a:r>
              <a:rPr sz="5200" b="1" i="0">
                <a:solidFill>
                  <a:srgbClr val="FFFFFF"/>
                </a:solidFill>
              </a:rPr>
              <a:t>Lead this round.</a:t>
            </a:r>
          </a:p>
        </p:txBody>
      </p:sp>
      <p:sp>
        <p:nvSpPr>
          <p:cNvPr id="6" name="TextBox 5"/>
          <p:cNvSpPr txBox="1"/>
          <p:nvPr/>
        </p:nvSpPr>
        <p:spPr>
          <a:xfrm>
            <a:off x="347472" y="1664208"/>
            <a:ext cx="11494008" cy="548640"/>
          </a:xfrm>
          <a:prstGeom prst="rect">
            <a:avLst/>
          </a:prstGeom>
          <a:noFill/>
        </p:spPr>
        <p:txBody>
          <a:bodyPr wrap="square">
            <a:spAutoFit/>
          </a:bodyPr>
          <a:lstStyle/>
          <a:p>
            <a:pPr algn="l"/>
            <a:r>
              <a:rPr sz="2000" b="0" i="0">
                <a:solidFill>
                  <a:srgbClr val="20E898"/>
                </a:solidFill>
              </a:rPr>
              <a:t>Help us build the protocol the world needs.</a:t>
            </a:r>
          </a:p>
        </p:txBody>
      </p:sp>
      <p:sp>
        <p:nvSpPr>
          <p:cNvPr id="7" name="Rectangle 6"/>
          <p:cNvSpPr/>
          <p:nvPr/>
        </p:nvSpPr>
        <p:spPr>
          <a:xfrm>
            <a:off x="347472" y="2286000"/>
            <a:ext cx="11494008" cy="12700"/>
          </a:xfrm>
          <a:prstGeom prst="rect">
            <a:avLst/>
          </a:prstGeom>
          <a:solidFill>
            <a:srgbClr val="4455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2423160"/>
            <a:ext cx="2286000" cy="320040"/>
          </a:xfrm>
          <a:prstGeom prst="rect">
            <a:avLst/>
          </a:prstGeom>
          <a:noFill/>
        </p:spPr>
        <p:txBody>
          <a:bodyPr wrap="square">
            <a:spAutoFit/>
          </a:bodyPr>
          <a:lstStyle/>
          <a:p>
            <a:pPr algn="l"/>
            <a:r>
              <a:rPr sz="1000" b="1" i="0">
                <a:solidFill>
                  <a:srgbClr val="667788"/>
                </a:solidFill>
              </a:rPr>
              <a:t>TERMS</a:t>
            </a:r>
          </a:p>
        </p:txBody>
      </p:sp>
      <p:sp>
        <p:nvSpPr>
          <p:cNvPr id="9" name="TextBox 8"/>
          <p:cNvSpPr txBox="1"/>
          <p:nvPr/>
        </p:nvSpPr>
        <p:spPr>
          <a:xfrm>
            <a:off x="347472" y="2816352"/>
            <a:ext cx="2194560" cy="347472"/>
          </a:xfrm>
          <a:prstGeom prst="rect">
            <a:avLst/>
          </a:prstGeom>
          <a:noFill/>
        </p:spPr>
        <p:txBody>
          <a:bodyPr wrap="square">
            <a:spAutoFit/>
          </a:bodyPr>
          <a:lstStyle/>
          <a:p>
            <a:pPr algn="l"/>
            <a:r>
              <a:rPr sz="950" b="1" i="0">
                <a:solidFill>
                  <a:srgbClr val="667788"/>
                </a:solidFill>
              </a:rPr>
              <a:t>RAISE</a:t>
            </a:r>
          </a:p>
        </p:txBody>
      </p:sp>
      <p:sp>
        <p:nvSpPr>
          <p:cNvPr id="10" name="TextBox 9"/>
          <p:cNvSpPr txBox="1"/>
          <p:nvPr/>
        </p:nvSpPr>
        <p:spPr>
          <a:xfrm>
            <a:off x="2606040" y="2816352"/>
            <a:ext cx="3200400" cy="347472"/>
          </a:xfrm>
          <a:prstGeom prst="rect">
            <a:avLst/>
          </a:prstGeom>
          <a:noFill/>
        </p:spPr>
        <p:txBody>
          <a:bodyPr wrap="square">
            <a:spAutoFit/>
          </a:bodyPr>
          <a:lstStyle/>
          <a:p>
            <a:pPr algn="l"/>
            <a:r>
              <a:rPr sz="1200" b="1" i="0">
                <a:solidFill>
                  <a:srgbClr val="FFFFFF"/>
                </a:solidFill>
              </a:rPr>
              <a:t>$5,000,000</a:t>
            </a:r>
          </a:p>
        </p:txBody>
      </p:sp>
      <p:sp>
        <p:nvSpPr>
          <p:cNvPr id="11" name="TextBox 10"/>
          <p:cNvSpPr txBox="1"/>
          <p:nvPr/>
        </p:nvSpPr>
        <p:spPr>
          <a:xfrm>
            <a:off x="347472" y="3291840"/>
            <a:ext cx="2194560" cy="347472"/>
          </a:xfrm>
          <a:prstGeom prst="rect">
            <a:avLst/>
          </a:prstGeom>
          <a:noFill/>
        </p:spPr>
        <p:txBody>
          <a:bodyPr wrap="square">
            <a:spAutoFit/>
          </a:bodyPr>
          <a:lstStyle/>
          <a:p>
            <a:pPr algn="l"/>
            <a:r>
              <a:rPr sz="950" b="1" i="0">
                <a:solidFill>
                  <a:srgbClr val="667788"/>
                </a:solidFill>
              </a:rPr>
              <a:t>INSTRUMENT</a:t>
            </a:r>
          </a:p>
        </p:txBody>
      </p:sp>
      <p:sp>
        <p:nvSpPr>
          <p:cNvPr id="12" name="TextBox 11"/>
          <p:cNvSpPr txBox="1"/>
          <p:nvPr/>
        </p:nvSpPr>
        <p:spPr>
          <a:xfrm>
            <a:off x="2606040" y="3291840"/>
            <a:ext cx="3200400" cy="347472"/>
          </a:xfrm>
          <a:prstGeom prst="rect">
            <a:avLst/>
          </a:prstGeom>
          <a:noFill/>
        </p:spPr>
        <p:txBody>
          <a:bodyPr wrap="square">
            <a:spAutoFit/>
          </a:bodyPr>
          <a:lstStyle/>
          <a:p>
            <a:pPr algn="l"/>
            <a:r>
              <a:rPr sz="1200" b="1" i="0">
                <a:solidFill>
                  <a:srgbClr val="FFFFFF"/>
                </a:solidFill>
              </a:rPr>
              <a:t>Post-Money SAFE</a:t>
            </a:r>
          </a:p>
        </p:txBody>
      </p:sp>
      <p:sp>
        <p:nvSpPr>
          <p:cNvPr id="13" name="TextBox 12"/>
          <p:cNvSpPr txBox="1"/>
          <p:nvPr/>
        </p:nvSpPr>
        <p:spPr>
          <a:xfrm>
            <a:off x="347472" y="3767328"/>
            <a:ext cx="2194560" cy="347472"/>
          </a:xfrm>
          <a:prstGeom prst="rect">
            <a:avLst/>
          </a:prstGeom>
          <a:noFill/>
        </p:spPr>
        <p:txBody>
          <a:bodyPr wrap="square">
            <a:spAutoFit/>
          </a:bodyPr>
          <a:lstStyle/>
          <a:p>
            <a:pPr algn="l"/>
            <a:r>
              <a:rPr sz="950" b="1" i="0">
                <a:solidFill>
                  <a:srgbClr val="667788"/>
                </a:solidFill>
              </a:rPr>
              <a:t>VALUATION CAP</a:t>
            </a:r>
          </a:p>
        </p:txBody>
      </p:sp>
      <p:sp>
        <p:nvSpPr>
          <p:cNvPr id="14" name="TextBox 13"/>
          <p:cNvSpPr txBox="1"/>
          <p:nvPr/>
        </p:nvSpPr>
        <p:spPr>
          <a:xfrm>
            <a:off x="2606040" y="3767328"/>
            <a:ext cx="3200400" cy="347472"/>
          </a:xfrm>
          <a:prstGeom prst="rect">
            <a:avLst/>
          </a:prstGeom>
          <a:noFill/>
        </p:spPr>
        <p:txBody>
          <a:bodyPr wrap="square">
            <a:spAutoFit/>
          </a:bodyPr>
          <a:lstStyle/>
          <a:p>
            <a:pPr algn="l"/>
            <a:r>
              <a:rPr sz="1200" b="1" i="0">
                <a:solidFill>
                  <a:srgbClr val="FFFFFF"/>
                </a:solidFill>
              </a:rPr>
              <a:t>$30,000,000</a:t>
            </a:r>
          </a:p>
        </p:txBody>
      </p:sp>
      <p:sp>
        <p:nvSpPr>
          <p:cNvPr id="15" name="TextBox 14"/>
          <p:cNvSpPr txBox="1"/>
          <p:nvPr/>
        </p:nvSpPr>
        <p:spPr>
          <a:xfrm>
            <a:off x="347472" y="4242816"/>
            <a:ext cx="2194560" cy="347472"/>
          </a:xfrm>
          <a:prstGeom prst="rect">
            <a:avLst/>
          </a:prstGeom>
          <a:noFill/>
        </p:spPr>
        <p:txBody>
          <a:bodyPr wrap="square">
            <a:spAutoFit/>
          </a:bodyPr>
          <a:lstStyle/>
          <a:p>
            <a:pPr algn="l"/>
            <a:r>
              <a:rPr sz="950" b="1" i="0">
                <a:solidFill>
                  <a:srgbClr val="667788"/>
                </a:solidFill>
              </a:rPr>
              <a:t>DISCOUNT</a:t>
            </a:r>
          </a:p>
        </p:txBody>
      </p:sp>
      <p:sp>
        <p:nvSpPr>
          <p:cNvPr id="16" name="TextBox 15"/>
          <p:cNvSpPr txBox="1"/>
          <p:nvPr/>
        </p:nvSpPr>
        <p:spPr>
          <a:xfrm>
            <a:off x="2606040" y="4242816"/>
            <a:ext cx="3200400" cy="347472"/>
          </a:xfrm>
          <a:prstGeom prst="rect">
            <a:avLst/>
          </a:prstGeom>
          <a:noFill/>
        </p:spPr>
        <p:txBody>
          <a:bodyPr wrap="square">
            <a:spAutoFit/>
          </a:bodyPr>
          <a:lstStyle/>
          <a:p>
            <a:pPr algn="l"/>
            <a:r>
              <a:rPr sz="1200" b="1" i="0">
                <a:solidFill>
                  <a:srgbClr val="FFFFFF"/>
                </a:solidFill>
              </a:rPr>
              <a:t>20% on next priced round</a:t>
            </a:r>
          </a:p>
        </p:txBody>
      </p:sp>
      <p:sp>
        <p:nvSpPr>
          <p:cNvPr id="17" name="TextBox 16"/>
          <p:cNvSpPr txBox="1"/>
          <p:nvPr/>
        </p:nvSpPr>
        <p:spPr>
          <a:xfrm>
            <a:off x="347472" y="4718304"/>
            <a:ext cx="2194560" cy="347472"/>
          </a:xfrm>
          <a:prstGeom prst="rect">
            <a:avLst/>
          </a:prstGeom>
          <a:noFill/>
        </p:spPr>
        <p:txBody>
          <a:bodyPr wrap="square">
            <a:spAutoFit/>
          </a:bodyPr>
          <a:lstStyle/>
          <a:p>
            <a:pPr algn="l"/>
            <a:r>
              <a:rPr sz="950" b="1" i="0">
                <a:solidFill>
                  <a:srgbClr val="667788"/>
                </a:solidFill>
              </a:rPr>
              <a:t>PRO-RATA</a:t>
            </a:r>
          </a:p>
        </p:txBody>
      </p:sp>
      <p:sp>
        <p:nvSpPr>
          <p:cNvPr id="18" name="TextBox 17"/>
          <p:cNvSpPr txBox="1"/>
          <p:nvPr/>
        </p:nvSpPr>
        <p:spPr>
          <a:xfrm>
            <a:off x="2606040" y="4718304"/>
            <a:ext cx="3200400" cy="347472"/>
          </a:xfrm>
          <a:prstGeom prst="rect">
            <a:avLst/>
          </a:prstGeom>
          <a:noFill/>
        </p:spPr>
        <p:txBody>
          <a:bodyPr wrap="square">
            <a:spAutoFit/>
          </a:bodyPr>
          <a:lstStyle/>
          <a:p>
            <a:pPr algn="l"/>
            <a:r>
              <a:rPr sz="1200" b="1" i="0">
                <a:solidFill>
                  <a:srgbClr val="FFFFFF"/>
                </a:solidFill>
              </a:rPr>
              <a:t>All future rounds</a:t>
            </a:r>
          </a:p>
        </p:txBody>
      </p:sp>
      <p:sp>
        <p:nvSpPr>
          <p:cNvPr id="19" name="TextBox 18"/>
          <p:cNvSpPr txBox="1"/>
          <p:nvPr/>
        </p:nvSpPr>
        <p:spPr>
          <a:xfrm>
            <a:off x="347472" y="5193792"/>
            <a:ext cx="2194560" cy="347472"/>
          </a:xfrm>
          <a:prstGeom prst="rect">
            <a:avLst/>
          </a:prstGeom>
          <a:noFill/>
        </p:spPr>
        <p:txBody>
          <a:bodyPr wrap="square">
            <a:spAutoFit/>
          </a:bodyPr>
          <a:lstStyle/>
          <a:p>
            <a:pPr algn="l"/>
            <a:r>
              <a:rPr sz="950" b="1" i="0">
                <a:solidFill>
                  <a:srgbClr val="667788"/>
                </a:solidFill>
              </a:rPr>
              <a:t>BOARD OBSERVER</a:t>
            </a:r>
          </a:p>
        </p:txBody>
      </p:sp>
      <p:sp>
        <p:nvSpPr>
          <p:cNvPr id="20" name="TextBox 19"/>
          <p:cNvSpPr txBox="1"/>
          <p:nvPr/>
        </p:nvSpPr>
        <p:spPr>
          <a:xfrm>
            <a:off x="2606040" y="5193792"/>
            <a:ext cx="3200400" cy="347472"/>
          </a:xfrm>
          <a:prstGeom prst="rect">
            <a:avLst/>
          </a:prstGeom>
          <a:noFill/>
        </p:spPr>
        <p:txBody>
          <a:bodyPr wrap="square">
            <a:spAutoFit/>
          </a:bodyPr>
          <a:lstStyle/>
          <a:p>
            <a:pPr algn="l"/>
            <a:r>
              <a:rPr sz="1200" b="1" i="0">
                <a:solidFill>
                  <a:srgbClr val="FFFFFF"/>
                </a:solidFill>
              </a:rPr>
              <a:t>One seat — Ten31 designee</a:t>
            </a:r>
          </a:p>
        </p:txBody>
      </p:sp>
      <p:sp>
        <p:nvSpPr>
          <p:cNvPr id="21" name="TextBox 20"/>
          <p:cNvSpPr txBox="1"/>
          <p:nvPr/>
        </p:nvSpPr>
        <p:spPr>
          <a:xfrm>
            <a:off x="347472" y="5669280"/>
            <a:ext cx="2194560" cy="347472"/>
          </a:xfrm>
          <a:prstGeom prst="rect">
            <a:avLst/>
          </a:prstGeom>
          <a:noFill/>
        </p:spPr>
        <p:txBody>
          <a:bodyPr wrap="square">
            <a:spAutoFit/>
          </a:bodyPr>
          <a:lstStyle/>
          <a:p>
            <a:pPr algn="l"/>
            <a:r>
              <a:rPr sz="950" b="1" i="0">
                <a:solidFill>
                  <a:srgbClr val="667788"/>
                </a:solidFill>
              </a:rPr>
              <a:t>TARGET CLOSE</a:t>
            </a:r>
          </a:p>
        </p:txBody>
      </p:sp>
      <p:sp>
        <p:nvSpPr>
          <p:cNvPr id="22" name="TextBox 21"/>
          <p:cNvSpPr txBox="1"/>
          <p:nvPr/>
        </p:nvSpPr>
        <p:spPr>
          <a:xfrm>
            <a:off x="2606040" y="5669280"/>
            <a:ext cx="3200400" cy="347472"/>
          </a:xfrm>
          <a:prstGeom prst="rect">
            <a:avLst/>
          </a:prstGeom>
          <a:noFill/>
        </p:spPr>
        <p:txBody>
          <a:bodyPr wrap="square">
            <a:spAutoFit/>
          </a:bodyPr>
          <a:lstStyle/>
          <a:p>
            <a:pPr algn="l"/>
            <a:r>
              <a:rPr sz="1200" b="1" i="0">
                <a:solidFill>
                  <a:srgbClr val="F7931A"/>
                </a:solidFill>
              </a:rPr>
              <a:t>July 25, 2026</a:t>
            </a:r>
          </a:p>
        </p:txBody>
      </p:sp>
      <p:sp>
        <p:nvSpPr>
          <p:cNvPr id="23" name="Rectangle 22"/>
          <p:cNvSpPr/>
          <p:nvPr/>
        </p:nvSpPr>
        <p:spPr>
          <a:xfrm>
            <a:off x="6126480" y="2304288"/>
            <a:ext cx="12700" cy="4389120"/>
          </a:xfrm>
          <a:prstGeom prst="rect">
            <a:avLst/>
          </a:prstGeom>
          <a:solidFill>
            <a:srgbClr val="4455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0" y="2423160"/>
            <a:ext cx="5486400" cy="320040"/>
          </a:xfrm>
          <a:prstGeom prst="rect">
            <a:avLst/>
          </a:prstGeom>
          <a:noFill/>
        </p:spPr>
        <p:txBody>
          <a:bodyPr wrap="square">
            <a:spAutoFit/>
          </a:bodyPr>
          <a:lstStyle/>
          <a:p>
            <a:pPr algn="l"/>
            <a:r>
              <a:rPr sz="1000" b="1" i="0">
                <a:solidFill>
                  <a:srgbClr val="667788"/>
                </a:solidFill>
              </a:rPr>
              <a:t>USE OF $5M</a:t>
            </a:r>
          </a:p>
        </p:txBody>
      </p:sp>
      <p:sp>
        <p:nvSpPr>
          <p:cNvPr id="25" name="Rectangle 24"/>
          <p:cNvSpPr/>
          <p:nvPr/>
        </p:nvSpPr>
        <p:spPr>
          <a:xfrm>
            <a:off x="6400800" y="2871216"/>
            <a:ext cx="38100" cy="530352"/>
          </a:xfrm>
          <a:prstGeom prst="rect">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65392" y="2816352"/>
            <a:ext cx="2743200" cy="320040"/>
          </a:xfrm>
          <a:prstGeom prst="rect">
            <a:avLst/>
          </a:prstGeom>
          <a:noFill/>
        </p:spPr>
        <p:txBody>
          <a:bodyPr wrap="square">
            <a:spAutoFit/>
          </a:bodyPr>
          <a:lstStyle/>
          <a:p>
            <a:pPr algn="l"/>
            <a:r>
              <a:rPr sz="1200" b="1" i="0">
                <a:solidFill>
                  <a:srgbClr val="FFFFFF"/>
                </a:solidFill>
              </a:rPr>
              <a:t>Protocol &amp; security</a:t>
            </a:r>
          </a:p>
        </p:txBody>
      </p:sp>
      <p:sp>
        <p:nvSpPr>
          <p:cNvPr id="27" name="TextBox 26"/>
          <p:cNvSpPr txBox="1"/>
          <p:nvPr/>
        </p:nvSpPr>
        <p:spPr>
          <a:xfrm>
            <a:off x="6565392" y="3118104"/>
            <a:ext cx="2743200" cy="292608"/>
          </a:xfrm>
          <a:prstGeom prst="rect">
            <a:avLst/>
          </a:prstGeom>
          <a:noFill/>
        </p:spPr>
        <p:txBody>
          <a:bodyPr wrap="square">
            <a:spAutoFit/>
          </a:bodyPr>
          <a:lstStyle/>
          <a:p>
            <a:pPr algn="l"/>
            <a:r>
              <a:rPr sz="1000" b="0" i="0">
                <a:solidFill>
                  <a:srgbClr val="667788"/>
                </a:solidFill>
              </a:rPr>
              <a:t>Trail-of-Bits audit · IETF · PQC R&amp;D</a:t>
            </a:r>
          </a:p>
        </p:txBody>
      </p:sp>
      <p:sp>
        <p:nvSpPr>
          <p:cNvPr id="28" name="TextBox 27"/>
          <p:cNvSpPr txBox="1"/>
          <p:nvPr/>
        </p:nvSpPr>
        <p:spPr>
          <a:xfrm>
            <a:off x="9418320" y="2889504"/>
            <a:ext cx="2468880" cy="320040"/>
          </a:xfrm>
          <a:prstGeom prst="rect">
            <a:avLst/>
          </a:prstGeom>
          <a:noFill/>
        </p:spPr>
        <p:txBody>
          <a:bodyPr wrap="square">
            <a:spAutoFit/>
          </a:bodyPr>
          <a:lstStyle/>
          <a:p>
            <a:pPr algn="r"/>
            <a:r>
              <a:rPr sz="1100" b="1" i="0">
                <a:solidFill>
                  <a:srgbClr val="4DEFAB"/>
                </a:solidFill>
              </a:rPr>
              <a:t>25%  $1.25M</a:t>
            </a:r>
          </a:p>
        </p:txBody>
      </p:sp>
      <p:sp>
        <p:nvSpPr>
          <p:cNvPr id="29" name="Rectangle 28"/>
          <p:cNvSpPr/>
          <p:nvPr/>
        </p:nvSpPr>
        <p:spPr>
          <a:xfrm>
            <a:off x="6400800" y="3621024"/>
            <a:ext cx="38100" cy="530352"/>
          </a:xfrm>
          <a:prstGeom prst="rect">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65392" y="3566160"/>
            <a:ext cx="2743200" cy="320040"/>
          </a:xfrm>
          <a:prstGeom prst="rect">
            <a:avLst/>
          </a:prstGeom>
          <a:noFill/>
        </p:spPr>
        <p:txBody>
          <a:bodyPr wrap="square">
            <a:spAutoFit/>
          </a:bodyPr>
          <a:lstStyle/>
          <a:p>
            <a:pPr algn="l"/>
            <a:r>
              <a:rPr sz="1200" b="1" i="0">
                <a:solidFill>
                  <a:srgbClr val="FFFFFF"/>
                </a:solidFill>
              </a:rPr>
              <a:t>Enterprise sales</a:t>
            </a:r>
          </a:p>
        </p:txBody>
      </p:sp>
      <p:sp>
        <p:nvSpPr>
          <p:cNvPr id="31" name="TextBox 30"/>
          <p:cNvSpPr txBox="1"/>
          <p:nvPr/>
        </p:nvSpPr>
        <p:spPr>
          <a:xfrm>
            <a:off x="6565392" y="3867912"/>
            <a:ext cx="2743200" cy="292608"/>
          </a:xfrm>
          <a:prstGeom prst="rect">
            <a:avLst/>
          </a:prstGeom>
          <a:noFill/>
        </p:spPr>
        <p:txBody>
          <a:bodyPr wrap="square">
            <a:spAutoFit/>
          </a:bodyPr>
          <a:lstStyle/>
          <a:p>
            <a:pPr algn="l"/>
            <a:r>
              <a:rPr sz="1000" b="0" i="0">
                <a:solidFill>
                  <a:srgbClr val="667788"/>
                </a:solidFill>
              </a:rPr>
              <a:t>VP Sales · 2 SE hires · legal vertical</a:t>
            </a:r>
          </a:p>
        </p:txBody>
      </p:sp>
      <p:sp>
        <p:nvSpPr>
          <p:cNvPr id="32" name="TextBox 31"/>
          <p:cNvSpPr txBox="1"/>
          <p:nvPr/>
        </p:nvSpPr>
        <p:spPr>
          <a:xfrm>
            <a:off x="9418320" y="3639312"/>
            <a:ext cx="2468880" cy="320040"/>
          </a:xfrm>
          <a:prstGeom prst="rect">
            <a:avLst/>
          </a:prstGeom>
          <a:noFill/>
        </p:spPr>
        <p:txBody>
          <a:bodyPr wrap="square">
            <a:spAutoFit/>
          </a:bodyPr>
          <a:lstStyle/>
          <a:p>
            <a:pPr algn="r"/>
            <a:r>
              <a:rPr sz="1100" b="1" i="0">
                <a:solidFill>
                  <a:srgbClr val="4DEFAB"/>
                </a:solidFill>
              </a:rPr>
              <a:t>30%  $1.50M</a:t>
            </a:r>
          </a:p>
        </p:txBody>
      </p:sp>
      <p:sp>
        <p:nvSpPr>
          <p:cNvPr id="33" name="Rectangle 32"/>
          <p:cNvSpPr/>
          <p:nvPr/>
        </p:nvSpPr>
        <p:spPr>
          <a:xfrm>
            <a:off x="6400800" y="4370832"/>
            <a:ext cx="38100" cy="530352"/>
          </a:xfrm>
          <a:prstGeom prst="rect">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65392" y="4315968"/>
            <a:ext cx="2743200" cy="320040"/>
          </a:xfrm>
          <a:prstGeom prst="rect">
            <a:avLst/>
          </a:prstGeom>
          <a:noFill/>
        </p:spPr>
        <p:txBody>
          <a:bodyPr wrap="square">
            <a:spAutoFit/>
          </a:bodyPr>
          <a:lstStyle/>
          <a:p>
            <a:pPr algn="l"/>
            <a:r>
              <a:rPr sz="1200" b="1" i="0">
                <a:solidFill>
                  <a:srgbClr val="FFFFFF"/>
                </a:solidFill>
              </a:rPr>
              <a:t>Infrastructure</a:t>
            </a:r>
          </a:p>
        </p:txBody>
      </p:sp>
      <p:sp>
        <p:nvSpPr>
          <p:cNvPr id="35" name="TextBox 34"/>
          <p:cNvSpPr txBox="1"/>
          <p:nvPr/>
        </p:nvSpPr>
        <p:spPr>
          <a:xfrm>
            <a:off x="6565392" y="4617720"/>
            <a:ext cx="2743200" cy="292608"/>
          </a:xfrm>
          <a:prstGeom prst="rect">
            <a:avLst/>
          </a:prstGeom>
          <a:noFill/>
        </p:spPr>
        <p:txBody>
          <a:bodyPr wrap="square">
            <a:spAutoFit/>
          </a:bodyPr>
          <a:lstStyle/>
          <a:p>
            <a:pPr algn="l"/>
            <a:r>
              <a:rPr sz="1000" b="0" i="0">
                <a:solidFill>
                  <a:srgbClr val="667788"/>
                </a:solidFill>
              </a:rPr>
              <a:t>99.99% uptime · multi-region verifier</a:t>
            </a:r>
          </a:p>
        </p:txBody>
      </p:sp>
      <p:sp>
        <p:nvSpPr>
          <p:cNvPr id="36" name="TextBox 35"/>
          <p:cNvSpPr txBox="1"/>
          <p:nvPr/>
        </p:nvSpPr>
        <p:spPr>
          <a:xfrm>
            <a:off x="9418320" y="4389120"/>
            <a:ext cx="2468880" cy="320040"/>
          </a:xfrm>
          <a:prstGeom prst="rect">
            <a:avLst/>
          </a:prstGeom>
          <a:noFill/>
        </p:spPr>
        <p:txBody>
          <a:bodyPr wrap="square">
            <a:spAutoFit/>
          </a:bodyPr>
          <a:lstStyle/>
          <a:p>
            <a:pPr algn="r"/>
            <a:r>
              <a:rPr sz="1100" b="1" i="0">
                <a:solidFill>
                  <a:srgbClr val="4DEFAB"/>
                </a:solidFill>
              </a:rPr>
              <a:t>20%  $1.00M</a:t>
            </a:r>
          </a:p>
        </p:txBody>
      </p:sp>
      <p:sp>
        <p:nvSpPr>
          <p:cNvPr id="37" name="Rectangle 36"/>
          <p:cNvSpPr/>
          <p:nvPr/>
        </p:nvSpPr>
        <p:spPr>
          <a:xfrm>
            <a:off x="6400800" y="5120640"/>
            <a:ext cx="38100" cy="530352"/>
          </a:xfrm>
          <a:prstGeom prst="rect">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565392" y="5065776"/>
            <a:ext cx="2743200" cy="320040"/>
          </a:xfrm>
          <a:prstGeom prst="rect">
            <a:avLst/>
          </a:prstGeom>
          <a:noFill/>
        </p:spPr>
        <p:txBody>
          <a:bodyPr wrap="square">
            <a:spAutoFit/>
          </a:bodyPr>
          <a:lstStyle/>
          <a:p>
            <a:pPr algn="l"/>
            <a:r>
              <a:rPr sz="1200" b="1" i="0">
                <a:solidFill>
                  <a:srgbClr val="FFFFFF"/>
                </a:solidFill>
              </a:rPr>
              <a:t>Foundation</a:t>
            </a:r>
          </a:p>
        </p:txBody>
      </p:sp>
      <p:sp>
        <p:nvSpPr>
          <p:cNvPr id="39" name="TextBox 38"/>
          <p:cNvSpPr txBox="1"/>
          <p:nvPr/>
        </p:nvSpPr>
        <p:spPr>
          <a:xfrm>
            <a:off x="6565392" y="5367528"/>
            <a:ext cx="2743200" cy="292608"/>
          </a:xfrm>
          <a:prstGeom prst="rect">
            <a:avLst/>
          </a:prstGeom>
          <a:noFill/>
        </p:spPr>
        <p:txBody>
          <a:bodyPr wrap="square">
            <a:spAutoFit/>
          </a:bodyPr>
          <a:lstStyle/>
          <a:p>
            <a:pPr algn="l"/>
            <a:r>
              <a:rPr sz="1000" b="0" i="0">
                <a:solidFill>
                  <a:srgbClr val="667788"/>
                </a:solidFill>
              </a:rPr>
              <a:t>501(c)(3) legal · endowment seed</a:t>
            </a:r>
          </a:p>
        </p:txBody>
      </p:sp>
      <p:sp>
        <p:nvSpPr>
          <p:cNvPr id="40" name="TextBox 39"/>
          <p:cNvSpPr txBox="1"/>
          <p:nvPr/>
        </p:nvSpPr>
        <p:spPr>
          <a:xfrm>
            <a:off x="9418320" y="5138928"/>
            <a:ext cx="2468880" cy="320040"/>
          </a:xfrm>
          <a:prstGeom prst="rect">
            <a:avLst/>
          </a:prstGeom>
          <a:noFill/>
        </p:spPr>
        <p:txBody>
          <a:bodyPr wrap="square">
            <a:spAutoFit/>
          </a:bodyPr>
          <a:lstStyle/>
          <a:p>
            <a:pPr algn="r"/>
            <a:r>
              <a:rPr sz="1100" b="1" i="0">
                <a:solidFill>
                  <a:srgbClr val="4DEFAB"/>
                </a:solidFill>
              </a:rPr>
              <a:t>15%  $0.75M</a:t>
            </a:r>
          </a:p>
        </p:txBody>
      </p:sp>
      <p:sp>
        <p:nvSpPr>
          <p:cNvPr id="41" name="Rectangle 40"/>
          <p:cNvSpPr/>
          <p:nvPr/>
        </p:nvSpPr>
        <p:spPr>
          <a:xfrm>
            <a:off x="6400800" y="5870447"/>
            <a:ext cx="38100" cy="530352"/>
          </a:xfrm>
          <a:prstGeom prst="rect">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565392" y="5815583"/>
            <a:ext cx="2743200" cy="320040"/>
          </a:xfrm>
          <a:prstGeom prst="rect">
            <a:avLst/>
          </a:prstGeom>
          <a:noFill/>
        </p:spPr>
        <p:txBody>
          <a:bodyPr wrap="square">
            <a:spAutoFit/>
          </a:bodyPr>
          <a:lstStyle/>
          <a:p>
            <a:pPr algn="l"/>
            <a:r>
              <a:rPr sz="1200" b="1" i="0">
                <a:solidFill>
                  <a:srgbClr val="FFFFFF"/>
                </a:solidFill>
              </a:rPr>
              <a:t>Working capital</a:t>
            </a:r>
          </a:p>
        </p:txBody>
      </p:sp>
      <p:sp>
        <p:nvSpPr>
          <p:cNvPr id="43" name="TextBox 42"/>
          <p:cNvSpPr txBox="1"/>
          <p:nvPr/>
        </p:nvSpPr>
        <p:spPr>
          <a:xfrm>
            <a:off x="6565392" y="6117335"/>
            <a:ext cx="2743200" cy="292608"/>
          </a:xfrm>
          <a:prstGeom prst="rect">
            <a:avLst/>
          </a:prstGeom>
          <a:noFill/>
        </p:spPr>
        <p:txBody>
          <a:bodyPr wrap="square">
            <a:spAutoFit/>
          </a:bodyPr>
          <a:lstStyle/>
          <a:p>
            <a:pPr algn="l"/>
            <a:r>
              <a:rPr sz="1000" b="0" i="0">
                <a:solidFill>
                  <a:srgbClr val="667788"/>
                </a:solidFill>
              </a:rPr>
              <a:t>18-month runway</a:t>
            </a:r>
          </a:p>
        </p:txBody>
      </p:sp>
      <p:sp>
        <p:nvSpPr>
          <p:cNvPr id="44" name="TextBox 43"/>
          <p:cNvSpPr txBox="1"/>
          <p:nvPr/>
        </p:nvSpPr>
        <p:spPr>
          <a:xfrm>
            <a:off x="9418320" y="5888735"/>
            <a:ext cx="2468880" cy="320040"/>
          </a:xfrm>
          <a:prstGeom prst="rect">
            <a:avLst/>
          </a:prstGeom>
          <a:noFill/>
        </p:spPr>
        <p:txBody>
          <a:bodyPr wrap="square">
            <a:spAutoFit/>
          </a:bodyPr>
          <a:lstStyle/>
          <a:p>
            <a:pPr algn="r"/>
            <a:r>
              <a:rPr sz="1100" b="1" i="0">
                <a:solidFill>
                  <a:srgbClr val="4DEFAB"/>
                </a:solidFill>
              </a:rPr>
              <a:t>10%  $0.50M</a:t>
            </a:r>
          </a:p>
        </p:txBody>
      </p:sp>
      <p:sp>
        <p:nvSpPr>
          <p:cNvPr id="45" name="Rectangle 44"/>
          <p:cNvSpPr/>
          <p:nvPr/>
        </p:nvSpPr>
        <p:spPr>
          <a:xfrm>
            <a:off x="0" y="6400800"/>
            <a:ext cx="12188952" cy="457200"/>
          </a:xfrm>
          <a:prstGeom prst="rect">
            <a:avLst/>
          </a:prstGeom>
          <a:solidFill>
            <a:srgbClr val="0418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57200" y="6455664"/>
            <a:ext cx="11247120" cy="320040"/>
          </a:xfrm>
          <a:prstGeom prst="rect">
            <a:avLst/>
          </a:prstGeom>
          <a:noFill/>
        </p:spPr>
        <p:txBody>
          <a:bodyPr wrap="square">
            <a:spAutoFit/>
          </a:bodyPr>
          <a:lstStyle/>
          <a:p>
            <a:pPr algn="ctr"/>
            <a:r>
              <a:rPr sz="1100" b="1" i="0">
                <a:solidFill>
                  <a:srgbClr val="20E898"/>
                </a:solidFill>
              </a:rPr>
              <a:t>Product is live on Bitcoin mainnet.  Verify the Founding Declaration:  verify.ledgerproofhq.io/r/founding-declaration</a:t>
            </a:r>
          </a:p>
        </p:txBody>
      </p:sp>
      <p:sp>
        <p:nvSpPr>
          <p:cNvPr id="47" name="Rectangle 46"/>
          <p:cNvSpPr/>
          <p:nvPr/>
        </p:nvSpPr>
        <p:spPr>
          <a:xfrm>
            <a:off x="0" y="6803136"/>
            <a:ext cx="12188952" cy="54864"/>
          </a:xfrm>
          <a:prstGeom prst="rect">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40C16"/>
        </a:solidFill>
        <a:effectLst/>
      </p:bgPr>
    </p:bg>
    <p:spTree>
      <p:nvGrpSpPr>
        <p:cNvPr id="1" name=""/>
        <p:cNvGrpSpPr/>
        <p:nvPr/>
      </p:nvGrpSpPr>
      <p:grpSpPr/>
      <p:sp>
        <p:nvSpPr>
          <p:cNvPr id="2" name="Rectangle 1"/>
          <p:cNvSpPr/>
          <p:nvPr/>
        </p:nvSpPr>
        <p:spPr>
          <a:xfrm>
            <a:off x="0" y="0"/>
            <a:ext cx="12188952" cy="91440"/>
          </a:xfrm>
          <a:prstGeom prst="rect">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66560"/>
            <a:ext cx="12188952" cy="91440"/>
          </a:xfrm>
          <a:prstGeom prst="rect">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png"/>
          <p:cNvPicPr>
            <a:picLocks noChangeAspect="1"/>
          </p:cNvPicPr>
          <p:nvPr/>
        </p:nvPicPr>
        <p:blipFill>
          <a:blip r:embed="rId2"/>
          <a:stretch>
            <a:fillRect/>
          </a:stretch>
        </p:blipFill>
        <p:spPr>
          <a:xfrm>
            <a:off x="347472" y="182880"/>
            <a:ext cx="1691640" cy="912781"/>
          </a:xfrm>
          <a:prstGeom prst="rect">
            <a:avLst/>
          </a:prstGeom>
        </p:spPr>
      </p:pic>
      <p:sp>
        <p:nvSpPr>
          <p:cNvPr id="5" name="TextBox 4"/>
          <p:cNvSpPr txBox="1"/>
          <p:nvPr/>
        </p:nvSpPr>
        <p:spPr>
          <a:xfrm>
            <a:off x="2286000" y="201168"/>
            <a:ext cx="9601200" cy="320040"/>
          </a:xfrm>
          <a:prstGeom prst="rect">
            <a:avLst/>
          </a:prstGeom>
          <a:noFill/>
        </p:spPr>
        <p:txBody>
          <a:bodyPr wrap="square">
            <a:spAutoFit/>
          </a:bodyPr>
          <a:lstStyle/>
          <a:p>
            <a:pPr algn="r"/>
            <a:r>
              <a:rPr sz="850" b="1" i="0">
                <a:solidFill>
                  <a:srgbClr val="335566"/>
                </a:solidFill>
              </a:rPr>
              <a:t>APPENDIX  ·  INVESTOR RETURN ANALYSIS  ·  CONFIDENTIAL</a:t>
            </a:r>
          </a:p>
        </p:txBody>
      </p:sp>
      <p:sp>
        <p:nvSpPr>
          <p:cNvPr id="6" name="TextBox 5"/>
          <p:cNvSpPr txBox="1"/>
          <p:nvPr/>
        </p:nvSpPr>
        <p:spPr>
          <a:xfrm>
            <a:off x="347472" y="749808"/>
            <a:ext cx="9144000" cy="566928"/>
          </a:xfrm>
          <a:prstGeom prst="rect">
            <a:avLst/>
          </a:prstGeom>
          <a:noFill/>
        </p:spPr>
        <p:txBody>
          <a:bodyPr wrap="square">
            <a:spAutoFit/>
          </a:bodyPr>
          <a:lstStyle/>
          <a:p>
            <a:pPr algn="l"/>
            <a:r>
              <a:rPr sz="2800" b="1" i="0">
                <a:solidFill>
                  <a:srgbClr val="FFFFFF"/>
                </a:solidFill>
              </a:rPr>
              <a:t>Return Scenarios — Ten31 $5M Seed</a:t>
            </a:r>
          </a:p>
        </p:txBody>
      </p:sp>
      <p:sp>
        <p:nvSpPr>
          <p:cNvPr id="7" name="Rectangle 6"/>
          <p:cNvSpPr/>
          <p:nvPr/>
        </p:nvSpPr>
        <p:spPr>
          <a:xfrm>
            <a:off x="347472" y="1444752"/>
            <a:ext cx="4572000" cy="1600200"/>
          </a:xfrm>
          <a:prstGeom prst="rect">
            <a:avLst/>
          </a:prstGeom>
          <a:solidFill>
            <a:srgbClr val="0D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47472" y="1444752"/>
            <a:ext cx="50800" cy="1600200"/>
          </a:xfrm>
          <a:prstGeom prst="rect">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12064" y="1508760"/>
            <a:ext cx="4206240" cy="320040"/>
          </a:xfrm>
          <a:prstGeom prst="rect">
            <a:avLst/>
          </a:prstGeom>
          <a:noFill/>
        </p:spPr>
        <p:txBody>
          <a:bodyPr wrap="square">
            <a:spAutoFit/>
          </a:bodyPr>
          <a:lstStyle/>
          <a:p>
            <a:pPr algn="l"/>
            <a:r>
              <a:rPr sz="1000" b="1" i="0">
                <a:solidFill>
                  <a:srgbClr val="20E898"/>
                </a:solidFill>
              </a:rPr>
              <a:t>Ownership at entry &amp; exit</a:t>
            </a:r>
          </a:p>
        </p:txBody>
      </p:sp>
      <p:sp>
        <p:nvSpPr>
          <p:cNvPr id="10" name="TextBox 9"/>
          <p:cNvSpPr txBox="1"/>
          <p:nvPr/>
        </p:nvSpPr>
        <p:spPr>
          <a:xfrm>
            <a:off x="512064" y="1901952"/>
            <a:ext cx="2651760" cy="292608"/>
          </a:xfrm>
          <a:prstGeom prst="rect">
            <a:avLst/>
          </a:prstGeom>
          <a:noFill/>
        </p:spPr>
        <p:txBody>
          <a:bodyPr wrap="square">
            <a:spAutoFit/>
          </a:bodyPr>
          <a:lstStyle/>
          <a:p>
            <a:pPr algn="l"/>
            <a:r>
              <a:rPr sz="1000" b="0" i="0">
                <a:solidFill>
                  <a:srgbClr val="667788"/>
                </a:solidFill>
              </a:rPr>
              <a:t>$5M ÷ $30M post-money cap</a:t>
            </a:r>
          </a:p>
        </p:txBody>
      </p:sp>
      <p:sp>
        <p:nvSpPr>
          <p:cNvPr id="11" name="TextBox 10"/>
          <p:cNvSpPr txBox="1"/>
          <p:nvPr/>
        </p:nvSpPr>
        <p:spPr>
          <a:xfrm>
            <a:off x="3246120" y="1901952"/>
            <a:ext cx="1554480" cy="292608"/>
          </a:xfrm>
          <a:prstGeom prst="rect">
            <a:avLst/>
          </a:prstGeom>
          <a:noFill/>
        </p:spPr>
        <p:txBody>
          <a:bodyPr wrap="square">
            <a:spAutoFit/>
          </a:bodyPr>
          <a:lstStyle/>
          <a:p>
            <a:pPr algn="l"/>
            <a:r>
              <a:rPr sz="1000" b="1" i="0">
                <a:solidFill>
                  <a:srgbClr val="20E898"/>
                </a:solidFill>
              </a:rPr>
              <a:t>= 16.67%  at entry</a:t>
            </a:r>
          </a:p>
        </p:txBody>
      </p:sp>
      <p:sp>
        <p:nvSpPr>
          <p:cNvPr id="12" name="TextBox 11"/>
          <p:cNvSpPr txBox="1"/>
          <p:nvPr/>
        </p:nvSpPr>
        <p:spPr>
          <a:xfrm>
            <a:off x="512064" y="2249424"/>
            <a:ext cx="2651760" cy="292608"/>
          </a:xfrm>
          <a:prstGeom prst="rect">
            <a:avLst/>
          </a:prstGeom>
          <a:noFill/>
        </p:spPr>
        <p:txBody>
          <a:bodyPr wrap="square">
            <a:spAutoFit/>
          </a:bodyPr>
          <a:lstStyle/>
          <a:p>
            <a:pPr algn="l"/>
            <a:r>
              <a:rPr sz="1000" b="0" i="0">
                <a:solidFill>
                  <a:srgbClr val="667788"/>
                </a:solidFill>
              </a:rPr>
              <a:t>Series A dilution (~20%)</a:t>
            </a:r>
          </a:p>
        </p:txBody>
      </p:sp>
      <p:sp>
        <p:nvSpPr>
          <p:cNvPr id="13" name="TextBox 12"/>
          <p:cNvSpPr txBox="1"/>
          <p:nvPr/>
        </p:nvSpPr>
        <p:spPr>
          <a:xfrm>
            <a:off x="3246120" y="2249424"/>
            <a:ext cx="1554480" cy="292608"/>
          </a:xfrm>
          <a:prstGeom prst="rect">
            <a:avLst/>
          </a:prstGeom>
          <a:noFill/>
        </p:spPr>
        <p:txBody>
          <a:bodyPr wrap="square">
            <a:spAutoFit/>
          </a:bodyPr>
          <a:lstStyle/>
          <a:p>
            <a:pPr algn="l"/>
            <a:r>
              <a:rPr sz="1000" b="0" i="0">
                <a:solidFill>
                  <a:srgbClr val="FAF7F0"/>
                </a:solidFill>
              </a:rPr>
              <a:t>→ ~13.3%  post-Series A</a:t>
            </a:r>
          </a:p>
        </p:txBody>
      </p:sp>
      <p:sp>
        <p:nvSpPr>
          <p:cNvPr id="14" name="TextBox 13"/>
          <p:cNvSpPr txBox="1"/>
          <p:nvPr/>
        </p:nvSpPr>
        <p:spPr>
          <a:xfrm>
            <a:off x="512064" y="2596896"/>
            <a:ext cx="2651760" cy="292608"/>
          </a:xfrm>
          <a:prstGeom prst="rect">
            <a:avLst/>
          </a:prstGeom>
          <a:noFill/>
        </p:spPr>
        <p:txBody>
          <a:bodyPr wrap="square">
            <a:spAutoFit/>
          </a:bodyPr>
          <a:lstStyle/>
          <a:p>
            <a:pPr algn="l"/>
            <a:r>
              <a:rPr sz="1000" b="0" i="0">
                <a:solidFill>
                  <a:srgbClr val="667788"/>
                </a:solidFill>
              </a:rPr>
              <a:t>Growth rounds (~15% further)</a:t>
            </a:r>
          </a:p>
        </p:txBody>
      </p:sp>
      <p:sp>
        <p:nvSpPr>
          <p:cNvPr id="15" name="TextBox 14"/>
          <p:cNvSpPr txBox="1"/>
          <p:nvPr/>
        </p:nvSpPr>
        <p:spPr>
          <a:xfrm>
            <a:off x="3246120" y="2596896"/>
            <a:ext cx="1554480" cy="292608"/>
          </a:xfrm>
          <a:prstGeom prst="rect">
            <a:avLst/>
          </a:prstGeom>
          <a:noFill/>
        </p:spPr>
        <p:txBody>
          <a:bodyPr wrap="square">
            <a:spAutoFit/>
          </a:bodyPr>
          <a:lstStyle/>
          <a:p>
            <a:pPr algn="l"/>
            <a:r>
              <a:rPr sz="1000" b="0" i="0">
                <a:solidFill>
                  <a:srgbClr val="FAF7F0"/>
                </a:solidFill>
              </a:rPr>
              <a:t>→ ~11–13%  at exit</a:t>
            </a:r>
          </a:p>
        </p:txBody>
      </p:sp>
      <p:sp>
        <p:nvSpPr>
          <p:cNvPr id="16" name="TextBox 15"/>
          <p:cNvSpPr txBox="1"/>
          <p:nvPr/>
        </p:nvSpPr>
        <p:spPr>
          <a:xfrm>
            <a:off x="512064" y="2944368"/>
            <a:ext cx="2651760" cy="292608"/>
          </a:xfrm>
          <a:prstGeom prst="rect">
            <a:avLst/>
          </a:prstGeom>
          <a:noFill/>
        </p:spPr>
        <p:txBody>
          <a:bodyPr wrap="square">
            <a:spAutoFit/>
          </a:bodyPr>
          <a:lstStyle/>
          <a:p>
            <a:pPr algn="l"/>
            <a:r>
              <a:rPr sz="1000" b="0" i="0">
                <a:solidFill>
                  <a:srgbClr val="667788"/>
                </a:solidFill>
              </a:rPr>
              <a:t>Pro-rata (if exercised)</a:t>
            </a:r>
          </a:p>
        </p:txBody>
      </p:sp>
      <p:sp>
        <p:nvSpPr>
          <p:cNvPr id="17" name="TextBox 16"/>
          <p:cNvSpPr txBox="1"/>
          <p:nvPr/>
        </p:nvSpPr>
        <p:spPr>
          <a:xfrm>
            <a:off x="3246120" y="2944368"/>
            <a:ext cx="1554480" cy="292608"/>
          </a:xfrm>
          <a:prstGeom prst="rect">
            <a:avLst/>
          </a:prstGeom>
          <a:noFill/>
        </p:spPr>
        <p:txBody>
          <a:bodyPr wrap="square">
            <a:spAutoFit/>
          </a:bodyPr>
          <a:lstStyle/>
          <a:p>
            <a:pPr algn="l"/>
            <a:r>
              <a:rPr sz="1000" b="1" i="0">
                <a:solidFill>
                  <a:srgbClr val="FAF7F0"/>
                </a:solidFill>
              </a:rPr>
              <a:t>→ maintains or increases</a:t>
            </a:r>
          </a:p>
        </p:txBody>
      </p:sp>
      <p:sp>
        <p:nvSpPr>
          <p:cNvPr id="18" name="TextBox 17"/>
          <p:cNvSpPr txBox="1"/>
          <p:nvPr/>
        </p:nvSpPr>
        <p:spPr>
          <a:xfrm>
            <a:off x="512064" y="3182112"/>
            <a:ext cx="4206240" cy="256032"/>
          </a:xfrm>
          <a:prstGeom prst="rect">
            <a:avLst/>
          </a:prstGeom>
          <a:noFill/>
        </p:spPr>
        <p:txBody>
          <a:bodyPr wrap="square">
            <a:spAutoFit/>
          </a:bodyPr>
          <a:lstStyle/>
          <a:p>
            <a:pPr algn="l"/>
            <a:r>
              <a:rPr sz="900" b="0" i="1">
                <a:solidFill>
                  <a:srgbClr val="445566"/>
                </a:solidFill>
              </a:rPr>
              <a:t>Analysis uses 13% at exit (conservative).</a:t>
            </a:r>
          </a:p>
        </p:txBody>
      </p:sp>
      <p:sp>
        <p:nvSpPr>
          <p:cNvPr id="19" name="Rectangle 18"/>
          <p:cNvSpPr/>
          <p:nvPr/>
        </p:nvSpPr>
        <p:spPr>
          <a:xfrm>
            <a:off x="347472" y="3566160"/>
            <a:ext cx="11494008" cy="3017520"/>
          </a:xfrm>
          <a:prstGeom prst="rect">
            <a:avLst/>
          </a:prstGeom>
          <a:solidFill>
            <a:srgbClr val="0D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47472" y="3566160"/>
            <a:ext cx="11494008" cy="54864"/>
          </a:xfrm>
          <a:prstGeom prst="rect">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47472" y="3657600"/>
            <a:ext cx="2286000" cy="457200"/>
          </a:xfrm>
          <a:prstGeom prst="rect">
            <a:avLst/>
          </a:prstGeom>
          <a:noFill/>
        </p:spPr>
        <p:txBody>
          <a:bodyPr wrap="square">
            <a:spAutoFit/>
          </a:bodyPr>
          <a:lstStyle/>
          <a:p>
            <a:pPr algn="l"/>
            <a:r>
              <a:rPr sz="900" b="1" i="0">
                <a:solidFill>
                  <a:srgbClr val="667788"/>
                </a:solidFill>
              </a:rPr>
              <a:t>Scenario</a:t>
            </a:r>
          </a:p>
        </p:txBody>
      </p:sp>
      <p:sp>
        <p:nvSpPr>
          <p:cNvPr id="22" name="TextBox 21"/>
          <p:cNvSpPr txBox="1"/>
          <p:nvPr/>
        </p:nvSpPr>
        <p:spPr>
          <a:xfrm>
            <a:off x="2697480" y="3657600"/>
            <a:ext cx="685800" cy="457200"/>
          </a:xfrm>
          <a:prstGeom prst="rect">
            <a:avLst/>
          </a:prstGeom>
          <a:noFill/>
        </p:spPr>
        <p:txBody>
          <a:bodyPr wrap="square">
            <a:spAutoFit/>
          </a:bodyPr>
          <a:lstStyle/>
          <a:p>
            <a:pPr algn="ctr"/>
            <a:r>
              <a:rPr sz="900" b="1" i="0">
                <a:solidFill>
                  <a:srgbClr val="667788"/>
                </a:solidFill>
              </a:rPr>
              <a:t>Year</a:t>
            </a:r>
          </a:p>
        </p:txBody>
      </p:sp>
      <p:sp>
        <p:nvSpPr>
          <p:cNvPr id="23" name="TextBox 22"/>
          <p:cNvSpPr txBox="1"/>
          <p:nvPr/>
        </p:nvSpPr>
        <p:spPr>
          <a:xfrm>
            <a:off x="3429000" y="3657600"/>
            <a:ext cx="960120" cy="457200"/>
          </a:xfrm>
          <a:prstGeom prst="rect">
            <a:avLst/>
          </a:prstGeom>
          <a:noFill/>
        </p:spPr>
        <p:txBody>
          <a:bodyPr wrap="square">
            <a:spAutoFit/>
          </a:bodyPr>
          <a:lstStyle/>
          <a:p>
            <a:pPr algn="ctr"/>
            <a:r>
              <a:rPr sz="900" b="1" i="0">
                <a:solidFill>
                  <a:srgbClr val="667788"/>
                </a:solidFill>
              </a:rPr>
              <a:t>ARR</a:t>
            </a:r>
          </a:p>
        </p:txBody>
      </p:sp>
      <p:sp>
        <p:nvSpPr>
          <p:cNvPr id="24" name="TextBox 23"/>
          <p:cNvSpPr txBox="1"/>
          <p:nvPr/>
        </p:nvSpPr>
        <p:spPr>
          <a:xfrm>
            <a:off x="4434840" y="3657600"/>
            <a:ext cx="1325880" cy="457200"/>
          </a:xfrm>
          <a:prstGeom prst="rect">
            <a:avLst/>
          </a:prstGeom>
          <a:noFill/>
        </p:spPr>
        <p:txBody>
          <a:bodyPr wrap="square">
            <a:spAutoFit/>
          </a:bodyPr>
          <a:lstStyle/>
          <a:p>
            <a:pPr algn="ctr"/>
            <a:r>
              <a:rPr sz="900" b="1" i="0">
                <a:solidFill>
                  <a:srgbClr val="667788"/>
                </a:solidFill>
              </a:rPr>
              <a:t>Exit Multiple</a:t>
            </a:r>
          </a:p>
        </p:txBody>
      </p:sp>
      <p:sp>
        <p:nvSpPr>
          <p:cNvPr id="25" name="TextBox 24"/>
          <p:cNvSpPr txBox="1"/>
          <p:nvPr/>
        </p:nvSpPr>
        <p:spPr>
          <a:xfrm>
            <a:off x="5806440" y="3657600"/>
            <a:ext cx="1965960" cy="457200"/>
          </a:xfrm>
          <a:prstGeom prst="rect">
            <a:avLst/>
          </a:prstGeom>
          <a:noFill/>
        </p:spPr>
        <p:txBody>
          <a:bodyPr wrap="square">
            <a:spAutoFit/>
          </a:bodyPr>
          <a:lstStyle/>
          <a:p>
            <a:pPr algn="r"/>
            <a:r>
              <a:rPr sz="900" b="1" i="0">
                <a:solidFill>
                  <a:srgbClr val="667788"/>
                </a:solidFill>
              </a:rPr>
              <a:t>Implied Valuation</a:t>
            </a:r>
          </a:p>
        </p:txBody>
      </p:sp>
      <p:sp>
        <p:nvSpPr>
          <p:cNvPr id="26" name="TextBox 25"/>
          <p:cNvSpPr txBox="1"/>
          <p:nvPr/>
        </p:nvSpPr>
        <p:spPr>
          <a:xfrm>
            <a:off x="7818120" y="3657600"/>
            <a:ext cx="1920240" cy="457200"/>
          </a:xfrm>
          <a:prstGeom prst="rect">
            <a:avLst/>
          </a:prstGeom>
          <a:noFill/>
        </p:spPr>
        <p:txBody>
          <a:bodyPr wrap="square">
            <a:spAutoFit/>
          </a:bodyPr>
          <a:lstStyle/>
          <a:p>
            <a:pPr algn="r"/>
            <a:r>
              <a:rPr sz="900" b="1" i="0">
                <a:solidFill>
                  <a:srgbClr val="667788"/>
                </a:solidFill>
              </a:rPr>
              <a:t>Ten31 Stake
(~13%)</a:t>
            </a:r>
          </a:p>
        </p:txBody>
      </p:sp>
      <p:sp>
        <p:nvSpPr>
          <p:cNvPr id="27" name="TextBox 26"/>
          <p:cNvSpPr txBox="1"/>
          <p:nvPr/>
        </p:nvSpPr>
        <p:spPr>
          <a:xfrm>
            <a:off x="9784080" y="3657600"/>
            <a:ext cx="2286000" cy="457200"/>
          </a:xfrm>
          <a:prstGeom prst="rect">
            <a:avLst/>
          </a:prstGeom>
          <a:noFill/>
        </p:spPr>
        <p:txBody>
          <a:bodyPr wrap="square">
            <a:spAutoFit/>
          </a:bodyPr>
          <a:lstStyle/>
          <a:p>
            <a:pPr algn="r"/>
            <a:r>
              <a:rPr sz="900" b="1" i="0">
                <a:solidFill>
                  <a:srgbClr val="667788"/>
                </a:solidFill>
              </a:rPr>
              <a:t>Return on
$5M</a:t>
            </a:r>
          </a:p>
        </p:txBody>
      </p:sp>
      <p:sp>
        <p:nvSpPr>
          <p:cNvPr id="28" name="Rectangle 27"/>
          <p:cNvSpPr/>
          <p:nvPr/>
        </p:nvSpPr>
        <p:spPr>
          <a:xfrm>
            <a:off x="347472" y="4187952"/>
            <a:ext cx="11494008" cy="749808"/>
          </a:xfrm>
          <a:prstGeom prst="rect">
            <a:avLst/>
          </a:prstGeom>
          <a:solidFill>
            <a:srgbClr val="091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47472" y="4187952"/>
            <a:ext cx="50800" cy="749808"/>
          </a:xfrm>
          <a:prstGeom prst="rect">
            <a:avLst/>
          </a:prstGeom>
          <a:solidFill>
            <a:srgbClr val="20E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93192" y="4297680"/>
            <a:ext cx="2286000" cy="548640"/>
          </a:xfrm>
          <a:prstGeom prst="rect">
            <a:avLst/>
          </a:prstGeom>
          <a:noFill/>
        </p:spPr>
        <p:txBody>
          <a:bodyPr wrap="square">
            <a:spAutoFit/>
          </a:bodyPr>
          <a:lstStyle/>
          <a:p>
            <a:pPr algn="l"/>
            <a:r>
              <a:rPr sz="1100" b="0" i="0">
                <a:solidFill>
                  <a:srgbClr val="FAF7F0"/>
                </a:solidFill>
              </a:rPr>
              <a:t>Early strategic
acquisition</a:t>
            </a:r>
          </a:p>
        </p:txBody>
      </p:sp>
      <p:sp>
        <p:nvSpPr>
          <p:cNvPr id="31" name="TextBox 30"/>
          <p:cNvSpPr txBox="1"/>
          <p:nvPr/>
        </p:nvSpPr>
        <p:spPr>
          <a:xfrm>
            <a:off x="2743200" y="4297680"/>
            <a:ext cx="685800" cy="548640"/>
          </a:xfrm>
          <a:prstGeom prst="rect">
            <a:avLst/>
          </a:prstGeom>
          <a:noFill/>
        </p:spPr>
        <p:txBody>
          <a:bodyPr wrap="square">
            <a:spAutoFit/>
          </a:bodyPr>
          <a:lstStyle/>
          <a:p>
            <a:pPr algn="ctr"/>
            <a:r>
              <a:rPr sz="1200" b="0" i="0">
                <a:solidFill>
                  <a:srgbClr val="FAF7F0"/>
                </a:solidFill>
              </a:rPr>
              <a:t>Yr 3</a:t>
            </a:r>
          </a:p>
        </p:txBody>
      </p:sp>
      <p:sp>
        <p:nvSpPr>
          <p:cNvPr id="32" name="TextBox 31"/>
          <p:cNvSpPr txBox="1"/>
          <p:nvPr/>
        </p:nvSpPr>
        <p:spPr>
          <a:xfrm>
            <a:off x="3474720" y="4297680"/>
            <a:ext cx="960120" cy="548640"/>
          </a:xfrm>
          <a:prstGeom prst="rect">
            <a:avLst/>
          </a:prstGeom>
          <a:noFill/>
        </p:spPr>
        <p:txBody>
          <a:bodyPr wrap="square">
            <a:spAutoFit/>
          </a:bodyPr>
          <a:lstStyle/>
          <a:p>
            <a:pPr algn="ctr"/>
            <a:r>
              <a:rPr sz="1200" b="0" i="0">
                <a:solidFill>
                  <a:srgbClr val="FAF7F0"/>
                </a:solidFill>
              </a:rPr>
              <a:t>$68M</a:t>
            </a:r>
          </a:p>
        </p:txBody>
      </p:sp>
      <p:sp>
        <p:nvSpPr>
          <p:cNvPr id="33" name="TextBox 32"/>
          <p:cNvSpPr txBox="1"/>
          <p:nvPr/>
        </p:nvSpPr>
        <p:spPr>
          <a:xfrm>
            <a:off x="4480559" y="4297680"/>
            <a:ext cx="1325880" cy="548640"/>
          </a:xfrm>
          <a:prstGeom prst="rect">
            <a:avLst/>
          </a:prstGeom>
          <a:noFill/>
        </p:spPr>
        <p:txBody>
          <a:bodyPr wrap="square">
            <a:spAutoFit/>
          </a:bodyPr>
          <a:lstStyle/>
          <a:p>
            <a:pPr algn="ctr"/>
            <a:r>
              <a:rPr sz="1200" b="0" i="0">
                <a:solidFill>
                  <a:srgbClr val="FAF7F0"/>
                </a:solidFill>
              </a:rPr>
              <a:t>20×</a:t>
            </a:r>
          </a:p>
        </p:txBody>
      </p:sp>
      <p:sp>
        <p:nvSpPr>
          <p:cNvPr id="34" name="TextBox 33"/>
          <p:cNvSpPr txBox="1"/>
          <p:nvPr/>
        </p:nvSpPr>
        <p:spPr>
          <a:xfrm>
            <a:off x="5852159" y="4297680"/>
            <a:ext cx="1965960" cy="548640"/>
          </a:xfrm>
          <a:prstGeom prst="rect">
            <a:avLst/>
          </a:prstGeom>
          <a:noFill/>
        </p:spPr>
        <p:txBody>
          <a:bodyPr wrap="square">
            <a:spAutoFit/>
          </a:bodyPr>
          <a:lstStyle/>
          <a:p>
            <a:pPr algn="r"/>
            <a:r>
              <a:rPr sz="1200" b="1" i="0">
                <a:solidFill>
                  <a:srgbClr val="FAF7F0"/>
                </a:solidFill>
              </a:rPr>
              <a:t>$1.36B</a:t>
            </a:r>
          </a:p>
        </p:txBody>
      </p:sp>
      <p:sp>
        <p:nvSpPr>
          <p:cNvPr id="35" name="TextBox 34"/>
          <p:cNvSpPr txBox="1"/>
          <p:nvPr/>
        </p:nvSpPr>
        <p:spPr>
          <a:xfrm>
            <a:off x="7863840" y="4297680"/>
            <a:ext cx="1920240" cy="548640"/>
          </a:xfrm>
          <a:prstGeom prst="rect">
            <a:avLst/>
          </a:prstGeom>
          <a:noFill/>
        </p:spPr>
        <p:txBody>
          <a:bodyPr wrap="square">
            <a:spAutoFit/>
          </a:bodyPr>
          <a:lstStyle/>
          <a:p>
            <a:pPr algn="r"/>
            <a:r>
              <a:rPr sz="1200" b="1" i="0">
                <a:solidFill>
                  <a:srgbClr val="FAF7F0"/>
                </a:solidFill>
              </a:rPr>
              <a:t>$177M</a:t>
            </a:r>
          </a:p>
        </p:txBody>
      </p:sp>
      <p:sp>
        <p:nvSpPr>
          <p:cNvPr id="36" name="TextBox 35"/>
          <p:cNvSpPr txBox="1"/>
          <p:nvPr/>
        </p:nvSpPr>
        <p:spPr>
          <a:xfrm>
            <a:off x="9829800" y="4297680"/>
            <a:ext cx="2286000" cy="548640"/>
          </a:xfrm>
          <a:prstGeom prst="rect">
            <a:avLst/>
          </a:prstGeom>
          <a:noFill/>
        </p:spPr>
        <p:txBody>
          <a:bodyPr wrap="square">
            <a:spAutoFit/>
          </a:bodyPr>
          <a:lstStyle/>
          <a:p>
            <a:pPr algn="r"/>
            <a:r>
              <a:rPr sz="1800" b="1" i="0">
                <a:solidFill>
                  <a:srgbClr val="20E898"/>
                </a:solidFill>
              </a:rPr>
              <a:t>35×</a:t>
            </a:r>
          </a:p>
        </p:txBody>
      </p:sp>
      <p:sp>
        <p:nvSpPr>
          <p:cNvPr id="37" name="Rectangle 36"/>
          <p:cNvSpPr/>
          <p:nvPr/>
        </p:nvSpPr>
        <p:spPr>
          <a:xfrm>
            <a:off x="347472" y="4992624"/>
            <a:ext cx="11494008" cy="749808"/>
          </a:xfrm>
          <a:prstGeom prst="rect">
            <a:avLst/>
          </a:prstGeom>
          <a:solidFill>
            <a:srgbClr val="0822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347472" y="4992624"/>
            <a:ext cx="50800" cy="749808"/>
          </a:xfrm>
          <a:prstGeom prst="rect">
            <a:avLst/>
          </a:prstGeom>
          <a:solidFill>
            <a:srgbClr val="4DEF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93192" y="5102352"/>
            <a:ext cx="2286000" cy="548640"/>
          </a:xfrm>
          <a:prstGeom prst="rect">
            <a:avLst/>
          </a:prstGeom>
          <a:noFill/>
        </p:spPr>
        <p:txBody>
          <a:bodyPr wrap="square">
            <a:spAutoFit/>
          </a:bodyPr>
          <a:lstStyle/>
          <a:p>
            <a:pPr algn="l"/>
            <a:r>
              <a:rPr sz="1100" b="0" i="0">
                <a:solidFill>
                  <a:srgbClr val="FFFFFF"/>
                </a:solidFill>
              </a:rPr>
              <a:t>Base — IPO /
coop. transition</a:t>
            </a:r>
          </a:p>
        </p:txBody>
      </p:sp>
      <p:sp>
        <p:nvSpPr>
          <p:cNvPr id="40" name="TextBox 39"/>
          <p:cNvSpPr txBox="1"/>
          <p:nvPr/>
        </p:nvSpPr>
        <p:spPr>
          <a:xfrm>
            <a:off x="2743200" y="5102352"/>
            <a:ext cx="685800" cy="548640"/>
          </a:xfrm>
          <a:prstGeom prst="rect">
            <a:avLst/>
          </a:prstGeom>
          <a:noFill/>
        </p:spPr>
        <p:txBody>
          <a:bodyPr wrap="square">
            <a:spAutoFit/>
          </a:bodyPr>
          <a:lstStyle/>
          <a:p>
            <a:pPr algn="ctr"/>
            <a:r>
              <a:rPr sz="1200" b="0" i="0">
                <a:solidFill>
                  <a:srgbClr val="FAF7F0"/>
                </a:solidFill>
              </a:rPr>
              <a:t>Yr 5</a:t>
            </a:r>
          </a:p>
        </p:txBody>
      </p:sp>
      <p:sp>
        <p:nvSpPr>
          <p:cNvPr id="41" name="TextBox 40"/>
          <p:cNvSpPr txBox="1"/>
          <p:nvPr/>
        </p:nvSpPr>
        <p:spPr>
          <a:xfrm>
            <a:off x="3474720" y="5102352"/>
            <a:ext cx="960120" cy="548640"/>
          </a:xfrm>
          <a:prstGeom prst="rect">
            <a:avLst/>
          </a:prstGeom>
          <a:noFill/>
        </p:spPr>
        <p:txBody>
          <a:bodyPr wrap="square">
            <a:spAutoFit/>
          </a:bodyPr>
          <a:lstStyle/>
          <a:p>
            <a:pPr algn="ctr"/>
            <a:r>
              <a:rPr sz="1200" b="0" i="0">
                <a:solidFill>
                  <a:srgbClr val="FAF7F0"/>
                </a:solidFill>
              </a:rPr>
              <a:t>$450M</a:t>
            </a:r>
          </a:p>
        </p:txBody>
      </p:sp>
      <p:sp>
        <p:nvSpPr>
          <p:cNvPr id="42" name="TextBox 41"/>
          <p:cNvSpPr txBox="1"/>
          <p:nvPr/>
        </p:nvSpPr>
        <p:spPr>
          <a:xfrm>
            <a:off x="4480559" y="5102352"/>
            <a:ext cx="1325880" cy="548640"/>
          </a:xfrm>
          <a:prstGeom prst="rect">
            <a:avLst/>
          </a:prstGeom>
          <a:noFill/>
        </p:spPr>
        <p:txBody>
          <a:bodyPr wrap="square">
            <a:spAutoFit/>
          </a:bodyPr>
          <a:lstStyle/>
          <a:p>
            <a:pPr algn="ctr"/>
            <a:r>
              <a:rPr sz="1200" b="0" i="0">
                <a:solidFill>
                  <a:srgbClr val="FAF7F0"/>
                </a:solidFill>
              </a:rPr>
              <a:t>12×</a:t>
            </a:r>
          </a:p>
        </p:txBody>
      </p:sp>
      <p:sp>
        <p:nvSpPr>
          <p:cNvPr id="43" name="TextBox 42"/>
          <p:cNvSpPr txBox="1"/>
          <p:nvPr/>
        </p:nvSpPr>
        <p:spPr>
          <a:xfrm>
            <a:off x="5852159" y="5102352"/>
            <a:ext cx="1965960" cy="548640"/>
          </a:xfrm>
          <a:prstGeom prst="rect">
            <a:avLst/>
          </a:prstGeom>
          <a:noFill/>
        </p:spPr>
        <p:txBody>
          <a:bodyPr wrap="square">
            <a:spAutoFit/>
          </a:bodyPr>
          <a:lstStyle/>
          <a:p>
            <a:pPr algn="r"/>
            <a:r>
              <a:rPr sz="1200" b="1" i="0">
                <a:solidFill>
                  <a:srgbClr val="FAF7F0"/>
                </a:solidFill>
              </a:rPr>
              <a:t>$5.4B</a:t>
            </a:r>
          </a:p>
        </p:txBody>
      </p:sp>
      <p:sp>
        <p:nvSpPr>
          <p:cNvPr id="44" name="TextBox 43"/>
          <p:cNvSpPr txBox="1"/>
          <p:nvPr/>
        </p:nvSpPr>
        <p:spPr>
          <a:xfrm>
            <a:off x="7863840" y="5102352"/>
            <a:ext cx="1920240" cy="548640"/>
          </a:xfrm>
          <a:prstGeom prst="rect">
            <a:avLst/>
          </a:prstGeom>
          <a:noFill/>
        </p:spPr>
        <p:txBody>
          <a:bodyPr wrap="square">
            <a:spAutoFit/>
          </a:bodyPr>
          <a:lstStyle/>
          <a:p>
            <a:pPr algn="r"/>
            <a:r>
              <a:rPr sz="1200" b="1" i="0">
                <a:solidFill>
                  <a:srgbClr val="FAF7F0"/>
                </a:solidFill>
              </a:rPr>
              <a:t>$702M</a:t>
            </a:r>
          </a:p>
        </p:txBody>
      </p:sp>
      <p:sp>
        <p:nvSpPr>
          <p:cNvPr id="45" name="TextBox 44"/>
          <p:cNvSpPr txBox="1"/>
          <p:nvPr/>
        </p:nvSpPr>
        <p:spPr>
          <a:xfrm>
            <a:off x="9829800" y="5102352"/>
            <a:ext cx="2286000" cy="548640"/>
          </a:xfrm>
          <a:prstGeom prst="rect">
            <a:avLst/>
          </a:prstGeom>
          <a:noFill/>
        </p:spPr>
        <p:txBody>
          <a:bodyPr wrap="square">
            <a:spAutoFit/>
          </a:bodyPr>
          <a:lstStyle/>
          <a:p>
            <a:pPr algn="r"/>
            <a:r>
              <a:rPr sz="1800" b="1" i="0">
                <a:solidFill>
                  <a:srgbClr val="4DEFAB"/>
                </a:solidFill>
              </a:rPr>
              <a:t>140×</a:t>
            </a:r>
          </a:p>
        </p:txBody>
      </p:sp>
      <p:sp>
        <p:nvSpPr>
          <p:cNvPr id="46" name="Rectangle 45"/>
          <p:cNvSpPr/>
          <p:nvPr/>
        </p:nvSpPr>
        <p:spPr>
          <a:xfrm>
            <a:off x="347472" y="5797296"/>
            <a:ext cx="11494008" cy="749808"/>
          </a:xfrm>
          <a:prstGeom prst="rect">
            <a:avLst/>
          </a:prstGeom>
          <a:solidFill>
            <a:srgbClr val="141A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347472" y="5797296"/>
            <a:ext cx="50800" cy="749808"/>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93192" y="5907024"/>
            <a:ext cx="2286000" cy="548640"/>
          </a:xfrm>
          <a:prstGeom prst="rect">
            <a:avLst/>
          </a:prstGeom>
          <a:noFill/>
        </p:spPr>
        <p:txBody>
          <a:bodyPr wrap="square">
            <a:spAutoFit/>
          </a:bodyPr>
          <a:lstStyle/>
          <a:p>
            <a:pPr algn="l"/>
            <a:r>
              <a:rPr sz="1100" b="0" i="0">
                <a:solidFill>
                  <a:srgbClr val="FAF7F0"/>
                </a:solidFill>
              </a:rPr>
              <a:t>Upside — global
infrastructure</a:t>
            </a:r>
          </a:p>
        </p:txBody>
      </p:sp>
      <p:sp>
        <p:nvSpPr>
          <p:cNvPr id="49" name="TextBox 48"/>
          <p:cNvSpPr txBox="1"/>
          <p:nvPr/>
        </p:nvSpPr>
        <p:spPr>
          <a:xfrm>
            <a:off x="2743200" y="5907024"/>
            <a:ext cx="685800" cy="548640"/>
          </a:xfrm>
          <a:prstGeom prst="rect">
            <a:avLst/>
          </a:prstGeom>
          <a:noFill/>
        </p:spPr>
        <p:txBody>
          <a:bodyPr wrap="square">
            <a:spAutoFit/>
          </a:bodyPr>
          <a:lstStyle/>
          <a:p>
            <a:pPr algn="ctr"/>
            <a:r>
              <a:rPr sz="1200" b="0" i="0">
                <a:solidFill>
                  <a:srgbClr val="FAF7F0"/>
                </a:solidFill>
              </a:rPr>
              <a:t>Yr 7</a:t>
            </a:r>
          </a:p>
        </p:txBody>
      </p:sp>
      <p:sp>
        <p:nvSpPr>
          <p:cNvPr id="50" name="TextBox 49"/>
          <p:cNvSpPr txBox="1"/>
          <p:nvPr/>
        </p:nvSpPr>
        <p:spPr>
          <a:xfrm>
            <a:off x="3474720" y="5907024"/>
            <a:ext cx="960120" cy="548640"/>
          </a:xfrm>
          <a:prstGeom prst="rect">
            <a:avLst/>
          </a:prstGeom>
          <a:noFill/>
        </p:spPr>
        <p:txBody>
          <a:bodyPr wrap="square">
            <a:spAutoFit/>
          </a:bodyPr>
          <a:lstStyle/>
          <a:p>
            <a:pPr algn="ctr"/>
            <a:r>
              <a:rPr sz="1200" b="0" i="0">
                <a:solidFill>
                  <a:srgbClr val="FAF7F0"/>
                </a:solidFill>
              </a:rPr>
              <a:t>$1.2B</a:t>
            </a:r>
          </a:p>
        </p:txBody>
      </p:sp>
      <p:sp>
        <p:nvSpPr>
          <p:cNvPr id="51" name="TextBox 50"/>
          <p:cNvSpPr txBox="1"/>
          <p:nvPr/>
        </p:nvSpPr>
        <p:spPr>
          <a:xfrm>
            <a:off x="4480559" y="5907024"/>
            <a:ext cx="1325880" cy="548640"/>
          </a:xfrm>
          <a:prstGeom prst="rect">
            <a:avLst/>
          </a:prstGeom>
          <a:noFill/>
        </p:spPr>
        <p:txBody>
          <a:bodyPr wrap="square">
            <a:spAutoFit/>
          </a:bodyPr>
          <a:lstStyle/>
          <a:p>
            <a:pPr algn="ctr"/>
            <a:r>
              <a:rPr sz="1200" b="0" i="0">
                <a:solidFill>
                  <a:srgbClr val="FAF7F0"/>
                </a:solidFill>
              </a:rPr>
              <a:t>15×</a:t>
            </a:r>
          </a:p>
        </p:txBody>
      </p:sp>
      <p:sp>
        <p:nvSpPr>
          <p:cNvPr id="52" name="TextBox 51"/>
          <p:cNvSpPr txBox="1"/>
          <p:nvPr/>
        </p:nvSpPr>
        <p:spPr>
          <a:xfrm>
            <a:off x="5852159" y="5907024"/>
            <a:ext cx="1965960" cy="548640"/>
          </a:xfrm>
          <a:prstGeom prst="rect">
            <a:avLst/>
          </a:prstGeom>
          <a:noFill/>
        </p:spPr>
        <p:txBody>
          <a:bodyPr wrap="square">
            <a:spAutoFit/>
          </a:bodyPr>
          <a:lstStyle/>
          <a:p>
            <a:pPr algn="r"/>
            <a:r>
              <a:rPr sz="1200" b="1" i="0">
                <a:solidFill>
                  <a:srgbClr val="FAF7F0"/>
                </a:solidFill>
              </a:rPr>
              <a:t>$18.0B</a:t>
            </a:r>
          </a:p>
        </p:txBody>
      </p:sp>
      <p:sp>
        <p:nvSpPr>
          <p:cNvPr id="53" name="TextBox 52"/>
          <p:cNvSpPr txBox="1"/>
          <p:nvPr/>
        </p:nvSpPr>
        <p:spPr>
          <a:xfrm>
            <a:off x="7863840" y="5907024"/>
            <a:ext cx="1920240" cy="548640"/>
          </a:xfrm>
          <a:prstGeom prst="rect">
            <a:avLst/>
          </a:prstGeom>
          <a:noFill/>
        </p:spPr>
        <p:txBody>
          <a:bodyPr wrap="square">
            <a:spAutoFit/>
          </a:bodyPr>
          <a:lstStyle/>
          <a:p>
            <a:pPr algn="r"/>
            <a:r>
              <a:rPr sz="1200" b="1" i="0">
                <a:solidFill>
                  <a:srgbClr val="FAF7F0"/>
                </a:solidFill>
              </a:rPr>
              <a:t>$2.34B</a:t>
            </a:r>
          </a:p>
        </p:txBody>
      </p:sp>
      <p:sp>
        <p:nvSpPr>
          <p:cNvPr id="54" name="TextBox 53"/>
          <p:cNvSpPr txBox="1"/>
          <p:nvPr/>
        </p:nvSpPr>
        <p:spPr>
          <a:xfrm>
            <a:off x="9829800" y="5907024"/>
            <a:ext cx="2286000" cy="548640"/>
          </a:xfrm>
          <a:prstGeom prst="rect">
            <a:avLst/>
          </a:prstGeom>
          <a:noFill/>
        </p:spPr>
        <p:txBody>
          <a:bodyPr wrap="square">
            <a:spAutoFit/>
          </a:bodyPr>
          <a:lstStyle/>
          <a:p>
            <a:pPr algn="r"/>
            <a:r>
              <a:rPr sz="1800" b="1" i="0">
                <a:solidFill>
                  <a:srgbClr val="FFD700"/>
                </a:solidFill>
              </a:rPr>
              <a:t>468×</a:t>
            </a:r>
          </a:p>
        </p:txBody>
      </p:sp>
      <p:sp>
        <p:nvSpPr>
          <p:cNvPr id="55" name="Rectangle 54"/>
          <p:cNvSpPr/>
          <p:nvPr/>
        </p:nvSpPr>
        <p:spPr>
          <a:xfrm>
            <a:off x="4983480" y="1444752"/>
            <a:ext cx="6858000" cy="2011680"/>
          </a:xfrm>
          <a:prstGeom prst="rect">
            <a:avLst/>
          </a:prstGeom>
          <a:solidFill>
            <a:srgbClr val="0D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4983480" y="1444752"/>
            <a:ext cx="6858000" cy="54864"/>
          </a:xfrm>
          <a:prstGeom prst="rect">
            <a:avLst/>
          </a:prstGeom>
          <a:solidFill>
            <a:srgbClr val="4DEF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138928" y="1554480"/>
            <a:ext cx="6492240" cy="320040"/>
          </a:xfrm>
          <a:prstGeom prst="rect">
            <a:avLst/>
          </a:prstGeom>
          <a:noFill/>
        </p:spPr>
        <p:txBody>
          <a:bodyPr wrap="square">
            <a:spAutoFit/>
          </a:bodyPr>
          <a:lstStyle/>
          <a:p>
            <a:pPr algn="l"/>
            <a:r>
              <a:rPr sz="1000" b="1" i="0">
                <a:solidFill>
                  <a:srgbClr val="4DEFAB"/>
                </a:solidFill>
              </a:rPr>
              <a:t>Comparable exits and valuations</a:t>
            </a:r>
          </a:p>
        </p:txBody>
      </p:sp>
      <p:sp>
        <p:nvSpPr>
          <p:cNvPr id="58" name="TextBox 57"/>
          <p:cNvSpPr txBox="1"/>
          <p:nvPr/>
        </p:nvSpPr>
        <p:spPr>
          <a:xfrm>
            <a:off x="5138928" y="1938528"/>
            <a:ext cx="1371600" cy="292608"/>
          </a:xfrm>
          <a:prstGeom prst="rect">
            <a:avLst/>
          </a:prstGeom>
          <a:noFill/>
        </p:spPr>
        <p:txBody>
          <a:bodyPr wrap="square">
            <a:spAutoFit/>
          </a:bodyPr>
          <a:lstStyle/>
          <a:p>
            <a:pPr algn="l"/>
            <a:r>
              <a:rPr sz="1100" b="1" i="0">
                <a:solidFill>
                  <a:srgbClr val="FFFFFF"/>
                </a:solidFill>
              </a:rPr>
              <a:t>VeriSign</a:t>
            </a:r>
          </a:p>
        </p:txBody>
      </p:sp>
      <p:sp>
        <p:nvSpPr>
          <p:cNvPr id="59" name="TextBox 58"/>
          <p:cNvSpPr txBox="1"/>
          <p:nvPr/>
        </p:nvSpPr>
        <p:spPr>
          <a:xfrm>
            <a:off x="6565392" y="1938528"/>
            <a:ext cx="2423160" cy="292608"/>
          </a:xfrm>
          <a:prstGeom prst="rect">
            <a:avLst/>
          </a:prstGeom>
          <a:noFill/>
        </p:spPr>
        <p:txBody>
          <a:bodyPr wrap="square">
            <a:spAutoFit/>
          </a:bodyPr>
          <a:lstStyle/>
          <a:p>
            <a:pPr algn="l"/>
            <a:r>
              <a:rPr sz="1000" b="0" i="0">
                <a:solidFill>
                  <a:srgbClr val="667788"/>
                </a:solidFill>
              </a:rPr>
              <a:t>Domain trust registry</a:t>
            </a:r>
          </a:p>
        </p:txBody>
      </p:sp>
      <p:sp>
        <p:nvSpPr>
          <p:cNvPr id="60" name="TextBox 59"/>
          <p:cNvSpPr txBox="1"/>
          <p:nvPr/>
        </p:nvSpPr>
        <p:spPr>
          <a:xfrm>
            <a:off x="9144000" y="1938528"/>
            <a:ext cx="2606040" cy="292608"/>
          </a:xfrm>
          <a:prstGeom prst="rect">
            <a:avLst/>
          </a:prstGeom>
          <a:noFill/>
        </p:spPr>
        <p:txBody>
          <a:bodyPr wrap="square">
            <a:spAutoFit/>
          </a:bodyPr>
          <a:lstStyle/>
          <a:p>
            <a:pPr algn="r"/>
            <a:r>
              <a:rPr sz="1000" b="0" i="0">
                <a:solidFill>
                  <a:srgbClr val="FAF7F0"/>
                </a:solidFill>
              </a:rPr>
              <a:t>$20B market cap · $1.7B ARR · 12× ARR</a:t>
            </a:r>
          </a:p>
        </p:txBody>
      </p:sp>
      <p:sp>
        <p:nvSpPr>
          <p:cNvPr id="61" name="TextBox 60"/>
          <p:cNvSpPr txBox="1"/>
          <p:nvPr/>
        </p:nvSpPr>
        <p:spPr>
          <a:xfrm>
            <a:off x="5138928" y="2286000"/>
            <a:ext cx="1371600" cy="292608"/>
          </a:xfrm>
          <a:prstGeom prst="rect">
            <a:avLst/>
          </a:prstGeom>
          <a:noFill/>
        </p:spPr>
        <p:txBody>
          <a:bodyPr wrap="square">
            <a:spAutoFit/>
          </a:bodyPr>
          <a:lstStyle/>
          <a:p>
            <a:pPr algn="l"/>
            <a:r>
              <a:rPr sz="1100" b="1" i="0">
                <a:solidFill>
                  <a:srgbClr val="FFFFFF"/>
                </a:solidFill>
              </a:rPr>
              <a:t>SWIFT</a:t>
            </a:r>
          </a:p>
        </p:txBody>
      </p:sp>
      <p:sp>
        <p:nvSpPr>
          <p:cNvPr id="62" name="TextBox 61"/>
          <p:cNvSpPr txBox="1"/>
          <p:nvPr/>
        </p:nvSpPr>
        <p:spPr>
          <a:xfrm>
            <a:off x="6565392" y="2286000"/>
            <a:ext cx="2423160" cy="292608"/>
          </a:xfrm>
          <a:prstGeom prst="rect">
            <a:avLst/>
          </a:prstGeom>
          <a:noFill/>
        </p:spPr>
        <p:txBody>
          <a:bodyPr wrap="square">
            <a:spAutoFit/>
          </a:bodyPr>
          <a:lstStyle/>
          <a:p>
            <a:pPr algn="l"/>
            <a:r>
              <a:rPr sz="1000" b="0" i="0">
                <a:solidFill>
                  <a:srgbClr val="667788"/>
                </a:solidFill>
              </a:rPr>
              <a:t>Financial messaging standard</a:t>
            </a:r>
          </a:p>
        </p:txBody>
      </p:sp>
      <p:sp>
        <p:nvSpPr>
          <p:cNvPr id="63" name="TextBox 62"/>
          <p:cNvSpPr txBox="1"/>
          <p:nvPr/>
        </p:nvSpPr>
        <p:spPr>
          <a:xfrm>
            <a:off x="9144000" y="2286000"/>
            <a:ext cx="2606040" cy="292608"/>
          </a:xfrm>
          <a:prstGeom prst="rect">
            <a:avLst/>
          </a:prstGeom>
          <a:noFill/>
        </p:spPr>
        <p:txBody>
          <a:bodyPr wrap="square">
            <a:spAutoFit/>
          </a:bodyPr>
          <a:lstStyle/>
          <a:p>
            <a:pPr algn="r"/>
            <a:r>
              <a:rPr sz="1000" b="0" i="0">
                <a:solidFill>
                  <a:srgbClr val="FAF7F0"/>
                </a:solidFill>
              </a:rPr>
              <a:t>~$4B est. · mandatory · 11K+ institutions</a:t>
            </a:r>
          </a:p>
        </p:txBody>
      </p:sp>
      <p:sp>
        <p:nvSpPr>
          <p:cNvPr id="64" name="TextBox 63"/>
          <p:cNvSpPr txBox="1"/>
          <p:nvPr/>
        </p:nvSpPr>
        <p:spPr>
          <a:xfrm>
            <a:off x="5138928" y="2633472"/>
            <a:ext cx="1371600" cy="292608"/>
          </a:xfrm>
          <a:prstGeom prst="rect">
            <a:avLst/>
          </a:prstGeom>
          <a:noFill/>
        </p:spPr>
        <p:txBody>
          <a:bodyPr wrap="square">
            <a:spAutoFit/>
          </a:bodyPr>
          <a:lstStyle/>
          <a:p>
            <a:pPr algn="l"/>
            <a:r>
              <a:rPr sz="1100" b="1" i="0">
                <a:solidFill>
                  <a:srgbClr val="FFFFFF"/>
                </a:solidFill>
              </a:rPr>
              <a:t>DTCC</a:t>
            </a:r>
          </a:p>
        </p:txBody>
      </p:sp>
      <p:sp>
        <p:nvSpPr>
          <p:cNvPr id="65" name="TextBox 64"/>
          <p:cNvSpPr txBox="1"/>
          <p:nvPr/>
        </p:nvSpPr>
        <p:spPr>
          <a:xfrm>
            <a:off x="6565392" y="2633472"/>
            <a:ext cx="2423160" cy="292608"/>
          </a:xfrm>
          <a:prstGeom prst="rect">
            <a:avLst/>
          </a:prstGeom>
          <a:noFill/>
        </p:spPr>
        <p:txBody>
          <a:bodyPr wrap="square">
            <a:spAutoFit/>
          </a:bodyPr>
          <a:lstStyle/>
          <a:p>
            <a:pPr algn="l"/>
            <a:r>
              <a:rPr sz="1000" b="0" i="0">
                <a:solidFill>
                  <a:srgbClr val="667788"/>
                </a:solidFill>
              </a:rPr>
              <a:t>Settlement infrastructure</a:t>
            </a:r>
          </a:p>
        </p:txBody>
      </p:sp>
      <p:sp>
        <p:nvSpPr>
          <p:cNvPr id="66" name="TextBox 65"/>
          <p:cNvSpPr txBox="1"/>
          <p:nvPr/>
        </p:nvSpPr>
        <p:spPr>
          <a:xfrm>
            <a:off x="9144000" y="2633472"/>
            <a:ext cx="2606040" cy="292608"/>
          </a:xfrm>
          <a:prstGeom prst="rect">
            <a:avLst/>
          </a:prstGeom>
          <a:noFill/>
        </p:spPr>
        <p:txBody>
          <a:bodyPr wrap="square">
            <a:spAutoFit/>
          </a:bodyPr>
          <a:lstStyle/>
          <a:p>
            <a:pPr algn="r"/>
            <a:r>
              <a:rPr sz="1000" b="0" i="0">
                <a:solidFill>
                  <a:srgbClr val="FAF7F0"/>
                </a:solidFill>
              </a:rPr>
              <a:t>Member-owned utility · $2.4Q cleared/yr</a:t>
            </a:r>
          </a:p>
        </p:txBody>
      </p:sp>
      <p:sp>
        <p:nvSpPr>
          <p:cNvPr id="67" name="TextBox 66"/>
          <p:cNvSpPr txBox="1"/>
          <p:nvPr/>
        </p:nvSpPr>
        <p:spPr>
          <a:xfrm>
            <a:off x="5138928" y="2980944"/>
            <a:ext cx="1371600" cy="292608"/>
          </a:xfrm>
          <a:prstGeom prst="rect">
            <a:avLst/>
          </a:prstGeom>
          <a:noFill/>
        </p:spPr>
        <p:txBody>
          <a:bodyPr wrap="square">
            <a:spAutoFit/>
          </a:bodyPr>
          <a:lstStyle/>
          <a:p>
            <a:pPr algn="l"/>
            <a:r>
              <a:rPr sz="1100" b="1" i="0">
                <a:solidFill>
                  <a:srgbClr val="FFFFFF"/>
                </a:solidFill>
              </a:rPr>
              <a:t>Verint</a:t>
            </a:r>
          </a:p>
        </p:txBody>
      </p:sp>
      <p:sp>
        <p:nvSpPr>
          <p:cNvPr id="68" name="TextBox 67"/>
          <p:cNvSpPr txBox="1"/>
          <p:nvPr/>
        </p:nvSpPr>
        <p:spPr>
          <a:xfrm>
            <a:off x="6565392" y="2980944"/>
            <a:ext cx="2423160" cy="292608"/>
          </a:xfrm>
          <a:prstGeom prst="rect">
            <a:avLst/>
          </a:prstGeom>
          <a:noFill/>
        </p:spPr>
        <p:txBody>
          <a:bodyPr wrap="square">
            <a:spAutoFit/>
          </a:bodyPr>
          <a:lstStyle/>
          <a:p>
            <a:pPr algn="l"/>
            <a:r>
              <a:rPr sz="1000" b="0" i="0">
                <a:solidFill>
                  <a:srgbClr val="667788"/>
                </a:solidFill>
              </a:rPr>
              <a:t>Security intelligence SaaS</a:t>
            </a:r>
          </a:p>
        </p:txBody>
      </p:sp>
      <p:sp>
        <p:nvSpPr>
          <p:cNvPr id="69" name="TextBox 68"/>
          <p:cNvSpPr txBox="1"/>
          <p:nvPr/>
        </p:nvSpPr>
        <p:spPr>
          <a:xfrm>
            <a:off x="9144000" y="2980944"/>
            <a:ext cx="2606040" cy="292608"/>
          </a:xfrm>
          <a:prstGeom prst="rect">
            <a:avLst/>
          </a:prstGeom>
          <a:noFill/>
        </p:spPr>
        <p:txBody>
          <a:bodyPr wrap="square">
            <a:spAutoFit/>
          </a:bodyPr>
          <a:lstStyle/>
          <a:p>
            <a:pPr algn="r"/>
            <a:r>
              <a:rPr sz="1000" b="0" i="0">
                <a:solidFill>
                  <a:srgbClr val="FAF7F0"/>
                </a:solidFill>
              </a:rPr>
              <a:t>$3.9B acquisition by Apax 2021 · 5× ARR</a:t>
            </a:r>
          </a:p>
        </p:txBody>
      </p:sp>
      <p:sp>
        <p:nvSpPr>
          <p:cNvPr id="70" name="TextBox 69"/>
          <p:cNvSpPr txBox="1"/>
          <p:nvPr/>
        </p:nvSpPr>
        <p:spPr>
          <a:xfrm>
            <a:off x="5138928" y="3328416"/>
            <a:ext cx="1371600" cy="292608"/>
          </a:xfrm>
          <a:prstGeom prst="rect">
            <a:avLst/>
          </a:prstGeom>
          <a:noFill/>
        </p:spPr>
        <p:txBody>
          <a:bodyPr wrap="square">
            <a:spAutoFit/>
          </a:bodyPr>
          <a:lstStyle/>
          <a:p>
            <a:pPr algn="l"/>
            <a:r>
              <a:rPr sz="1100" b="1" i="0">
                <a:solidFill>
                  <a:srgbClr val="FFFFFF"/>
                </a:solidFill>
              </a:rPr>
              <a:t>Diligent</a:t>
            </a:r>
          </a:p>
        </p:txBody>
      </p:sp>
      <p:sp>
        <p:nvSpPr>
          <p:cNvPr id="71" name="TextBox 70"/>
          <p:cNvSpPr txBox="1"/>
          <p:nvPr/>
        </p:nvSpPr>
        <p:spPr>
          <a:xfrm>
            <a:off x="6565392" y="3328416"/>
            <a:ext cx="2423160" cy="292608"/>
          </a:xfrm>
          <a:prstGeom prst="rect">
            <a:avLst/>
          </a:prstGeom>
          <a:noFill/>
        </p:spPr>
        <p:txBody>
          <a:bodyPr wrap="square">
            <a:spAutoFit/>
          </a:bodyPr>
          <a:lstStyle/>
          <a:p>
            <a:pPr algn="l"/>
            <a:r>
              <a:rPr sz="1000" b="0" i="0">
                <a:solidFill>
                  <a:srgbClr val="667788"/>
                </a:solidFill>
              </a:rPr>
              <a:t>Governance SaaS</a:t>
            </a:r>
          </a:p>
        </p:txBody>
      </p:sp>
      <p:sp>
        <p:nvSpPr>
          <p:cNvPr id="72" name="TextBox 71"/>
          <p:cNvSpPr txBox="1"/>
          <p:nvPr/>
        </p:nvSpPr>
        <p:spPr>
          <a:xfrm>
            <a:off x="9144000" y="3328416"/>
            <a:ext cx="2606040" cy="292608"/>
          </a:xfrm>
          <a:prstGeom prst="rect">
            <a:avLst/>
          </a:prstGeom>
          <a:noFill/>
        </p:spPr>
        <p:txBody>
          <a:bodyPr wrap="square">
            <a:spAutoFit/>
          </a:bodyPr>
          <a:lstStyle/>
          <a:p>
            <a:pPr algn="r"/>
            <a:r>
              <a:rPr sz="1000" b="0" i="0">
                <a:solidFill>
                  <a:srgbClr val="FAF7F0"/>
                </a:solidFill>
              </a:rPr>
              <a:t>$4.6B acquisition by Clearlake 2022 · 8× ARR</a:t>
            </a:r>
          </a:p>
        </p:txBody>
      </p:sp>
      <p:sp>
        <p:nvSpPr>
          <p:cNvPr id="73" name="Rectangle 72"/>
          <p:cNvSpPr/>
          <p:nvPr/>
        </p:nvSpPr>
        <p:spPr>
          <a:xfrm>
            <a:off x="347472" y="6565392"/>
            <a:ext cx="11494008" cy="164592"/>
          </a:xfrm>
          <a:prstGeom prst="rect">
            <a:avLst/>
          </a:prstGeom>
          <a:solidFill>
            <a:srgbClr val="06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502920" y="6583680"/>
            <a:ext cx="11155680" cy="201168"/>
          </a:xfrm>
          <a:prstGeom prst="rect">
            <a:avLst/>
          </a:prstGeom>
          <a:noFill/>
        </p:spPr>
        <p:txBody>
          <a:bodyPr wrap="square">
            <a:spAutoFit/>
          </a:bodyPr>
          <a:lstStyle/>
          <a:p>
            <a:pPr algn="l"/>
            <a:r>
              <a:rPr sz="850" b="0" i="1">
                <a:solidFill>
                  <a:srgbClr val="667788"/>
                </a:solidFill>
              </a:rPr>
              <a:t>Bitcoin treasury note: LedgerProof, Inc. holds BTC on its balance sheet from Day 1. Ten31's stake carries additional exposure to Bitcoin appreciation — consistent with Ten31's portfolio thesis. Not modeled above.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