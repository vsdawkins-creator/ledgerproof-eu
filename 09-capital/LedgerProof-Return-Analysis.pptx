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0E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0E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dgerproo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82880"/>
            <a:ext cx="1691640" cy="9127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2011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335566"/>
                </a:solidFill>
              </a:rPr>
              <a:t>APPENDIX  ·  INVESTOR RETURN ANALYSIS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Return Scenarios — Ten31 $5M Seed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4572000" cy="1600200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444752"/>
            <a:ext cx="50800" cy="1600200"/>
          </a:xfrm>
          <a:prstGeom prst="rect">
            <a:avLst/>
          </a:prstGeom>
          <a:solidFill>
            <a:srgbClr val="20E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5087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0E898"/>
                </a:solidFill>
              </a:rPr>
              <a:t>Ownership at entry &amp; exit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9019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</a:rPr>
              <a:t>$5M ÷ $30M post-money 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9019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0E898"/>
                </a:solidFill>
              </a:rPr>
              <a:t>= 16.67%  at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24942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</a:rPr>
              <a:t>Series A dilution (~20%)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24942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7F0"/>
                </a:solidFill>
              </a:rPr>
              <a:t>→ ~13.3%  post-Series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59689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</a:rPr>
              <a:t>Growth rounds (~15% further)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59689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7F0"/>
                </a:solidFill>
              </a:rPr>
              <a:t>→ ~11–13%  at exit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94436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</a:rPr>
              <a:t>Pro-rata (if exercised)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9443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AF7F0"/>
                </a:solidFill>
              </a:rPr>
              <a:t>→ maintains or increases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18211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5566"/>
                </a:solidFill>
              </a:rPr>
              <a:t>Analysis uses 13% at exit (conservative).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566160"/>
            <a:ext cx="11494008" cy="3017520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" y="3566160"/>
            <a:ext cx="11494008" cy="54864"/>
          </a:xfrm>
          <a:prstGeom prst="rect">
            <a:avLst/>
          </a:prstGeom>
          <a:solidFill>
            <a:srgbClr val="20E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67788"/>
                </a:solidFill>
              </a:rPr>
              <a:t>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65760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67788"/>
                </a:solidFill>
              </a:rPr>
              <a:t>Year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6576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67788"/>
                </a:solidFill>
              </a:rPr>
              <a:t>ARR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6576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67788"/>
                </a:solidFill>
              </a:rPr>
              <a:t>Exit Multiple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36576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67788"/>
                </a:solidFill>
              </a:rPr>
              <a:t>Implied 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67788"/>
                </a:solidFill>
              </a:rPr>
              <a:t>Ten31 Stake
(~13%)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67788"/>
                </a:solidFill>
              </a:rPr>
              <a:t>Return on
$5M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4187952"/>
            <a:ext cx="11494008" cy="749808"/>
          </a:xfrm>
          <a:prstGeom prst="rect">
            <a:avLst/>
          </a:prstGeom>
          <a:solidFill>
            <a:srgbClr val="09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" y="4187952"/>
            <a:ext cx="50800" cy="749808"/>
          </a:xfrm>
          <a:prstGeom prst="rect">
            <a:avLst/>
          </a:prstGeom>
          <a:solidFill>
            <a:srgbClr val="20E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4297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7F0"/>
                </a:solidFill>
              </a:rPr>
              <a:t>Early strategic
acquisition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297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AF7F0"/>
                </a:solidFill>
              </a:rPr>
              <a:t>Yr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297680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AF7F0"/>
                </a:solidFill>
              </a:rPr>
              <a:t>$68M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59" y="429768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AF7F0"/>
                </a:solidFill>
              </a:rPr>
              <a:t>20×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59" y="42976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AF7F0"/>
                </a:solidFill>
              </a:rPr>
              <a:t>$1.36B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297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AF7F0"/>
                </a:solidFill>
              </a:rPr>
              <a:t>$177M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4297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20E898"/>
                </a:solidFill>
              </a:rPr>
              <a:t>35×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4992624"/>
            <a:ext cx="11494008" cy="749808"/>
          </a:xfrm>
          <a:prstGeom prst="rect">
            <a:avLst/>
          </a:prstGeom>
          <a:solidFill>
            <a:srgbClr val="08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" y="4992624"/>
            <a:ext cx="50800" cy="749808"/>
          </a:xfrm>
          <a:prstGeom prst="rect">
            <a:avLst/>
          </a:prstGeom>
          <a:solidFill>
            <a:srgbClr val="4DE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510235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Base — IPO /
coop. transition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10235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AF7F0"/>
                </a:solidFill>
              </a:rPr>
              <a:t>Yr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5102352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AF7F0"/>
                </a:solidFill>
              </a:rPr>
              <a:t>$450M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59" y="5102352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AF7F0"/>
                </a:solidFill>
              </a:rPr>
              <a:t>12×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59" y="5102352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AF7F0"/>
                </a:solidFill>
              </a:rPr>
              <a:t>$5.4B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510235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AF7F0"/>
                </a:solidFill>
              </a:rPr>
              <a:t>$702M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510235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4DEFAB"/>
                </a:solidFill>
              </a:rPr>
              <a:t>140×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" y="5797296"/>
            <a:ext cx="11494008" cy="749808"/>
          </a:xfrm>
          <a:prstGeom prst="rect">
            <a:avLst/>
          </a:prstGeom>
          <a:solidFill>
            <a:srgbClr val="141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" y="5797296"/>
            <a:ext cx="50800" cy="7498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" y="590702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7F0"/>
                </a:solidFill>
              </a:rPr>
              <a:t>Upside — global
infrastructure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590702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AF7F0"/>
                </a:solidFill>
              </a:rPr>
              <a:t>Yr 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5907024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AF7F0"/>
                </a:solidFill>
              </a:rPr>
              <a:t>$1.2B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59" y="5907024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AF7F0"/>
                </a:solidFill>
              </a:rPr>
              <a:t>15×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59" y="5907024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AF7F0"/>
                </a:solidFill>
              </a:rPr>
              <a:t>$18.0B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5907024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AF7F0"/>
                </a:solidFill>
              </a:rPr>
              <a:t>$2.34B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9800" y="590702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D700"/>
                </a:solidFill>
              </a:rPr>
              <a:t>468×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83480" y="1444752"/>
            <a:ext cx="6858000" cy="2011680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3480" y="1444752"/>
            <a:ext cx="6858000" cy="54864"/>
          </a:xfrm>
          <a:prstGeom prst="rect">
            <a:avLst/>
          </a:prstGeom>
          <a:solidFill>
            <a:srgbClr val="4DE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38928" y="155448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EFAB"/>
                </a:solidFill>
              </a:rPr>
              <a:t>Comparable exits and valuations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38928" y="19385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VeriSign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65392" y="193852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</a:rPr>
              <a:t>Domain trust registry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193852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AF7F0"/>
                </a:solidFill>
              </a:rPr>
              <a:t>$20B market cap · $1.7B ARR · 12× ARR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38928" y="22860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SWIFT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5392" y="228600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</a:rPr>
              <a:t>Financial messaging standard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228600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AF7F0"/>
                </a:solidFill>
              </a:rPr>
              <a:t>~$4B est. · mandatory · 11K+ institutions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38928" y="2633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DTCC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65392" y="263347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</a:rPr>
              <a:t>Settlement infrastructure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0" y="26334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AF7F0"/>
                </a:solidFill>
              </a:rPr>
              <a:t>Member-owned utility · $2.4Q cleared/yr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38928" y="29809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Verint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65392" y="298094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</a:rPr>
              <a:t>Security intelligence SaaS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0" y="2980944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AF7F0"/>
                </a:solidFill>
              </a:rPr>
              <a:t>$3.9B acquisition by Apax 2021 · 5× ARR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38928" y="33284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Diligent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5392" y="332841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</a:rPr>
              <a:t>Governance SaaS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0" y="332841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AF7F0"/>
                </a:solidFill>
              </a:rPr>
              <a:t>$4.6B acquisition by Clearlake 2022 · 8× ARR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" y="6565392"/>
            <a:ext cx="11494008" cy="164592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920" y="6583680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7788"/>
                </a:solidFill>
              </a:rPr>
              <a:t>Bitcoin treasury note: LedgerProof, Inc. holds BTC on its balance sheet from Day 1. Ten31's stake carries additional exposure to Bitcoin appreciation — consistent with Ten31's portfolio thesis. Not modeled above.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